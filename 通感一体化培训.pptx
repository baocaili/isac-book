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40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35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30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presentation.xml" ContentType="application/vnd.openxmlformats-officedocument.presentationml.presentation.main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4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22" Type="http://schemas.openxmlformats.org/officeDocument/2006/relationships/slide" Target="slides/slide22.xml" /><Relationship Id="rId10" Type="http://schemas.openxmlformats.org/officeDocument/2006/relationships/slide" Target="slides/slide10.xml" /><Relationship Id="rId24" Type="http://schemas.openxmlformats.org/officeDocument/2006/relationships/slide" Target="slides/slide24.xml" /><Relationship Id="rId12" Type="http://schemas.openxmlformats.org/officeDocument/2006/relationships/slide" Target="slides/slide12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27" Type="http://schemas.openxmlformats.org/officeDocument/2006/relationships/slide" Target="slides/slide27.xml" /><Relationship Id="rId18" Type="http://schemas.openxmlformats.org/officeDocument/2006/relationships/slide" Target="slides/slide18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35" Type="http://schemas.openxmlformats.org/officeDocument/2006/relationships/slide" Target="slides/slide35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45" Type="http://schemas.openxmlformats.org/officeDocument/2006/relationships/viewProps" Target="viewProps.xml" /><Relationship Id="rId30" Type="http://schemas.openxmlformats.org/officeDocument/2006/relationships/slide" Target="slides/slide30.xml" /><Relationship Id="rId29" Type="http://schemas.openxmlformats.org/officeDocument/2006/relationships/slide" Target="slides/slide29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8" Type="http://schemas.openxmlformats.org/officeDocument/2006/relationships/slide" Target="slides/slide28.xml" /><Relationship Id="rId3" Type="http://schemas.openxmlformats.org/officeDocument/2006/relationships/slide" Target="slides/slide3.xml" /><Relationship Id="rId31" Type="http://schemas.openxmlformats.org/officeDocument/2006/relationships/slide" Target="slides/slide31.xml" /><Relationship Id="rId40" Type="http://schemas.openxmlformats.org/officeDocument/2006/relationships/slide" Target="slides/slide40.xml" /><Relationship Id="rId33" Type="http://schemas.openxmlformats.org/officeDocument/2006/relationships/slide" Target="slides/slide33.xml" /><Relationship Id="rId32" Type="http://schemas.openxmlformats.org/officeDocument/2006/relationships/slide" Target="slides/slide32.xml" /><Relationship Id="rId34" Type="http://schemas.openxmlformats.org/officeDocument/2006/relationships/slide" Target="slides/slide34.xml" /><Relationship Id="rId36" Type="http://schemas.openxmlformats.org/officeDocument/2006/relationships/slide" Target="slides/slide36.xml" /><Relationship Id="rId37" Type="http://schemas.openxmlformats.org/officeDocument/2006/relationships/slide" Target="slides/slide37.xml" /><Relationship Id="rId38" Type="http://schemas.openxmlformats.org/officeDocument/2006/relationships/slide" Target="slides/slide38.xml" /><Relationship Id="rId39" Type="http://schemas.openxmlformats.org/officeDocument/2006/relationships/slide" Target="slides/slide39.xml" /><Relationship Id="rId4" Type="http://schemas.openxmlformats.org/officeDocument/2006/relationships/slide" Target="slides/slide4.xml" /><Relationship Id="rId41" Type="http://schemas.openxmlformats.org/officeDocument/2006/relationships/slide" Target="slides/slide41.xml" /><Relationship Id="rId42" Type="http://schemas.openxmlformats.org/officeDocument/2006/relationships/notesMaster" Target="notesMasters/notesMaster1.xml" /><Relationship Id="rId44" Type="http://schemas.openxmlformats.org/officeDocument/2006/relationships/tableStyles" Target="tableStyles.xml" /><Relationship Id="rId43" Type="http://schemas.openxmlformats.org/officeDocument/2006/relationships/presProps" Target="presProps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0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1.svg" /><Relationship Id="rId5" Type="http://schemas.openxmlformats.org/officeDocument/2006/relationships/image" Target="media/image24.svg" /><Relationship Id="rId4" Type="http://schemas.openxmlformats.org/officeDocument/2006/relationships/image" Target="media/image23.svg" /><Relationship Id="rId3" Type="http://schemas.openxmlformats.org/officeDocument/2006/relationships/image" Target="media/image2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0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0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1.svg" /><Relationship Id="rId2" Type="http://schemas.openxmlformats.org/officeDocument/2006/relationships/image" Target="media/image62.svg" /><Relationship Id="rId3" Type="http://schemas.openxmlformats.org/officeDocument/2006/relationships/image" Target="media/image63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32.svg" /><Relationship Id="rId1" Type="http://schemas.openxmlformats.org/officeDocument/2006/relationships/image" Target="media/image64.svg" /><Relationship Id="rId2" Type="http://schemas.openxmlformats.org/officeDocument/2006/relationships/image" Target="media/image7.svg" /><Relationship Id="rId3" Type="http://schemas.openxmlformats.org/officeDocument/2006/relationships/image" Target="media/image65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6.svg" /><Relationship Id="rId2" Type="http://schemas.openxmlformats.org/officeDocument/2006/relationships/image" Target="media/image67.svg" /></Relationships>
</file>

<file path=ppt/slides/_rels/slide10.xml.rels><?xml version="1.0" encoding="UTF-8" standalone="yes"?><Relationships xmlns="http://schemas.openxmlformats.org/package/2006/relationships"><Relationship Id="rId4" Type="http://schemas.openxmlformats.org/officeDocument/2006/relationships/image" Target="media/image5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4.svg" /><Relationship Id="rId2" Type="http://schemas.openxmlformats.org/officeDocument/2006/relationships/image" Target="media/image3.svg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9.svg" /><Relationship Id="rId1" Type="http://schemas.openxmlformats.org/officeDocument/2006/relationships/image" Target="media/image6.svg" /><Relationship Id="rId2" Type="http://schemas.openxmlformats.org/officeDocument/2006/relationships/image" Target="media/image7.svg" /><Relationship Id="rId3" Type="http://schemas.openxmlformats.org/officeDocument/2006/relationships/image" Target="media/image8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Relationship Id="rId2" Type="http://schemas.openxmlformats.org/officeDocument/2006/relationships/image" Target="media/image12.svg" /><Relationship Id="rId4" Type="http://schemas.openxmlformats.org/officeDocument/2006/relationships/image" Target="media/image14.svg" /><Relationship Id="rId3" Type="http://schemas.openxmlformats.org/officeDocument/2006/relationships/image" Target="media/image13.svg" /><Relationship Id="rId5" Type="http://schemas.openxmlformats.org/officeDocument/2006/relationships/image" Target="media/image15.svg" /><Relationship Id="rId6" Type="http://schemas.openxmlformats.org/officeDocument/2006/relationships/image" Target="media/image16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8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Relationship Id="rId3" Type="http://schemas.openxmlformats.org/officeDocument/2006/relationships/image" Target="media/image7.svg" /><Relationship Id="rId4" Type="http://schemas.openxmlformats.org/officeDocument/2006/relationships/image" Target="media/image18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svg" /></Relationships>
</file>

<file path=ppt/slides/_rels/slide20.xml.rels><?xml version="1.0" encoding="UTF-8" standalone="yes"?><Relationships xmlns="http://schemas.openxmlformats.org/package/2006/relationships"><Relationship Id="rId4" Type="http://schemas.openxmlformats.org/officeDocument/2006/relationships/image" Target="media/image26.svg" /><Relationship Id="rId1" Type="http://schemas.openxmlformats.org/officeDocument/2006/relationships/image" Target="media/image25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3.svg" /><Relationship Id="rId3" Type="http://schemas.openxmlformats.org/officeDocument/2006/relationships/image" Target="media/image9.sv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27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7.svg" /><Relationship Id="rId3" Type="http://schemas.openxmlformats.org/officeDocument/2006/relationships/image" Target="media/image28.svg" /><Relationship Id="rId4" Type="http://schemas.openxmlformats.org/officeDocument/2006/relationships/image" Target="media/image29.svg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1.svg" /><Relationship Id="rId1" Type="http://schemas.openxmlformats.org/officeDocument/2006/relationships/image" Target="media/image30.svg" /></Relationships>
</file>

<file path=ppt/slides/_rels/slide24.xml.rels><?xml version="1.0" encoding="UTF-8" standalone="yes"?><Relationships xmlns="http://schemas.openxmlformats.org/package/2006/relationships"><Relationship Id="rId3" Type="http://schemas.openxmlformats.org/officeDocument/2006/relationships/image" Target="media/image22.svg" /><Relationship Id="rId2" Type="http://schemas.openxmlformats.org/officeDocument/2006/relationships/image" Target="media/image3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2.svg" /><Relationship Id="rId4" Type="http://schemas.openxmlformats.org/officeDocument/2006/relationships/image" Target="media/image34.svg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35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2.svg" /><Relationship Id="rId3" Type="http://schemas.openxmlformats.org/officeDocument/2006/relationships/image" Target="media/image13.svg" /><Relationship Id="rId4" Type="http://schemas.openxmlformats.org/officeDocument/2006/relationships/image" Target="media/image14.sv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6.svg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7.svg" /><Relationship Id="rId4" Type="http://schemas.openxmlformats.org/officeDocument/2006/relationships/image" Target="media/image39.png" /><Relationship Id="rId2" Type="http://schemas.openxmlformats.org/officeDocument/2006/relationships/image" Target="media/image38.svg" /><Relationship Id="rId3" Type="http://schemas.openxmlformats.org/officeDocument/2006/relationships/image" Target="media/image7.svg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1.svg" /><Relationship Id="rId2" Type="http://schemas.openxmlformats.org/officeDocument/2006/relationships/image" Target="media/image42.svg" /></Relationships>
</file>

<file path=ppt/slides/_rels/slide31.xml.rels><?xml version="1.0" encoding="UTF-8" standalone="yes"?><Relationships xmlns="http://schemas.openxmlformats.org/package/2006/relationships"><Relationship Id="rId4" Type="http://schemas.openxmlformats.org/officeDocument/2006/relationships/image" Target="media/image45.png" /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44.svg" /><Relationship Id="rId2" Type="http://schemas.openxmlformats.org/officeDocument/2006/relationships/image" Target="media/image43.svg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48.svg" /><Relationship Id="rId2" Type="http://schemas.openxmlformats.org/officeDocument/2006/relationships/image" Target="media/image47.svg" /><Relationship Id="rId1" Type="http://schemas.openxmlformats.org/officeDocument/2006/relationships/image" Target="media/image46.svg" /><Relationship Id="rId4" Type="http://schemas.openxmlformats.org/officeDocument/2006/relationships/image" Target="media/image7.svg" /><Relationship Id="rId5" Type="http://schemas.openxmlformats.org/officeDocument/2006/relationships/image" Target="media/image18.svg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8.svg" /><Relationship Id="rId3" Type="http://schemas.openxmlformats.org/officeDocument/2006/relationships/image" Target="media/image49.svg" /><Relationship Id="rId1" Type="http://schemas.openxmlformats.org/officeDocument/2006/relationships/image" Target="media/image7.svg" /><Relationship Id="rId2" Type="http://schemas.openxmlformats.org/officeDocument/2006/relationships/image" Target="media/image26.svg" /><Relationship Id="rId5" Type="http://schemas.openxmlformats.org/officeDocument/2006/relationships/image" Target="media/image9.svg" /><Relationship Id="rId6" Type="http://schemas.openxmlformats.org/officeDocument/2006/relationships/image" Target="media/image33.svg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0.svg" /><Relationship Id="rId2" Type="http://schemas.openxmlformats.org/officeDocument/2006/relationships/image" Target="media/image51.svg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2.svg" /><Relationship Id="rId2" Type="http://schemas.openxmlformats.org/officeDocument/2006/relationships/image" Target="media/image9.svg" /><Relationship Id="rId3" Type="http://schemas.openxmlformats.org/officeDocument/2006/relationships/image" Target="media/image23.svg" /><Relationship Id="rId4" Type="http://schemas.openxmlformats.org/officeDocument/2006/relationships/image" Target="media/image53.svg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image" Target="media/image54.svg" /><Relationship Id="rId0" Type="http://schemas.openxmlformats.org/officeDocument/2006/relationships/slideLayout" Target="../slideLayouts/slideLayout1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57.svg" /><Relationship Id="rId1" Type="http://schemas.openxmlformats.org/officeDocument/2006/relationships/image" Target="media/image55.svg" /><Relationship Id="rId2" Type="http://schemas.openxmlformats.org/officeDocument/2006/relationships/image" Target="media/image56.svg" /><Relationship Id="rId5" Type="http://schemas.openxmlformats.org/officeDocument/2006/relationships/image" Target="media/image59.svg" /><Relationship Id="rId4" Type="http://schemas.openxmlformats.org/officeDocument/2006/relationships/image" Target="media/image58.svg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'1280px', height:'720px', background:'#0F172A', padding:'0', position:'relative', display:'flex', flexDirection:'column', justifyContent:'flex-end', overflow:'hidden' }}&gt;&#10;  &lt;Image src='assets/cover_isac.png' style={{ position:'absolute', top:0, left:0, width:'1280px', height:'720px', objectFit:'cover' }} /&gt;&#10;  &lt;Box style={{ position:'absolute', top:0, left:0, width:'1280px', height:'720px', background:'linear-gradient(180deg, rgba(15,23,42,0.10) 0%, rgba(15,23,42,0.88) 100%)' }}&gt;&lt;/Box&gt;&#10;  &lt;Box style={{ position:'relative', zIndex:1, padding:'0 80px 82px 80px' }}&gt;&#10;    &lt;Box style={{ flexDirection:'row', alignItems:'center', gap:14, marginBottom:22 }}&gt;&#10;      &lt;Box style={{ width:54, height:30, borderRadius:8, background:'linear-gradient(135deg, #2563EB, #06B6D4)', justifyContent:'center', alignItems:'center' }}&gt;&lt;Text style={{ fontSize:15, fontWeight:'bold', color:'#FFFFFF', fontFamily:&quot;'Space Grotesk','Inter','Segoe UI',sans-serif&quot; }}&gt;ISAC&lt;/Text&gt;&lt;/Box&gt;&#10;      &lt;Text style={{ fontSize:16, color:'#06B6D4', letterSpacing:4, fontFamily:&quot;'Space Grotesk','Inter','Segoe UI',sans-serif&quot; }}&gt;6G KEY TECHNOLOGY&lt;/Text&gt;&#10;    &lt;/Box&gt;&#10;    &lt;Text style={{ fontSize:64, fontWeight:'bold', color:'#FFFFFF', fontFamily:&quot;'Source Han Sans SC','Noto Sans SC','Microsoft YaHei',sans-serif&quot;, lineHeight:1.15, marginBottom:14 }}&gt;通信感知一体化&lt;/Text&gt;&#10;    &lt;Text style={{ fontSize:24, color:'#E2E8F0', fontFamily:&quot;'Source Han Sans SC','Noto Sans SC','Microsoft YaHei',sans-serif&quot;, marginBottom:28 }}&gt;Integrated Sensing and Communication · 从「连接」到「连接 + 感知」&lt;/Text&gt;&#10;    &lt;Box style={{ flexDirection:'row', gap:12 }}&gt;&#10;      &lt;Box style={{ padding:'8px 18px', borderRadius:20, border:'1px solid rgba(6,182,212,0.5)' }}&gt;&lt;Text style={{ fontSize:14, color:'#06B6D4', fontFamily:&quot;'Source Han Sans SC','Noto Sans SC','Microsoft YaHei',sans-serif&quot; }}&gt;研发工程师 / 研究生&lt;/Text&gt;&lt;/Box&gt;&#10;      &lt;Box style={{ padding:'8px 18px', borderRadius:20, border:'1px solid rgba(6,182,212,0.5)' }}&gt;&lt;Text style={{ fontSize:14, color:'#06B6D4', fontFamily:&quot;'Source Han Sans SC','Noto Sans SC','Microsoft YaHei',sans-serif&quot; }}&gt;半天技术培训&lt;/Text&gt;&lt;/Box&gt;&#10;      &lt;Box style={{ padding:'8px 18px', borderRadius:20, border:'1px solid rgba(226,232,240,0.3)' }}&gt;&lt;Text style={{ fontSize:14, color:'#E2E8F0', fontFamily:&quot;'Source Han Sans SC','Noto Sans SC','Microsoft YaHei',sans-serif&quot; }}&gt;讲师 / 日期：______&lt;/Text&gt;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10000"/>
                </a:srgbClr>
              </a:gs>
              <a:gs pos="100000">
                <a:srgbClr val="0F172A">
                  <a:alpha val="8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762000" y="3743325"/>
            <a:ext cx="514350" cy="285750"/>
          </a:xfrm>
          <a:prstGeom prst="roundRect">
            <a:avLst>
              <a:gd name="adj" fmla="val 26667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66775" y="3800475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409700" y="379095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06B6D4"/>
                </a:solidFill>
                <a:latin typeface="Space Grotesk"/>
                <a:ea typeface="Space Grotesk"/>
              </a:rPr>
              <a:t>6G KEY TECHNOLOGY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4238625"/>
            <a:ext cx="10668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FFFFFF"/>
                </a:solidFill>
                <a:latin typeface="Source Han Sans SC"/>
                <a:ea typeface="Source Han Sans SC"/>
              </a:rPr>
              <a:t>通信感知一体化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5219700"/>
            <a:ext cx="1066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Integrated Sensing and Communication · </a:t>
            </a:r>
            <a:r>
              <a:rPr lang="zh-CN" sz="1800">
                <a:solidFill>
                  <a:srgbClr val="E2E8F0"/>
                </a:solidFill>
                <a:latin typeface="Source Han Sans SC"/>
                <a:ea typeface="Source Han Sans SC"/>
              </a:rPr>
              <a:t>从「连接」到「连接</a:t>
            </a:r>
            <a:r>
              <a:rPr lang="en-US" sz="1800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800">
                <a:solidFill>
                  <a:srgbClr val="E2E8F0"/>
                </a:solidFill>
                <a:latin typeface="Source Han Sans SC"/>
                <a:ea typeface="Source Han Sans SC"/>
              </a:rPr>
              <a:t>感知」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762000" y="5762625"/>
            <a:ext cx="1524000" cy="314325"/>
          </a:xfrm>
          <a:prstGeom prst="roundRect">
            <a:avLst>
              <a:gd name="adj" fmla="val 60606"/>
            </a:avLst>
          </a:prstGeom>
          <a:ln w="1270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33450" y="5838825"/>
            <a:ext cx="118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6B6D4"/>
                </a:solidFill>
                <a:latin typeface="Source Han Sans SC"/>
                <a:ea typeface="Source Han Sans SC"/>
              </a:rPr>
              <a:t>研发工程师</a:t>
            </a:r>
            <a:r>
              <a:rPr lang="en-US" sz="105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06B6D4"/>
                </a:solidFill>
                <a:latin typeface="Source Han Sans SC"/>
                <a:ea typeface="Source Han Sans SC"/>
              </a:rPr>
              <a:t>研究生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2400300" y="5762625"/>
            <a:ext cx="1143000" cy="314325"/>
          </a:xfrm>
          <a:prstGeom prst="roundRect">
            <a:avLst>
              <a:gd name="adj" fmla="val 60606"/>
            </a:avLst>
          </a:prstGeom>
          <a:ln w="1270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571750" y="58388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6B6D4"/>
                </a:solidFill>
                <a:latin typeface="Source Han Sans SC"/>
                <a:ea typeface="Source Han Sans SC"/>
              </a:rPr>
              <a:t>半天技术培训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3657600" y="5762625"/>
            <a:ext cx="1562100" cy="314325"/>
          </a:xfrm>
          <a:prstGeom prst="roundRect">
            <a:avLst>
              <a:gd name="adj" fmla="val 60606"/>
            </a:avLst>
          </a:prstGeom>
          <a:ln w="12700">
            <a:solidFill>
              <a:srgbClr val="E2E8F0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829050" y="583882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Source Han Sans SC"/>
                <a:ea typeface="Source Han Sans SC"/>
              </a:rPr>
              <a:t>讲师</a:t>
            </a:r>
            <a:r>
              <a:rPr lang="en-US" sz="1050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2E8F0"/>
                </a:solidFill>
                <a:latin typeface="Source Han Sans SC"/>
                <a:ea typeface="Source Han Sans SC"/>
              </a:rPr>
              <a:t>日期：</a:t>
            </a:r>
            <a:r>
              <a:rPr lang="en-US" sz="1050">
                <a:solidFill>
                  <a:srgbClr val="E2E8F0"/>
                </a:solidFill>
                <a:latin typeface="Source Han Sans SC"/>
                <a:ea typeface="Source Han Sans SC"/>
              </a:rPr>
              <a:t>______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51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培训目标 GOALS&lt;/Text&gt;&#10;&lt;/Box&gt;&#10;&lt;Text style={{ fontSize:34, fontWeight:'bold', color:'#0F172A', fontFamily:&quot;'Source Han Sans SC','Noto Sans SC','Microsoft YaHei',sans-serif&quot;, marginBottom:16 }}&gt;培训目标与学习成果&lt;/Text&gt;&#10;&lt;Box style={{ height:'540px', flexDirection:'column' }}&gt;&#10;&lt;Box style={{ flexDirection:'column', gap:13, justifyContent:'space-between', height:'540px' }}&gt;&#10;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bullseye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能说清 ISAC 是什么&lt;/Text&gt;&#10;    &lt;Text style={{ fontSize:15, color:'#64748B', lineHeight:1.5, fontFamily:&quot;'Source Han Sans SC','Noto Sans SC','Microsoft YaHei',sans-serif&quot; }}&gt;用一句话定义通信感知一体化，并解释它与「通信、雷达各自独立部署」的本质区别。&lt;/Text&gt;&#10;  &lt;/Box&gt;&#10;&lt;/Box&gt;&#10;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layer-group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能复述集成范式与架构&lt;/Text&gt;&#10;    &lt;Text style={{ fontSize:15, color:'#64748B', lineHeight:1.5, fontFamily:&quot;'Source Han Sans SC','Noto Sans SC','Microsoft YaHei',sans-serif&quot; }}&gt;描述集成程度 4 级谱系（共存→协作→联合→一体化）与典型一体化硬件 / 网络架构。&lt;/Text&gt;&#10;  &lt;/Box&gt;&#10;&lt;/Box&gt;&#10;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sliders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能指出三大技术杠杆&lt;/Text&gt;&#10;    &lt;Text style={{ fontSize:15, color:'#64748B', lineHeight:1.5, fontFamily:&quot;'Source Han Sans SC','Noto Sans SC','Microsoft YaHei',sans-serif&quot; }}&gt;说明波形设计、联合波束成形、资源分配在通信-感知权衡中各自扮演的角色。&lt;/Text&gt;&#10;  &lt;/Box&gt;&#10;&lt;/Box&gt;&#10;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chart-line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能理解性能界&lt;/Text&gt;&#10;    &lt;Text style={{ fontSize:15, color:'#64748B', lineHeight:1.5, fontFamily:&quot;'Source Han Sans SC','Noto Sans SC','Microsoft YaHei',sans-serif&quot; }}&gt;解释通信速率与感知估计精度的折衷，以及 Cramér-Rao 界给出的设计天花板。&lt;/Text&gt;&#10;  &lt;/Box&gt;&#10;&lt;/Box&gt;&#10;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road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能跟踪标准与开放问题&lt;/Text&gt;&#10;    &lt;Text style={{ fontSize:15, color:'#64748B', lineHeight:1.5, fontFamily:&quot;'Source Han Sans SC','Noto Sans SC','Microsoft YaHei',sans-serif&quot; }}&gt;列举 6G 通感标准化主要进展（Rel-19/20）、典型应用场景与当前开放问题。&lt;/Text&gt;&#10;  &lt;/Box&gt;&#10;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02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培训目标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GOALS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培训目标与学习成果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85800" y="1057275"/>
            <a:ext cx="108204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838200" y="11715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2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3450" y="1266825"/>
            <a:ext cx="190500" cy="190500"/>
          </a:xfrm>
          <a:prstGeom prst="rect">
            <a:avLst/>
          </a:prstGeom>
          <a:ln/>
        </p:spPr>
      </p:pic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352550" y="1171575"/>
            <a:ext cx="1000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能说清</a:t>
            </a:r>
            <a:r>
              <a:rPr lang="en-US" sz="12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ISAC </a:t>
            </a: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是什么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352550" y="1400175"/>
            <a:ext cx="10001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用一句话定义通信感知一体化，并解释它与「通信、雷达各自独立部署」的本质区别。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85800" y="2162175"/>
            <a:ext cx="108204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838200" y="22764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2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33450" y="2371725"/>
            <a:ext cx="190500" cy="190500"/>
          </a:xfrm>
          <a:prstGeom prst="rect">
            <a:avLst/>
          </a:prstGeom>
          <a:ln/>
        </p:spPr>
      </p:pic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352550" y="2276475"/>
            <a:ext cx="1000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能复述集成范式与架构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352550" y="2505075"/>
            <a:ext cx="10001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描述集成程度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级谱系（共存→协作→联合→一体化）与典型一体化硬件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网络架构。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85800" y="3276600"/>
            <a:ext cx="108204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838200" y="33909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2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33450" y="3486150"/>
            <a:ext cx="190500" cy="190500"/>
          </a:xfrm>
          <a:prstGeom prst="rect">
            <a:avLst/>
          </a:prstGeom>
          <a:ln/>
        </p:spPr>
      </p:pic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352550" y="3390900"/>
            <a:ext cx="1000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能指出三大技术杠杆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352550" y="3619500"/>
            <a:ext cx="10001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说明波形设计、联合波束成形、资源分配在通信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-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感知权衡中各自扮演的角色。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85800" y="4381500"/>
            <a:ext cx="108204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838200" y="44958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2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33450" y="4591050"/>
            <a:ext cx="190500" cy="190500"/>
          </a:xfrm>
          <a:prstGeom prst="rect">
            <a:avLst/>
          </a:prstGeom>
          <a:ln/>
        </p:spPr>
      </p:pic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352550" y="4495800"/>
            <a:ext cx="1000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能理解性能界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352550" y="4724400"/>
            <a:ext cx="10001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解释通信速率与感知估计精度的折衷，以及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Cramér-Rao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界给出的设计天花板。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85800" y="5486400"/>
            <a:ext cx="108204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838200" y="56007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2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33450" y="5695950"/>
            <a:ext cx="190500" cy="190500"/>
          </a:xfrm>
          <a:prstGeom prst="rect">
            <a:avLst/>
          </a:prstGeom>
          <a:ln/>
        </p:spPr>
      </p:pic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352550" y="5600700"/>
            <a:ext cx="1000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能跟踪标准与开放问题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352550" y="5829300"/>
            <a:ext cx="10001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列举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6G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通感标准化主要进展（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Rel-19/20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）、典型应用场景与当前开放问题。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02 / 41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00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课程地图 AGENDA&lt;/Text&gt;&#10;&lt;/Box&gt;&#10;&lt;Text style={{ fontSize:34, fontWeight:'bold', color:'#0F172A', fontFamily:&quot;'Source Han Sans SC','Noto Sans SC','Microsoft YaHei',sans-serif&quot;, marginBottom:16 }}&gt;课程地图：半天议程&lt;/Text&gt;&#10;&lt;Box style={{ height:'540px', flexDirection:'column' }}&gt;&#10;&lt;Box style={{ flexDirection:'row', gap:24, height:'540px' }}&gt;&lt;Box style={{ width:300, height:'540px', background:'linear-gradient(160deg, #0F172A 0%, #182338 100%)', borderRadius:16, padding:24, flexDirection:'column', justifyContent:'space-between' }}&gt;&#10;    &lt;Box&gt;&#10;      &lt;Text style={{ fontSize:15, color:'#06B6D4', fontFamily:&quot;'Space Grotesk','Inter','Segoe UI',sans-serif&quot;, letterSpacing:2, marginBottom:16 }}&gt;HALF-DAY · 41 SLIDES&lt;/Text&gt;&#10;      &lt;Text style={{ fontSize:28, fontWeight:'bold', color:'#FFFFFF', fontFamily:&quot;'Source Han Sans SC','Noto Sans SC','Microsoft YaHei',sans-serif&quot;, lineHeight:1.3, marginBottom:16 }}&gt;10 个章节&lt;br/&gt;一次贯通&lt;/Text&gt;&#10;      &lt;Text style={{ fontSize:15, color:'#E2E8F0', lineHeight:1.7, fontFamily:&quot;'Source Han Sans SC','Noto Sans SC','Microsoft YaHei',sans-serif&quot; }}&gt;从概念动机 → 架构与关键技术 → 性能界 → 应用与标准 → 案例研讨，形成完整认知闭环。&lt;/Text&gt;&#10;    &lt;/Box&gt;&#10;    &lt;Box style={{ flexDirection:'row', alignItems:'center', gap:10 }}&gt;&#10;      &lt;FAIcon name='clock' style={{ fill:'#06B6D4', width:20, height:20 }} /&gt;&#10;      &lt;Text style={{ fontSize:14, color:'#E2E8F0', fontFamily:&quot;'Source Han Sans SC','Noto Sans SC','Microsoft YaHei',sans-serif&quot; }}&gt;建议 3.5–4 小时（含研讨）&lt;/Text&gt;&#10;    &lt;/Box&gt;&#10;  &lt;/Box&gt;&lt;Box style={{ flex:1, height:'540px', flexDirection:'column', gap:9 }}&gt;&lt;Box style={{ flexDirection:'row', alignItems:'center', gap:12, background:'#FFFFFF', borderRadius:10, border:'1px solid #E6EBF2', padding:'8px 14px', flex:1 }}&gt;&#10;    &lt;Text style={{ fontSize:16, fontWeight:'bold', color:'#2563EB', fontFamily:&quot;'Space Grotesk','Inter','Segoe UI',sans-serif&quot;, width:24 }}&gt;01&lt;/Text&gt;&#10;    &lt;Text style={{ fontSize:16, color:'#0F172A', fontWeight:600, fontFamily:&quot;'Source Han Sans SC','Noto Sans SC','Microsoft YaHei',sans-serif&quot;, flex:1 }}&gt;课程导论&lt;/Text&gt;&#10;    &lt;Box style={{ padding:'2px 10px', borderRadius:12, background:'rgba(6,182,212,0.12)' }}&gt;&lt;Text style={{ fontSize:13, color:'#06B6D4', fontFamily:&quot;'Space Grotesk','Inter','Segoe UI',sans-serif&quot; }}&gt;15 min&lt;/Text&gt;&lt;/Box&gt;&#10;  &lt;/Box&gt;&lt;Box style={{ flexDirection:'row', alignItems:'center', gap:12, background:'#FFFFFF', borderRadius:10, border:'1px solid #E6EBF2', padding:'8px 14px', flex:1 }}&gt;&#10;    &lt;Text style={{ fontSize:16, fontWeight:'bold', color:'#2563EB', fontFamily:&quot;'Space Grotesk','Inter','Segoe UI',sans-serif&quot;, width:24 }}&gt;02&lt;/Text&gt;&#10;    &lt;Text style={{ fontSize:16, color:'#0F172A', fontWeight:600, fontFamily:&quot;'Source Han Sans SC','Noto Sans SC','Microsoft YaHei',sans-serif&quot;, flex:1 }}&gt;背景与动机&lt;/Text&gt;&#10;    &lt;Box style={{ padding:'2px 10px', borderRadius:12, background:'rgba(6,182,212,0.12)' }}&gt;&lt;Text style={{ fontSize:13, color:'#06B6D4', fontFamily:&quot;'Space Grotesk','Inter','Segoe UI',sans-serif&quot; }}&gt;30 min&lt;/Text&gt;&lt;/Box&gt;&#10;  &lt;/Box&gt;&lt;Box style={{ flexDirection:'row', alignItems:'center', gap:12, background:'#FFFFFF', borderRadius:10, border:'1px solid #E6EBF2', padding:'8px 14px', flex:1 }}&gt;&#10;    &lt;Text style={{ fontSize:16, fontWeight:'bold', color:'#2563EB', fontFamily:&quot;'Space Grotesk','Inter','Segoe UI',sans-serif&quot;, width:24 }}&gt;03&lt;/Text&gt;&#10;    &lt;Text style={{ fontSize:16, color:'#0F172A', fontWeight:600, fontFamily:&quot;'Source Han Sans SC','Noto Sans SC','Microsoft YaHei',sans-serif&quot;, flex:1 }}&gt;基本概念与集成范式&lt;/Text&gt;&#10;    &lt;Box style={{ padding:'2px 10px', borderRadius:12, background:'rgba(6,182,212,0.12)' }}&gt;&lt;Text style={{ fontSize:13, color:'#06B6D4', fontFamily:&quot;'Space Grotesk','Inter','Segoe UI',sans-serif&quot; }}&gt;30 min&lt;/Text&gt;&lt;/Box&gt;&#10;  &lt;/Box&gt;&lt;Box style={{ flexDirection:'row', alignItems:'center', gap:12, background:'#FFFFFF', borderRadius:10, border:'1px solid #E6EBF2', padding:'8px 14px', flex:1 }}&gt;&#10;    &lt;Text style={{ fontSize:16, fontWeight:'bold', color:'#2563EB', fontFamily:&quot;'Space Grotesk','Inter','Segoe UI',sans-serif&quot;, width:24 }}&gt;04&lt;/Text&gt;&#10;    &lt;Text style={{ fontSize:16, color:'#0F172A', fontWeight:600, fontFamily:&quot;'Source Han Sans SC','Noto Sans SC','Microsoft YaHei',sans-serif&quot;, flex:1 }}&gt;系统架构与一体化平台&lt;/Text&gt;&#10;    &lt;Box style={{ padding:'2px 10px', borderRadius:12, background:'rgba(6,182,212,0.12)' }}&gt;&lt;Text style={{ fontSize:13, color:'#06B6D4', fontFamily:&quot;'Space Grotesk','Inter','Segoe UI',sans-serif&quot; }}&gt;30 min&lt;/Text&gt;&lt;/Box&gt;&#10;  &lt;/Box&gt;&lt;Box style={{ flexDirection:'row', alignItems:'center', gap:12, background:'#FFFFFF', borderRadius:10, border:'1px solid #E6EBF2', padding:'8px 14px', flex:1 }}&gt;&#10;    &lt;Text style={{ fontSize:16, fontWeight:'bold', color:'#2563EB', fontFamily:&quot;'Space Grotesk','Inter','Segoe UI',sans-serif&quot;, width:24 }}&gt;05&lt;/Text&gt;&#10;    &lt;Text style={{ fontSize:16, color:'#0F172A', fontWeight:600, fontFamily:&quot;'Source Han Sans SC','Noto Sans SC','Microsoft YaHei',sans-serif&quot;, flex:1 }}&gt;关键技术一：波形与双工&lt;/Text&gt;&#10;    &lt;Box style={{ padding:'2px 10px', borderRadius:12, background:'rgba(6,182,212,0.12)' }}&gt;&lt;Text style={{ fontSize:13, color:'#06B6D4', fontFamily:&quot;'Space Grotesk','Inter','Segoe UI',sans-serif&quot; }}&gt;30 min&lt;/Text&gt;&lt;/Box&gt;&#10;  &lt;/Box&gt;&lt;Box style={{ flexDirection:'row', alignItems:'center', gap:12, background:'#FFFFFF', borderRadius:10, border:'1px solid #E6EBF2', padding:'8px 14px', flex:1 }}&gt;&#10;    &lt;Text style={{ fontSize:16, fontWeight:'bold', color:'#2563EB', fontFamily:&quot;'Space Grotesk','Inter','Segoe UI',sans-serif&quot;, width:24 }}&gt;06&lt;/Text&gt;&#10;    &lt;Text style={{ fontSize:16, color:'#0F172A', fontWeight:600, fontFamily:&quot;'Source Han Sans SC','Noto Sans SC','Microsoft YaHei',sans-serif&quot;, flex:1 }}&gt;关键技术二：波束、资源与 AI&lt;/Text&gt;&#10;    &lt;Box style={{ padding:'2px 10px', borderRadius:12, background:'rgba(6,182,212,0.12)' }}&gt;&lt;Text style={{ fontSize:13, color:'#06B6D4', fontFamily:&quot;'Space Grotesk','Inter','Segoe UI',sans-serif&quot; }}&gt;30 min&lt;/Text&gt;&lt;/Box&gt;&#10;  &lt;/Box&gt;&lt;Box style={{ flexDirection:'row', alignItems:'center', gap:12, background:'#FFFFFF', borderRadius:10, border:'1px solid #E6EBF2', padding:'8px 14px', flex:1 }}&gt;&#10;    &lt;Text style={{ fontSize:16, fontWeight:'bold', color:'#2563EB', fontFamily:&quot;'Space Grotesk','Inter','Segoe UI',sans-serif&quot;, width:24 }}&gt;07&lt;/Text&gt;&#10;    &lt;Text style={{ fontSize:16, color:'#0F172A', fontWeight:600, fontFamily:&quot;'Source Han Sans SC','Noto Sans SC','Microsoft YaHei',sans-serif&quot;, flex:1 }}&gt;信号处理与性能界&lt;/Text&gt;&#10;    &lt;Box style={{ padding:'2px 10px', borderRadius:12, background:'rgba(6,182,212,0.12)' }}&gt;&lt;Text style={{ fontSize:13, color:'#06B6D4', fontFamily:&quot;'Space Grotesk','Inter','Segoe UI',sans-serif&quot; }}&gt;30 min&lt;/Text&gt;&lt;/Box&gt;&#10;  &lt;/Box&gt;&lt;Box style={{ flexDirection:'row', alignItems:'center', gap:12, background:'#FFFFFF', borderRadius:10, border:'1px solid #E6EBF2', padding:'8px 14px', flex:1 }}&gt;&#10;    &lt;Text style={{ fontSize:16, fontWeight:'bold', color:'#2563EB', fontFamily:&quot;'Space Grotesk','Inter','Segoe UI',sans-serif&quot;, width:24 }}&gt;08&lt;/Text&gt;&#10;    &lt;Text style={{ fontSize:16, color:'#0F172A', fontWeight:600, fontFamily:&quot;'Source Han Sans SC','Noto Sans SC','Microsoft YaHei',sans-serif&quot;, flex:1 }}&gt;典型应用场景&lt;/Text&gt;&#10;    &lt;Box style={{ padding:'2px 10px', borderRadius:12, background:'rgba(6,182,212,0.12)' }}&gt;&lt;Text style={{ fontSize:13, color:'#06B6D4', fontFamily:&quot;'Space Grotesk','Inter','Segoe UI',sans-serif&quot; }}&gt;30 min&lt;/Text&gt;&lt;/Box&gt;&#10;  &lt;/Box&gt;&lt;Box style={{ flexDirection:'row', alignItems:'center', gap:12, background:'#FFFFFF', borderRadius:10, border:'1px solid #E6EBF2', padding:'8px 14px', flex:1 }}&gt;&#10;    &lt;Text style={{ fontSize:16, fontWeight:'bold', color:'#2563EB', fontFamily:&quot;'Space Grotesk','Inter','Segoe UI',sans-serif&quot;, width:24 }}&gt;09&lt;/Text&gt;&#10;    &lt;Text style={{ fontSize:16, color:'#0F172A', fontWeight:600, fontFamily:&quot;'Source Han Sans SC','Noto Sans SC','Microsoft YaHei',sans-serif&quot;, flex:1 }}&gt;标准化、挑战与开放问题&lt;/Text&gt;&#10;    &lt;Box style={{ padding:'2px 10px', borderRadius:12, background:'rgba(6,182,212,0.12)' }}&gt;&lt;Text style={{ fontSize:13, color:'#06B6D4', fontFamily:&quot;'Space Grotesk','Inter','Segoe UI',sans-serif&quot; }}&gt;30 min&lt;/Text&gt;&lt;/Box&gt;&#10;  &lt;/Box&gt;&lt;Box style={{ flexDirection:'row', alignItems:'center', gap:12, background:'#FFFFFF', borderRadius:10, border:'1px solid #E6EBF2', padding:'8px 14px', flex:1 }}&gt;&#10;    &lt;Text style={{ fontSize:16, fontWeight:'bold', color:'#2563EB', fontFamily:&quot;'Space Grotesk','Inter','Segoe UI',sans-serif&quot;, width:24 }}&gt;10&lt;/Text&gt;&#10;    &lt;Text style={{ fontSize:16, color:'#0F172A', fontWeight:600, fontFamily:&quot;'Source Han Sans SC','Noto Sans SC','Microsoft YaHei',sans-serif&quot;, flex:1 }}&gt;案例、研讨与总结&lt;/Text&gt;&#10;    &lt;Box style={{ padding:'2px 10px', borderRadius:12, background:'rgba(6,182,212,0.12)' }}&gt;&lt;Text style={{ fontSize:13, color:'#06B6D4', fontFamily:&quot;'Space Grotesk','Inter','Segoe UI',sans-serif&quot; }}&gt;30 min&lt;/Text&gt;&lt;/Box&gt;&#10;  &lt;/Box&gt;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03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02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课程地图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AGENDA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课程地图：半天议程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85800" y="1057275"/>
            <a:ext cx="2857500" cy="51435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14400" y="1285875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06B6D4"/>
                </a:solidFill>
                <a:latin typeface="Space Grotesk"/>
                <a:ea typeface="Space Grotesk"/>
              </a:rPr>
              <a:t>HALF-DAY · 41 SLIDES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914400" y="1609725"/>
            <a:ext cx="2400300" cy="8382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100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10 </a:t>
            </a:r>
            <a:r>
              <a:rPr lang="zh-CN" sz="2100" b="1">
                <a:solidFill>
                  <a:srgbClr val="FFFFFF"/>
                </a:solidFill>
                <a:latin typeface="Source Han Sans SC"/>
                <a:ea typeface="Source Han Sans SC"/>
              </a:rPr>
              <a:t>个章节</a:t>
            </a:r>
            <a:endParaRPr/>
          </a:p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Source Han Sans SC"/>
                <a:ea typeface="Source Han Sans SC"/>
              </a:rPr>
              <a:t>一次贯通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14400" y="2600325"/>
            <a:ext cx="24003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从概念动机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架构与关键技术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性能界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应用与标准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案例研讨，形成完整认知闭环。</a:t>
            </a:r>
            <a:endParaRPr/>
          </a:p>
        </p:txBody>
      </p:sp>
      <p:pic>
        <p:nvPicPr>
          <p:cNvPr id="5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5781675"/>
            <a:ext cx="190500" cy="190500"/>
          </a:xfrm>
          <a:prstGeom prst="rect">
            <a:avLst/>
          </a:prstGeom>
          <a:ln/>
        </p:spPr>
      </p:pic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200150" y="5800725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Source Han Sans SC"/>
                <a:ea typeface="Source Han Sans SC"/>
              </a:rPr>
              <a:t>建议</a:t>
            </a:r>
            <a:r>
              <a:rPr lang="en-US" sz="1050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3.5–4 </a:t>
            </a:r>
            <a:r>
              <a:rPr lang="zh-CN" sz="1050">
                <a:solidFill>
                  <a:srgbClr val="E2E8F0"/>
                </a:solidFill>
                <a:latin typeface="Source Han Sans SC"/>
                <a:ea typeface="Source Han Sans SC"/>
              </a:rPr>
              <a:t>小时（含研讨）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3771900" y="1057275"/>
            <a:ext cx="77343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3905250" y="118110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4248150" y="1181100"/>
            <a:ext cx="643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课程导论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10801350" y="1181100"/>
            <a:ext cx="571500" cy="190500"/>
          </a:xfrm>
          <a:prstGeom prst="roundRect">
            <a:avLst>
              <a:gd name="adj" fmla="val 60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0896600" y="12001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Space Grotesk"/>
                <a:ea typeface="Space Grotesk"/>
              </a:rPr>
              <a:t>15 min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3771900" y="1581150"/>
            <a:ext cx="77343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3905250" y="1704975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4248150" y="1704975"/>
            <a:ext cx="643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背景与动机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10801350" y="1704975"/>
            <a:ext cx="571500" cy="190500"/>
          </a:xfrm>
          <a:prstGeom prst="roundRect">
            <a:avLst>
              <a:gd name="adj" fmla="val 60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0896600" y="172402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Space Grotesk"/>
                <a:ea typeface="Space Grotesk"/>
              </a:rPr>
              <a:t>30 min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3771900" y="2105025"/>
            <a:ext cx="77343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3905250" y="22288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248150" y="2228850"/>
            <a:ext cx="643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基本概念与集成范式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10801350" y="2228850"/>
            <a:ext cx="571500" cy="190500"/>
          </a:xfrm>
          <a:prstGeom prst="roundRect">
            <a:avLst>
              <a:gd name="adj" fmla="val 60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0896600" y="22479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Space Grotesk"/>
                <a:ea typeface="Space Grotesk"/>
              </a:rPr>
              <a:t>30 min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3771900" y="2628900"/>
            <a:ext cx="77343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3905250" y="2752725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248150" y="2752725"/>
            <a:ext cx="643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系统架构与一体化平台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10801350" y="2752725"/>
            <a:ext cx="571500" cy="190500"/>
          </a:xfrm>
          <a:prstGeom prst="roundRect">
            <a:avLst>
              <a:gd name="adj" fmla="val 60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0896600" y="27717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Space Grotesk"/>
                <a:ea typeface="Space Grotesk"/>
              </a:rPr>
              <a:t>30 min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3771900" y="3152775"/>
            <a:ext cx="77343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3905250" y="327660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4248150" y="3276600"/>
            <a:ext cx="643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关键技术一：波形与双工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10801350" y="3276600"/>
            <a:ext cx="571500" cy="190500"/>
          </a:xfrm>
          <a:prstGeom prst="roundRect">
            <a:avLst>
              <a:gd name="adj" fmla="val 60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0896600" y="32956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Space Grotesk"/>
                <a:ea typeface="Space Grotesk"/>
              </a:rPr>
              <a:t>30 min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3771900" y="3676650"/>
            <a:ext cx="7734300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3905250" y="3800475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248150" y="3800475"/>
            <a:ext cx="643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关键技术二：波束、资源与</a:t>
            </a:r>
            <a:r>
              <a:rPr lang="en-US" sz="120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AI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10801350" y="3800475"/>
            <a:ext cx="571500" cy="190500"/>
          </a:xfrm>
          <a:prstGeom prst="roundRect">
            <a:avLst>
              <a:gd name="adj" fmla="val 60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0896600" y="381952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Space Grotesk"/>
                <a:ea typeface="Space Grotesk"/>
              </a:rPr>
              <a:t>30 min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3771900" y="4191000"/>
            <a:ext cx="77343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3905250" y="4314825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pace Grotesk"/>
                <a:ea typeface="Space Grotesk"/>
              </a:rPr>
              <a:t>07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4248150" y="4314825"/>
            <a:ext cx="643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信号处理与性能界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10801350" y="4314825"/>
            <a:ext cx="571500" cy="190500"/>
          </a:xfrm>
          <a:prstGeom prst="roundRect">
            <a:avLst>
              <a:gd name="adj" fmla="val 60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0896600" y="43338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Space Grotesk"/>
                <a:ea typeface="Space Grotesk"/>
              </a:rPr>
              <a:t>30 min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3771900" y="4714875"/>
            <a:ext cx="77343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3905250" y="483870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pace Grotesk"/>
                <a:ea typeface="Space Grotesk"/>
              </a:rPr>
              <a:t>08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4248150" y="4838700"/>
            <a:ext cx="643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典型应用场景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10801350" y="4838700"/>
            <a:ext cx="571500" cy="190500"/>
          </a:xfrm>
          <a:prstGeom prst="roundRect">
            <a:avLst>
              <a:gd name="adj" fmla="val 60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0896600" y="48577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Space Grotesk"/>
                <a:ea typeface="Space Grotesk"/>
              </a:rPr>
              <a:t>30 min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3771900" y="5238750"/>
            <a:ext cx="77343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3905250" y="5362575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pace Grotesk"/>
                <a:ea typeface="Space Grotesk"/>
              </a:rPr>
              <a:t>09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4248150" y="5362575"/>
            <a:ext cx="643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标准化、挑战与开放问题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10801350" y="5362575"/>
            <a:ext cx="571500" cy="190500"/>
          </a:xfrm>
          <a:prstGeom prst="roundRect">
            <a:avLst>
              <a:gd name="adj" fmla="val 60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0896600" y="538162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Space Grotesk"/>
                <a:ea typeface="Space Grotesk"/>
              </a:rPr>
              <a:t>30 min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3771900" y="5762625"/>
            <a:ext cx="77343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3905250" y="5886450"/>
            <a:ext cx="22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563EB"/>
                </a:solidFill>
                <a:latin typeface="Space Grotesk"/>
                <a:ea typeface="Space Grotesk"/>
              </a:rPr>
              <a:t>10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4248150" y="5886450"/>
            <a:ext cx="643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案例、研讨与总结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10801350" y="5886450"/>
            <a:ext cx="571500" cy="190500"/>
          </a:xfrm>
          <a:prstGeom prst="roundRect">
            <a:avLst>
              <a:gd name="adj" fmla="val 60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0896600" y="59055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Space Grotesk"/>
                <a:ea typeface="Space Grotesk"/>
              </a:rPr>
              <a:t>30 min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03 / 41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845" name="" descr="&lt;Slide style={{ width:'1280px', height:'720px', background:'#0F172A', padding:'0 72px', position:'relative', display:'flex', flexDirection:'column', justifyContent:'center', overflow:'hidden' }}&gt;&#10;  &lt;Box style={{ position:'absolute', right:-140, top:-140, width:520, height:520, borderRadius:260, background:'rgba(6,182,212,0.12)' }}&gt;&lt;/Box&gt;&#10;  &lt;Box style={{ position:'absolute', right:-40, top:-40, width:340, height:340, borderRadius:170, border:'1px solid rgba(6,182,212,0.25)' }}&gt;&lt;/Box&gt;&#10;  &lt;Box style={{ position:'absolute', left:-180, bottom:-180, width:480, height:480, borderRadius:240, background:'rgba(37,99,235,0.14)' }}&gt;&lt;/Box&gt;&#10;  &lt;Box style={{ flexDirection:'row', alignItems:'center', gap:28, position:'relative', zIndex:1 }}&gt;&#10;    &lt;Text style={{ fontSize:150, fontWeight:'bold', fontFamily:&quot;'Space Grotesk','Inter','Segoe UI',sans-serif&quot;, color:'rgba(255,255,255,0.07)', lineHeight:1 }}&gt;01&lt;/Text&gt;&#10;    &lt;Box&gt;&#10;      &lt;Box style={{ width:56, height:6, borderRadius:3, background:'linear-gradient(90deg, #2563EB, #06B6D4)', marginBottom:20 }}&gt;&lt;/Box&gt;&#10;      &lt;Text style={{ fontSize:54, fontWeight:'bold', color:'#FFFFFF', fontFamily:&quot;'Source Han Sans SC','Noto Sans SC','Microsoft YaHei',sans-serif&quot;, marginBottom:14 }}&gt;课程导论&lt;/Text&gt;&#10;      &lt;Text style={{ fontSize:20, color:'#06B6D4', fontFamily:&quot;'Source Han Sans SC','Noto Sans SC','Microsoft YaHei',sans-serif&quot; }}&gt;是什么 · 为什么是现在 · 与「并存」的本质区别&lt;/Text&gt;&#10;    &lt;/Box&gt;&#10;  &lt;/Box&gt;&#10;  &lt;Text style={{ position:'absolute', right:72, bottom:34, fontSize:13, color:'rgba(226,232,240,0.5)', fontFamily:&quot;'Space Grotesk','Inter','Segoe UI',sans-serif&quot; }}&gt;04 / 41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847" name=""/>
          <p:cNvSpPr/>
          <p:nvPr/>
        </p:nvSpPr>
        <p:spPr>
          <a:xfrm rot="0" flipH="0" flipV="0">
            <a:off x="8572500" y="-1333500"/>
            <a:ext cx="4953000" cy="4953000"/>
          </a:xfrm>
          <a:custGeom>
            <a:pathLst>
              <a:path w="520" h="520">
                <a:moveTo>
                  <a:pt x="380" y="491"/>
                </a:move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380" y="140"/>
                </a:lnTo>
                <a:close/>
              </a:path>
            </a:pathLst>
          </a:cu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848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281" y="41"/>
                </a:moveTo>
                <a:cubicBezTo>
                  <a:pt x="288" y="47"/>
                  <a:pt x="294" y="54"/>
                  <a:pt x="300" y="61"/>
                </a:cubicBezTo>
                <a:lnTo>
                  <a:pt x="300" y="279"/>
                </a:lnTo>
                <a:cubicBezTo>
                  <a:pt x="259" y="329"/>
                  <a:pt x="193" y="350"/>
                  <a:pt x="131" y="335"/>
                </a:cubicBezTo>
                <a:cubicBezTo>
                  <a:pt x="68" y="321"/>
                  <a:pt x="19" y="272"/>
                  <a:pt x="5" y="209"/>
                </a:cubicBezTo>
                <a:cubicBezTo>
                  <a:pt x="-10" y="147"/>
                  <a:pt x="11" y="81"/>
                  <a:pt x="61" y="40"/>
                </a:cubicBezTo>
                <a:lnTo>
                  <a:pt x="279" y="40"/>
                </a:lnTo>
                <a:close/>
              </a:path>
            </a:pathLst>
          </a:custGeom>
          <a:ln/>
        </p:spPr>
        <p:txBody>
          <a:bodyPr/>
          <a:p/>
        </p:txBody>
      </p:sp>
      <p:sp>
        <p:nvSpPr>
          <p:cNvPr id="849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59" y="42"/>
                </a:moveTo>
                <a:cubicBezTo>
                  <a:pt x="5" y="91"/>
                  <a:pt x="-12" y="169"/>
                  <a:pt x="16" y="236"/>
                </a:cubicBezTo>
                <a:cubicBezTo>
                  <a:pt x="45" y="304"/>
                  <a:pt x="114" y="345"/>
                  <a:pt x="186" y="339"/>
                </a:cubicBezTo>
                <a:cubicBezTo>
                  <a:pt x="112" y="347"/>
                  <a:pt x="42" y="305"/>
                  <a:pt x="13" y="236"/>
                </a:cubicBezTo>
                <a:cubicBezTo>
                  <a:pt x="-15" y="167"/>
                  <a:pt x="4" y="87"/>
                  <a:pt x="62" y="40"/>
                </a:cubicBezTo>
                <a:close/>
                <a:moveTo>
                  <a:pt x="281" y="41"/>
                </a:moveTo>
                <a:cubicBezTo>
                  <a:pt x="288" y="47"/>
                  <a:pt x="295" y="54"/>
                  <a:pt x="300" y="62"/>
                </a:cubicBezTo>
                <a:cubicBezTo>
                  <a:pt x="293" y="55"/>
                  <a:pt x="286" y="47"/>
                  <a:pt x="279" y="40"/>
                </a:cubicBezTo>
                <a:close/>
              </a:path>
            </a:pathLst>
          </a:custGeom>
          <a:solidFill>
            <a:srgbClr val="06B6D4">
              <a:alpha val="25000"/>
            </a:srgbClr>
          </a:solidFill>
        </p:spPr>
        <p:txBody>
          <a:bodyPr/>
          <a:p/>
        </p:txBody>
      </p:sp>
      <p:sp>
        <p:nvSpPr>
          <p:cNvPr id="850" name=""/>
          <p:cNvSpPr/>
          <p:nvPr/>
        </p:nvSpPr>
        <p:spPr>
          <a:xfrm rot="0" flipH="0" flipV="0">
            <a:off x="-1714500" y="400050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2" y="300"/>
                </a:lnTo>
                <a:lnTo>
                  <a:pt x="180" y="300"/>
                </a:lnTo>
                <a:lnTo>
                  <a:pt x="180" y="8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solidFill>
            <a:srgbClr val="2563EB">
              <a:alpha val="14000"/>
            </a:srgbClr>
          </a:solidFill>
          <a:ln/>
        </p:spPr>
        <p:txBody>
          <a:bodyPr/>
          <a:p/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11115675" y="63817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>
                    <a:alpha val="50000"/>
                  </a:srgbClr>
                </a:solidFill>
                <a:latin typeface="Space Grotesk"/>
                <a:ea typeface="Space Grotesk"/>
              </a:rPr>
              <a:t>04 / 41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1647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7000"/>
                  </a:srgbClr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2600325" y="2819400"/>
            <a:ext cx="533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2600325" y="3067050"/>
            <a:ext cx="417195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Source Han Sans SC"/>
                <a:ea typeface="Source Han Sans SC"/>
              </a:rPr>
              <a:t>课程导论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2600325" y="3819525"/>
            <a:ext cx="4171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是什么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为什么是现在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与「并存」的本质区别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03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基本概念 DEFINITION&lt;/Text&gt;&#10;&lt;/Box&gt;&#10;&lt;Text style={{ fontSize:34, fontWeight:'bold', color:'#0F172A', fontFamily:&quot;'Source Han Sans SC','Noto Sans SC','Microsoft YaHei',sans-serif&quot;, marginBottom:16 }}&gt;什么是通感一体化：定义与核心思想&lt;/Text&gt;&#10;&lt;Box style={{ height:'540px', flexDirection:'column' }}&gt;&#10;&lt;Box style={{ flexDirection:'row', gap:24, height:'540px', alignItems:'center' }}&gt;&lt;Box style={{ width:560, alignItems:'center', justifyContent:'center' }}&gt;&lt;svg width={520} height={420} viewBox='0 0 520 420'&gt;&#10;  &lt;defs&gt;&#10;    &lt;linearGradient id='g1' x1='0' y1='0' x2='1' y2='1'&gt;&lt;stop offset='0' stop-color='#2563EB'/&gt;&lt;stop offset='1' stop-color='#06B6D4'/&gt;&lt;/linearGradient&gt;&#10;    &lt;clipPath id='rightHalf'&gt;&lt;rect x='260' y='80' width='240' height='260'/&gt;&lt;/clipPath&gt;&#10;  &lt;/defs&gt;&#10;  &lt;rect x='30' y='92' width='460' height='236' rx='16' fill='rgba(37,99,235,0.05)'/&gt;&#10;  &lt;line x1='260' y1='80' x2='260' y2='340' stroke='#E6EBF2' strokeWidth='1.5' strokeDasharray='4 4'/&gt;&#10;  &lt;path d='M52 210 q 22 -55 44 0 t 44 0 t 44 0' fill='none' stroke='#2563EB' strokeWidth='3'/&gt;&#10;  &lt;g clip-path='url(#rightHalf)'&gt;&#10;    &lt;circle cx='260' cy='210' r='45' fill='none' stroke='#06B6D4' strokeWidth='2' opacity='0.9'/&gt;&#10;    &lt;circle cx='260' cy='210' r='75' fill='none' stroke='#06B6D4' strokeWidth='2' opacity='0.55'/&gt;&#10;    &lt;circle cx='260' cy='210' r='105' fill='none' stroke='#06B6D4' strokeWidth='2' opacity='0.3'/&gt;&#10;  &lt;/g&gt;&#10;  &lt;circle cx='260' cy='210' r='28' fill='url(#g1)'/&gt;&#10;  &lt;text x='52' y='140' fill='#2563EB' font-size='15' font-weight='700' font-family='sans-serif'&gt;通信 Comm&lt;/text&gt;&#10;  &lt;text x='300' y='140' fill='#06B6D4' font-size='15' font-weight='700' font-family='sans-serif'&gt;感知 Sensing&lt;/text&gt;&#10;  &lt;text x='260' y='300' fill='#0F172A' font-size='15' font-weight='700' text-anchor='middle' font-family='sans-serif'&gt;一体化发射 · 共享波形&lt;/text&gt;&lt;/svg&gt;&lt;/Box&gt;&lt;Box style={{ flex:1, flexDirection:'column', gap:16, justifyContent:'space-between' }}&gt;&#10;    &lt;Box style={{ background:'#FFFFFF', borderRadius:14, border:'1px solid #E6EBF2', borderLeft:'5px solid #2563EB', padding:20, boxShadow:'0 4px 18px rgba(15,23,42,0.06)' }}&gt;&#10;      &lt;Text style={{ fontSize:20, fontWeight:'bold', color:'#0F172A', fontFamily:&quot;'Source Han Sans SC','Noto Sans SC','Microsoft YaHei',sans-serif&quot;, marginBottom:10 }}&gt;定义&lt;/Text&gt;&#10;      &lt;Text style={{ fontSize:16, color:'#64748B', lineHeight:1.65, fontFamily:&quot;'Source Han Sans SC','Noto Sans SC','Microsoft YaHei',sans-serif&quot; }}&gt;在同一套&lt;span style={{ fontWeight:'bold', color:'#0F172A' }}&gt;硬件、频谱与信号处理&lt;/span&gt;之上，让通信与感知&lt;span style={{ fontWeight:'bold', color:'#0F172A' }}&gt;共享同一次发射&lt;/span&gt;：既传输信息、又探测环境——用通信信号做雷达，一次发射、双重收益。&lt;/Text&gt;&#10;    &lt;/Box&gt;&#10;    &lt;Box style={{ background:'rgba(6,182,212,0.08)', borderRadius:14, padding:20 }}&gt;&#10;      &lt;Text style={{ fontSize:19, fontWeight:'bold', color:'#0F172A', fontFamily:&quot;'Source Han Sans SC','Noto Sans SC','Microsoft YaHei',sans-serif&quot;, marginBottom:10 }}&gt;与「通信 + 雷达并存」的本质区别&lt;/Text&gt;&#10;      &lt;Text style={{ fontSize:16, color:'#64748B', lineHeight:1.65, fontFamily:&quot;'Source Han Sans SC','Noto Sans SC','Microsoft YaHei',sans-serif&quot; }}&gt;并存是两套系统各自为政、频谱与硬件重复；一体化是&lt;span style={{ fontWeight:'bold', color:'#0F172A' }}&gt;联合设计&lt;/span&gt;波形、接收机与资源，在同一条信号中同时承载两类信息，带来频谱、成本与能耗的系统性下降。&lt;/Text&gt;&#10;    &lt;/Box&gt;&#10;  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05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05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基本概念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DEFINITION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什么是通感一体化：定义与核心思想</a:t>
            </a:r>
            <a:endParaRPr/>
          </a:p>
        </p:txBody>
      </p:sp>
      <p:pic>
        <p:nvPicPr>
          <p:cNvPr id="9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628775"/>
            <a:ext cx="4953000" cy="4000500"/>
          </a:xfrm>
          <a:prstGeom prst="rect">
            <a:avLst/>
          </a:prstGeom>
          <a:ln/>
        </p:spPr>
      </p:pic>
      <p:sp>
        <p:nvSpPr>
          <p:cNvPr id="909" name=""/>
          <p:cNvSpPr/>
          <p:nvPr/>
        </p:nvSpPr>
        <p:spPr>
          <a:xfrm rot="0" flipH="0" flipV="0">
            <a:off x="6296025" y="2095500"/>
            <a:ext cx="5257800" cy="1314450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10" name=""/>
          <p:cNvSpPr/>
          <p:nvPr/>
        </p:nvSpPr>
        <p:spPr>
          <a:xfrm rot="0" flipH="0" flipV="0">
            <a:off x="6296025" y="2095500"/>
            <a:ext cx="5257800" cy="1314450"/>
          </a:xfrm>
          <a:custGeom>
            <a:pathLst>
              <a:path w="552" h="138">
                <a:moveTo>
                  <a:pt x="13" y="0"/>
                </a:moveTo>
                <a:cubicBezTo>
                  <a:pt x="9" y="0"/>
                  <a:pt x="5" y="4"/>
                  <a:pt x="5" y="9"/>
                </a:cubicBezTo>
                <a:lnTo>
                  <a:pt x="5" y="129"/>
                </a:lnTo>
                <a:cubicBezTo>
                  <a:pt x="5" y="133"/>
                  <a:pt x="8" y="137"/>
                  <a:pt x="12" y="138"/>
                </a:cubicBezTo>
                <a:cubicBezTo>
                  <a:pt x="5" y="137"/>
                  <a:pt x="0" y="131"/>
                  <a:pt x="0" y="12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6486525" y="2286000"/>
            <a:ext cx="4829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Source Han Sans SC"/>
                <a:ea typeface="Source Han Sans SC"/>
              </a:rPr>
              <a:t>定义</a:t>
            </a:r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6486525" y="2609850"/>
            <a:ext cx="48291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在同一套</a:t>
            </a: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硬件、频谱与信号处理</a:t>
            </a: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之上，让通信与感知</a:t>
            </a: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共享同一次发射</a:t>
            </a: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：既传输信息、又探测环境——用通信信号做雷达，一次发射、双重收益。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6248400" y="3562350"/>
            <a:ext cx="5257800" cy="1609725"/>
          </a:xfrm>
          <a:prstGeom prst="roundRect">
            <a:avLst>
              <a:gd name="adj" fmla="val 8284"/>
            </a:avLst>
          </a:prstGeom>
          <a:solidFill>
            <a:srgbClr val="06B6D4">
              <a:alpha val="8000"/>
            </a:srgbClr>
          </a:solidFill>
          <a:ln/>
        </p:spPr>
        <p:txBody>
          <a:bodyPr/>
          <a:p/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6438900" y="3752850"/>
            <a:ext cx="4876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SC"/>
                <a:ea typeface="Source Han Sans SC"/>
              </a:rPr>
              <a:t>与「通信</a:t>
            </a:r>
            <a:r>
              <a:rPr lang="en-US" sz="142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425" b="1">
                <a:solidFill>
                  <a:srgbClr val="0F172A"/>
                </a:solidFill>
                <a:latin typeface="Source Han Sans SC"/>
                <a:ea typeface="Source Han Sans SC"/>
              </a:rPr>
              <a:t>雷达并存」的本质区别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6438900" y="4067175"/>
            <a:ext cx="48768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并存是两套系统各自为政、频谱与硬件重复；一体化是</a:t>
            </a: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联合设计</a:t>
            </a: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波形、接收机与资源，在同一条信号中同时承载两类信息，带来频谱、成本与能耗的系统性下降。</a:t>
            </a:r>
            <a:endParaRPr/>
          </a:p>
        </p:txBody>
      </p:sp>
      <p:sp>
        <p:nvSpPr>
          <p:cNvPr id="916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05 / 41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20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为什么是现在 WHY NOW&lt;/Text&gt;&#10;&lt;/Box&gt;&#10;&lt;Text style={{ fontSize:34, fontWeight:'bold', color:'#0F172A', fontFamily:&quot;'Source Han Sans SC','Noto Sans SC','Microsoft YaHei',sans-serif&quot;, marginBottom:16 }}&gt;为什么是现在：三大驱动力&lt;/Text&gt;&#10;&lt;Box style={{ height:'540px', flexDirection:'column' }}&gt;&#10;&lt;Box style={{ flexDirection:'column', gap:16, height:'540px' }}&gt;&#10;  &lt;Text style={{ fontSize:18, color:'#64748B', lineHeight:1.6, fontFamily:&quot;'Source Han Sans SC','Noto Sans SC','Microsoft YaHei',sans-serif&quot; }}&gt;通感一体化并非「为技术而技术」，而是&lt;span style={{ fontWeight:'bold', color:'#0F172A' }}&gt;频谱、硬件、应用&lt;/span&gt;三条曲线在 6G 前夜交汇的必然结果：&lt;/Text&gt;&#10;  &lt;Box style={{ flexDirection:'row', gap:16, flex:1 }}&gt;&#10;  &lt;Box style={{ flex:1, background:'#FFFFFF', borderRadius:16, border:'1px solid #E6EBF2', boxShadow:'0 8px 26px rgba(15,23,42,0.08)', padding:22, flexDirection:'column' }}&gt;&#10;      &lt;Box style={{ width:62, height:62, borderRadius:18, background:'linear-gradient(135deg, #2563EB, #06B6D4)', justifyContent:'center', alignItems:'center', marginBottom:16 }}&gt;&lt;FAIcon name='tower-broadcast' style={{ fill:'#FFFFFF', width:32, height:32 }} /&gt;&lt;/Box&gt;&#10;      &lt;Text style={{ fontSize:22, fontWeight:'bold', color:'#0F172A', fontFamily:&quot;'Source Han Sans SC','Noto Sans SC','Microsoft YaHei',sans-serif&quot;, marginBottom:10 }}&gt;1 · 频谱稀缺&lt;/Text&gt;&#10;      &lt;Text style={{ fontSize:15, color:'#64748B', lineHeight:1.6, fontFamily:&quot;'Source Han Sans SC','Noto Sans SC','Microsoft YaHei',sans-serif&quot; }}&gt;移动通信流量持续攀升，优质低频段几乎被瓜分殆尽。让同一段频谱「既传数据、又测目标」，等于把最稀缺的资源用两次。&lt;/Text&gt;&#10;    &lt;/Box&gt;&lt;Box style={{ flex:1, background:'#FFFFFF', borderRadius:16, border:'1px solid #E6EBF2', boxShadow:'0 8px 26px rgba(15,23,42,0.08)', padding:22, flexDirection:'column' }}&gt;&#10;      &lt;Box style={{ width:62, height:62, borderRadius:18, background:'linear-gradient(135deg, #2563EB, #06B6D4)', justifyContent:'center', alignItems:'center', marginBottom:16 }}&gt;&lt;FAIcon name='microchip' style={{ fill:'#FFFFFF', width:32, height:32 }} /&gt;&lt;/Box&gt;&#10;      &lt;Text style={{ fontSize:22, fontWeight:'bold', color:'#0F172A', fontFamily:&quot;'Source Han Sans SC','Noto Sans SC','Microsoft YaHei',sans-serif&quot;, marginBottom:10 }}&gt;2 · 硬件冗余&lt;/Text&gt;&#10;      &lt;Text style={{ fontSize:15, color:'#64748B', lineHeight:1.6, fontFamily:&quot;'Source Han Sans SC','Noto Sans SC','Microsoft YaHei',sans-serif&quot; }}&gt;终端与基站中通信射频链、天线与雷达各自独立，硬件与功耗大量重复。一体化共享射频链与阵列，显著降低体积、成本与能耗。&lt;/Text&gt;&#10;    &lt;/Box&gt;&lt;Box style={{ flex:1, background:'#FFFFFF', borderRadius:16, border:'1px solid #E6EBF2', boxShadow:'0 8px 26px rgba(15,23,42,0.08)', padding:22, flexDirection:'column' }}&gt;&#10;      &lt;Box style={{ width:62, height:62, borderRadius:18, background:'linear-gradient(135deg, #2563EB, #06B6D4)', justifyContent:'center', alignItems:'center', marginBottom:16 }}&gt;&lt;FAIcon name='city' style={{ fill:'#FFFFFF', width:32, height:32 }} /&gt;&lt;/Box&gt;&#10;      &lt;Text style={{ fontSize:22, fontWeight:'bold', color:'#0F172A', fontFamily:&quot;'Source Han Sans SC','Noto Sans SC','Microsoft YaHei',sans-serif&quot;, marginBottom:10 }}&gt;3 · 应用牵引&lt;/Text&gt;&#10;      &lt;Text style={{ fontSize:15, color:'#64748B', lineHeight:1.6, fontFamily:&quot;'Source Han Sans SC','Noto Sans SC','Microsoft YaHei',sans-serif&quot; }}&gt;自动驾驶、低空经济、数字孪生、人机交互迫切需要网络原生提供「感知即服务」，而非外挂专用传感设备。&lt;/Text&gt;&#10;    &lt;/Box&gt;&#10;  &lt;/Box&gt;&#10;  &lt;Box style={{ background:'linear-gradient(135deg, rgba(245,158,11,0.14), rgba(245,158,11,0.04))', borderLeft:'5px solid #F59E0B', borderRadius:12, padding:'14px 18px' }}&gt;&#10;    &lt;Text style={{ fontSize:16, color:'#0F172A', lineHeight:1.55, fontFamily:&quot;'Source Han Sans SC','Noto Sans SC','Microsoft YaHei',sans-serif&quot; }}&gt;&lt;span style={{ fontWeight:'bold' }}&gt;判断：&lt;/span&gt;频谱与硬件红利是根本经济动机——一体化把「只用一次的频谱 / 硬件」变成「用两次」，这是它走向商用的底层逻辑。&lt;/Text&gt;&#10;  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06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22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914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为什么是现在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WHY NOW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为什么是现在：三大驱动力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685800" y="105727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Source Han Sans SC"/>
                <a:ea typeface="Source Han Sans SC"/>
              </a:rPr>
              <a:t>通感一体化并非「为技术而技术」，而是</a:t>
            </a: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频谱、硬件、应用</a:t>
            </a:r>
            <a:r>
              <a:rPr lang="zh-CN" sz="1350">
                <a:solidFill>
                  <a:srgbClr val="64748B"/>
                </a:solidFill>
                <a:latin typeface="Source Han Sans SC"/>
                <a:ea typeface="Source Han Sans SC"/>
              </a:rPr>
              <a:t>三条曲线在</a:t>
            </a:r>
            <a:r>
              <a:rPr lang="en-US" sz="1350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6G </a:t>
            </a:r>
            <a:r>
              <a:rPr lang="zh-CN" sz="1350">
                <a:solidFill>
                  <a:srgbClr val="64748B"/>
                </a:solidFill>
                <a:latin typeface="Source Han Sans SC"/>
                <a:ea typeface="Source Han Sans SC"/>
              </a:rPr>
              <a:t>前夜交汇的必然结果：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685800" y="1543050"/>
            <a:ext cx="3505200" cy="395287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247650" dist="762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27" name=""/>
          <p:cNvSpPr/>
          <p:nvPr/>
        </p:nvSpPr>
        <p:spPr>
          <a:xfrm rot="0" flipH="0" flipV="0">
            <a:off x="895350" y="1752600"/>
            <a:ext cx="590550" cy="590550"/>
          </a:xfrm>
          <a:prstGeom prst="roundRect">
            <a:avLst>
              <a:gd name="adj" fmla="val 29032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9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" y="1895475"/>
            <a:ext cx="304800" cy="304800"/>
          </a:xfrm>
          <a:prstGeom prst="rect">
            <a:avLst/>
          </a:prstGeom>
          <a:ln/>
        </p:spPr>
      </p:pic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895350" y="24955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1 · </a:t>
            </a:r>
            <a:r>
              <a:rPr lang="zh-CN" sz="1650" b="1">
                <a:solidFill>
                  <a:srgbClr val="0F172A"/>
                </a:solidFill>
                <a:latin typeface="Source Han Sans SC"/>
                <a:ea typeface="Source Han Sans SC"/>
              </a:rPr>
              <a:t>频谱稀缺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895350" y="2847975"/>
            <a:ext cx="30861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移动通信流量持续攀升，优质低频段几乎被瓜分殆尽。让同一段频谱「既传数据、又测目标」，等于把最稀缺的资源用两次。</a:t>
            </a:r>
            <a:endParaRPr/>
          </a:p>
        </p:txBody>
      </p:sp>
      <p:sp>
        <p:nvSpPr>
          <p:cNvPr id="931" name=""/>
          <p:cNvSpPr/>
          <p:nvPr/>
        </p:nvSpPr>
        <p:spPr>
          <a:xfrm rot="0" flipH="0" flipV="0">
            <a:off x="4343400" y="1543050"/>
            <a:ext cx="3505200" cy="395287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247650" dist="762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2" name=""/>
          <p:cNvSpPr/>
          <p:nvPr/>
        </p:nvSpPr>
        <p:spPr>
          <a:xfrm rot="0" flipH="0" flipV="0">
            <a:off x="4552950" y="1752600"/>
            <a:ext cx="590550" cy="590550"/>
          </a:xfrm>
          <a:prstGeom prst="roundRect">
            <a:avLst>
              <a:gd name="adj" fmla="val 29032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9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95825" y="1895475"/>
            <a:ext cx="304800" cy="304800"/>
          </a:xfrm>
          <a:prstGeom prst="rect">
            <a:avLst/>
          </a:prstGeom>
          <a:ln/>
        </p:spPr>
      </p:pic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4552950" y="24955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2 · </a:t>
            </a:r>
            <a:r>
              <a:rPr lang="zh-CN" sz="1650" b="1">
                <a:solidFill>
                  <a:srgbClr val="0F172A"/>
                </a:solidFill>
                <a:latin typeface="Source Han Sans SC"/>
                <a:ea typeface="Source Han Sans SC"/>
              </a:rPr>
              <a:t>硬件冗余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4552950" y="2847975"/>
            <a:ext cx="30861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终端与基站中通信射频链、天线与雷达各自独立，硬件与功耗大量重复。一体化共享射频链与阵列，显著降低体积、成本与能耗。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8001000" y="1543050"/>
            <a:ext cx="3505200" cy="3952875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247650" dist="762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7" name=""/>
          <p:cNvSpPr/>
          <p:nvPr/>
        </p:nvSpPr>
        <p:spPr>
          <a:xfrm rot="0" flipH="0" flipV="0">
            <a:off x="8210550" y="1752600"/>
            <a:ext cx="590550" cy="590550"/>
          </a:xfrm>
          <a:prstGeom prst="roundRect">
            <a:avLst>
              <a:gd name="adj" fmla="val 29032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9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53425" y="1895475"/>
            <a:ext cx="304800" cy="304800"/>
          </a:xfrm>
          <a:prstGeom prst="rect">
            <a:avLst/>
          </a:prstGeom>
          <a:ln/>
        </p:spPr>
      </p:pic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8210550" y="24955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3 · </a:t>
            </a:r>
            <a:r>
              <a:rPr lang="zh-CN" sz="1650" b="1">
                <a:solidFill>
                  <a:srgbClr val="0F172A"/>
                </a:solidFill>
                <a:latin typeface="Source Han Sans SC"/>
                <a:ea typeface="Source Han Sans SC"/>
              </a:rPr>
              <a:t>应用牵引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8210550" y="2847975"/>
            <a:ext cx="30861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自动驾驶、低空经济、数字孪生、人机交互迫切需要网络原生提供「感知即服务」，而非外挂专用传感设备。</a:t>
            </a:r>
            <a:endParaRPr/>
          </a:p>
        </p:txBody>
      </p:sp>
      <p:sp>
        <p:nvSpPr>
          <p:cNvPr id="941" name=""/>
          <p:cNvSpPr/>
          <p:nvPr/>
        </p:nvSpPr>
        <p:spPr>
          <a:xfrm rot="0" flipH="0" flipV="0">
            <a:off x="733425" y="5648325"/>
            <a:ext cx="10820400" cy="552450"/>
          </a:xfrm>
          <a:prstGeom prst="roundRect">
            <a:avLst>
              <a:gd name="adj" fmla="val 20690"/>
            </a:avLst>
          </a:prstGeom>
          <a:gradFill>
            <a:gsLst>
              <a:gs pos="0">
                <a:srgbClr val="F59E0B">
                  <a:alpha val="14000"/>
                </a:srgbClr>
              </a:gs>
              <a:gs pos="100000">
                <a:srgbClr val="F59E0B">
                  <a:alpha val="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42" name=""/>
          <p:cNvSpPr/>
          <p:nvPr/>
        </p:nvSpPr>
        <p:spPr>
          <a:xfrm rot="0" flipH="0" flipV="0">
            <a:off x="733425" y="5648325"/>
            <a:ext cx="10820400" cy="552450"/>
          </a:xfrm>
          <a:custGeom>
            <a:pathLst>
              <a:path w="1136" h="58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51"/>
                </a:lnTo>
                <a:cubicBezTo>
                  <a:pt x="5" y="54"/>
                  <a:pt x="7" y="57"/>
                  <a:pt x="10" y="58"/>
                </a:cubicBezTo>
                <a:cubicBezTo>
                  <a:pt x="4" y="57"/>
                  <a:pt x="0" y="52"/>
                  <a:pt x="0" y="4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904875" y="5781675"/>
            <a:ext cx="1042987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判断：</a:t>
            </a:r>
            <a:r>
              <a:rPr lang="zh-CN" sz="1200">
                <a:solidFill>
                  <a:srgbClr val="0F172A"/>
                </a:solidFill>
                <a:latin typeface="Source Han Sans SC"/>
                <a:ea typeface="Source Han Sans SC"/>
              </a:rPr>
              <a:t>频谱与硬件红利是根本经济动机——一体化把「只用一次的频谱</a:t>
            </a:r>
            <a:r>
              <a:rPr lang="en-US" sz="1200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200">
                <a:solidFill>
                  <a:srgbClr val="0F172A"/>
                </a:solidFill>
                <a:latin typeface="Source Han Sans SC"/>
                <a:ea typeface="Source Han Sans SC"/>
              </a:rPr>
              <a:t>硬件」变成「用两次」，这是它走向商用的底层逻辑。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06 / 41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948" name="" descr="&lt;Slide style={{ width:'1280px', height:'720px', background:'#0F172A', padding:'0 72px', position:'relative', display:'flex', flexDirection:'column', justifyContent:'center', overflow:'hidden' }}&gt;&#10;  &lt;Box style={{ position:'absolute', right:-140, top:-140, width:520, height:520, borderRadius:260, background:'rgba(6,182,212,0.12)' }}&gt;&lt;/Box&gt;&#10;  &lt;Box style={{ position:'absolute', right:-40, top:-40, width:340, height:340, borderRadius:170, border:'1px solid rgba(6,182,212,0.25)' }}&gt;&lt;/Box&gt;&#10;  &lt;Box style={{ position:'absolute', left:-180, bottom:-180, width:480, height:480, borderRadius:240, background:'rgba(37,99,235,0.14)' }}&gt;&lt;/Box&gt;&#10;  &lt;Box style={{ flexDirection:'row', alignItems:'center', gap:28, position:'relative', zIndex:1 }}&gt;&#10;    &lt;Text style={{ fontSize:150, fontWeight:'bold', fontFamily:&quot;'Space Grotesk','Inter','Segoe UI',sans-serif&quot;, color:'rgba(255,255,255,0.07)', lineHeight:1 }}&gt;02&lt;/Text&gt;&#10;    &lt;Box&gt;&#10;      &lt;Box style={{ width:56, height:6, borderRadius:3, background:'linear-gradient(90deg, #2563EB, #06B6D4)', marginBottom:20 }}&gt;&lt;/Box&gt;&#10;      &lt;Text style={{ fontSize:54, fontWeight:'bold', color:'#FFFFFF', fontFamily:&quot;'Source Han Sans SC','Noto Sans SC','Microsoft YaHei',sans-serif&quot;, marginBottom:14 }}&gt;背景与动机&lt;/Text&gt;&#10;      &lt;Text style={{ fontSize:20, color:'#06B6D4', fontFamily:&quot;'Source Han Sans SC','Noto Sans SC','Microsoft YaHei',sans-serif&quot; }}&gt;代际演进 · 割裂之痛 · 新应用的原生感知需求&lt;/Text&gt;&#10;    &lt;/Box&gt;&#10;  &lt;/Box&gt;&#10;  &lt;Text style={{ position:'absolute', right:72, bottom:34, fontSize:13, color:'rgba(226,232,240,0.5)', fontFamily:&quot;'Space Grotesk','Inter','Segoe UI',sans-serif&quot; }}&gt;07 / 41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950" name=""/>
          <p:cNvSpPr/>
          <p:nvPr/>
        </p:nvSpPr>
        <p:spPr>
          <a:xfrm rot="0" flipH="0" flipV="0">
            <a:off x="8572500" y="-1333500"/>
            <a:ext cx="4953000" cy="4953000"/>
          </a:xfrm>
          <a:custGeom>
            <a:pathLst>
              <a:path w="520" h="520">
                <a:moveTo>
                  <a:pt x="380" y="491"/>
                </a:move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380" y="140"/>
                </a:lnTo>
                <a:close/>
              </a:path>
            </a:pathLst>
          </a:cu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951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281" y="41"/>
                </a:moveTo>
                <a:cubicBezTo>
                  <a:pt x="288" y="47"/>
                  <a:pt x="294" y="54"/>
                  <a:pt x="300" y="61"/>
                </a:cubicBezTo>
                <a:lnTo>
                  <a:pt x="300" y="279"/>
                </a:lnTo>
                <a:cubicBezTo>
                  <a:pt x="259" y="329"/>
                  <a:pt x="193" y="350"/>
                  <a:pt x="131" y="335"/>
                </a:cubicBezTo>
                <a:cubicBezTo>
                  <a:pt x="68" y="321"/>
                  <a:pt x="19" y="272"/>
                  <a:pt x="5" y="209"/>
                </a:cubicBezTo>
                <a:cubicBezTo>
                  <a:pt x="-10" y="147"/>
                  <a:pt x="11" y="81"/>
                  <a:pt x="61" y="40"/>
                </a:cubicBezTo>
                <a:lnTo>
                  <a:pt x="279" y="40"/>
                </a:lnTo>
                <a:close/>
              </a:path>
            </a:pathLst>
          </a:custGeom>
          <a:ln/>
        </p:spPr>
        <p:txBody>
          <a:bodyPr/>
          <a:p/>
        </p:txBody>
      </p:sp>
      <p:sp>
        <p:nvSpPr>
          <p:cNvPr id="952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59" y="42"/>
                </a:moveTo>
                <a:cubicBezTo>
                  <a:pt x="5" y="91"/>
                  <a:pt x="-12" y="169"/>
                  <a:pt x="16" y="236"/>
                </a:cubicBezTo>
                <a:cubicBezTo>
                  <a:pt x="45" y="304"/>
                  <a:pt x="114" y="345"/>
                  <a:pt x="186" y="339"/>
                </a:cubicBezTo>
                <a:cubicBezTo>
                  <a:pt x="112" y="347"/>
                  <a:pt x="42" y="305"/>
                  <a:pt x="13" y="236"/>
                </a:cubicBezTo>
                <a:cubicBezTo>
                  <a:pt x="-15" y="167"/>
                  <a:pt x="4" y="87"/>
                  <a:pt x="62" y="40"/>
                </a:cubicBezTo>
                <a:close/>
                <a:moveTo>
                  <a:pt x="281" y="41"/>
                </a:moveTo>
                <a:cubicBezTo>
                  <a:pt x="288" y="47"/>
                  <a:pt x="295" y="54"/>
                  <a:pt x="300" y="62"/>
                </a:cubicBezTo>
                <a:cubicBezTo>
                  <a:pt x="293" y="55"/>
                  <a:pt x="286" y="47"/>
                  <a:pt x="279" y="40"/>
                </a:cubicBezTo>
                <a:close/>
              </a:path>
            </a:pathLst>
          </a:custGeom>
          <a:solidFill>
            <a:srgbClr val="06B6D4">
              <a:alpha val="25000"/>
            </a:srgbClr>
          </a:solidFill>
        </p:spPr>
        <p:txBody>
          <a:bodyPr/>
          <a:p/>
        </p:txBody>
      </p:sp>
      <p:sp>
        <p:nvSpPr>
          <p:cNvPr id="953" name=""/>
          <p:cNvSpPr/>
          <p:nvPr/>
        </p:nvSpPr>
        <p:spPr>
          <a:xfrm rot="0" flipH="0" flipV="0">
            <a:off x="-1714500" y="400050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2" y="300"/>
                </a:lnTo>
                <a:lnTo>
                  <a:pt x="180" y="300"/>
                </a:lnTo>
                <a:lnTo>
                  <a:pt x="180" y="8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solidFill>
            <a:srgbClr val="2563EB">
              <a:alpha val="14000"/>
            </a:srgbClr>
          </a:solidFill>
          <a:ln/>
        </p:spPr>
        <p:txBody>
          <a:bodyPr/>
          <a:p/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11115675" y="63817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>
                    <a:alpha val="50000"/>
                  </a:srgbClr>
                </a:solidFill>
                <a:latin typeface="Space Grotesk"/>
                <a:ea typeface="Space Grotesk"/>
              </a:rPr>
              <a:t>07 / 41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1647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7000"/>
                  </a:srgbClr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2600325" y="2819400"/>
            <a:ext cx="533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2600325" y="3067050"/>
            <a:ext cx="398145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Source Han Sans SC"/>
                <a:ea typeface="Source Han Sans SC"/>
              </a:rPr>
              <a:t>背景与动机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2600325" y="3819525"/>
            <a:ext cx="3981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代际演进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割裂之痛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新应用的原生感知需求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59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代际演进 EVOLUTION&lt;/Text&gt;&#10;&lt;/Box&gt;&#10;&lt;Text style={{ fontSize:34, fontWeight:'bold', color:'#0F172A', fontFamily:&quot;'Source Han Sans SC','Noto Sans SC','Microsoft YaHei',sans-serif&quot;, marginBottom:16 }}&gt;移动通信代际演进与 6G 愿景&lt;/Text&gt;&#10;&lt;Box style={{ height:'540px', flexDirection:'column' }}&gt;&#10;&lt;Box style={{ flexDirection:'column', gap:14, height:'540px', justifyContent:'space-between' }}&gt;&#10;    &lt;Text style={{ fontSize:17, color:'#64748B', lineHeight:1.6, fontFamily:&quot;'Source Han Sans SC','Noto Sans SC','Microsoft YaHei',sans-serif&quot; }}&gt;每一代通信都以「更多连接、更低时延」为主线；到 6G，&lt;span style={{ fontWeight:'bold', color:'#0F172A' }}&gt;感知首次被写入原生能力&lt;/span&gt;——网络不仅要「连得上」，还要「看得见」。&lt;/Text&gt;&#10;    &lt;Box style={{ alignItems:'center', justifyContent:'center', height:'250px' }}&gt;&lt;svg width={1080} height={250} viewBox='0 0 1080 250'&gt;&#10;  &lt;line x1='70' y1='140' x2='1010' y2='140' stroke='#E6EBF2' strokeWidth='3'/&gt;&#10;  &#10;    &lt;circle cx='70' cy='140' r='13' fill='#2563EB'/&gt;&#10;    &lt;text x='70' y='108' text-anchor='middle' fill='#0F172A' font-size='18' font-weight='700' font-family='sans-serif'&gt;1G&lt;/text&gt;&#10;    &lt;text x='70' y='186' text-anchor='middle' fill='#64748B' font-size='13' font-family='sans-serif'&gt;1980s&lt;/text&gt;&#10;    &lt;text x='70' y='210' text-anchor='middle' fill='#06B6D4' font-size='12' font-family='sans-serif'&gt;语音&lt;/text&gt;&#10;    &lt;circle cx='258' cy='140' r='13' fill='#2563EB'/&gt;&#10;    &lt;text x='258' y='108' text-anchor='middle' fill='#0F172A' font-size='18' font-weight='700' font-family='sans-serif'&gt;2G&lt;/text&gt;&#10;    &lt;text x='258' y='186' text-anchor='middle' fill='#64748B' font-size='13' font-family='sans-serif'&gt;1990s&lt;/text&gt;&#10;    &lt;text x='258' y='210' text-anchor='middle' fill='#06B6D4' font-size='12' font-family='sans-serif'&gt;数字语音&lt;/text&gt;&#10;    &lt;circle cx='446' cy='140' r='13' fill='#2563EB'/&gt;&#10;    &lt;text x='446' y='108' text-anchor='middle' fill='#0F172A' font-size='18' font-weight='700' font-family='sans-serif'&gt;3G&lt;/text&gt;&#10;    &lt;text x='446' y='186' text-anchor='middle' fill='#64748B' font-size='13' font-family='sans-serif'&gt;2000s&lt;/text&gt;&#10;    &lt;text x='446' y='210' text-anchor='middle' fill='#06B6D4' font-size='12' font-family='sans-serif'&gt;移动数据&lt;/text&gt;&#10;    &lt;circle cx='634' cy='140' r='13' fill='#2563EB'/&gt;&#10;    &lt;text x='634' y='108' text-anchor='middle' fill='#0F172A' font-size='18' font-weight='700' font-family='sans-serif'&gt;4G&lt;/text&gt;&#10;    &lt;text x='634' y='186' text-anchor='middle' fill='#64748B' font-size='13' font-family='sans-serif'&gt;2010s&lt;/text&gt;&#10;    &lt;text x='634' y='210' text-anchor='middle' fill='#06B6D4' font-size='12' font-family='sans-serif'&gt;移动宽带&lt;/text&gt;&#10;    &lt;circle cx='822' cy='140' r='13' fill='#2563EB'/&gt;&#10;    &lt;text x='822' y='108' text-anchor='middle' fill='#0F172A' font-size='18' font-weight='700' font-family='sans-serif'&gt;5G&lt;/text&gt;&#10;    &lt;text x='822' y='186' text-anchor='middle' fill='#64748B' font-size='13' font-family='sans-serif'&gt;2020s&lt;/text&gt;&#10;    &lt;text x='822' y='210' text-anchor='middle' fill='#06B6D4' font-size='12' font-family='sans-serif'&gt;eMBB/uRLLC&lt;/text&gt;&#10;    &lt;circle cx='1010' cy='140' r='20' fill='#F59E0B'/&gt;&#10;    &lt;text x='1010' y='100' text-anchor='middle' fill='#F59E0B' font-size='22' font-weight='700' font-family='sans-serif'&gt;6G&lt;/text&gt;&#10;    &lt;text x='1010' y='186' text-anchor='middle' fill='#64748B' font-size='13' font-family='sans-serif'&gt;2030+&lt;/text&gt;&#10;    &lt;text x='1010' y='210' text-anchor='middle' fill='#F59E0B' font-size='12' font-family='sans-serif'&gt;感知即原生&lt;/text&gt;&lt;/svg&gt;&lt;/Box&gt;&#10;    &lt;Box style={{ flexDirection:'row', gap:14 }}&gt;&lt;Box style={{ flex:1, flexDirection:'row', alignItems:'center', gap:12, background:'#FFFFFF', borderRadius:12, border:'1px solid #E6EBF2', padding:'14px 16px' }}&gt;&#10;      &lt;Box style={{ width:44, height:44, borderRadius:12, background:'rgba(37,99,235,0.10)', justifyContent:'center', alignItems:'center' }}&gt;&lt;FAIcon name='tower-broadcast' style={{ fill:'#2563EB', width:22, height:22 }} /&gt;&lt;/Box&gt;&#10;      &lt;Box style={{ flex:1 }}&gt;&lt;Text style={{ fontSize:16, fontWeight:'bold', color:'#0F172A', fontFamily:&quot;'Source Han Sans SC','Noto Sans SC','Microsoft YaHei',sans-serif&quot;, marginBottom:2 }}&gt;按需覆盖&lt;/Text&gt;&lt;Text style={{ fontSize:13, color:'#64748B', fontFamily:&quot;'Source Han Sans SC','Noto Sans SC','Microsoft YaHei',sans-serif&quot; }}&gt;空天地一体，网络随处可达&lt;/Text&gt;&lt;/Box&gt;&#10;    &lt;/Box&gt;&lt;Box style={{ flex:1, flexDirection:'row', alignItems:'center', gap:12, background:'#FFFFFF', borderRadius:12, border:'1px solid #E6EBF2', padding:'14px 16px' }}&gt;&#10;      &lt;Box style={{ width:44, height:44, borderRadius:12, background:'rgba(37,99,235,0.10)', justifyContent:'center', alignItems:'center' }}&gt;&lt;FAIcon name='sensor' style={{ fill:'#2563EB', width:22, height:22 }} /&gt;&lt;/Box&gt;&#10;      &lt;Box style={{ flex:1 }}&gt;&lt;Text style={{ fontSize:16, fontWeight:'bold', color:'#0F172A', fontFamily:&quot;'Source Han Sans SC','Noto Sans SC','Microsoft YaHei',sans-serif&quot;, marginBottom:2 }}&gt;原生感知&lt;/Text&gt;&lt;Text style={{ fontSize:13, color:'#64748B', fontFamily:&quot;'Source Han Sans SC','Noto Sans SC','Microsoft YaHei',sans-serif&quot; }}&gt;通信与感知作为一体两面&lt;/Text&gt;&lt;/Box&gt;&#10;    &lt;/Box&gt;&lt;Box style={{ flex:1, flexDirection:'row', alignItems:'center', gap:12, background:'#FFFFFF', borderRadius:12, border:'1px solid #E6EBF2', padding:'14px 16px' }}&gt;&#10;      &lt;Box style={{ width:44, height:44, borderRadius:12, background:'rgba(37,99,235,0.10)', justifyContent:'center', alignItems:'center' }}&gt;&lt;FAIcon name='brain' style={{ fill:'#2563EB', width:22, height:22 }} /&gt;&lt;/Box&gt;&#10;      &lt;Box style={{ flex:1 }}&gt;&lt;Text style={{ fontSize:16, fontWeight:'bold', color:'#0F172A', fontFamily:&quot;'Source Han Sans SC','Noto Sans SC','Microsoft YaHei',sans-serif&quot;, marginBottom:2 }}&gt;AI 原生&lt;/Text&gt;&lt;Text style={{ fontSize:13, color:'#64748B', fontFamily:&quot;'Source Han Sans SC','Noto Sans SC','Microsoft YaHei',sans-serif&quot; }}&gt;大模型驱动的网络智能&lt;/Text&gt;&lt;/Box&gt;&#10;    &lt;/Box&gt;&lt;/Box&gt;&#10;  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08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61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685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代际演进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EVOLUTION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移动通信代际演进与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6G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愿景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685800" y="1057275"/>
            <a:ext cx="108204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64748B"/>
                </a:solidFill>
                <a:latin typeface="Source Han Sans SC"/>
                <a:ea typeface="Source Han Sans SC"/>
              </a:rPr>
              <a:t>每一代通信都以「更多连接、更低时延」为主线；到</a:t>
            </a:r>
            <a:r>
              <a:rPr lang="en-US" sz="12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6G</a:t>
            </a:r>
            <a:r>
              <a:rPr lang="zh-CN" sz="1275">
                <a:solidFill>
                  <a:srgbClr val="64748B"/>
                </a:solidFill>
                <a:latin typeface="Source Han Sans SC"/>
                <a:ea typeface="Source Han Sans SC"/>
              </a:rPr>
              <a:t>，</a:t>
            </a: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感知首次被写入原生能力</a:t>
            </a:r>
            <a:r>
              <a:rPr lang="zh-CN" sz="1275">
                <a:solidFill>
                  <a:srgbClr val="64748B"/>
                </a:solidFill>
                <a:latin typeface="Source Han Sans SC"/>
                <a:ea typeface="Source Han Sans SC"/>
              </a:rPr>
              <a:t>——网络不仅要「连得上」，还要「看得见」。</a:t>
            </a:r>
            <a:endParaRPr/>
          </a:p>
        </p:txBody>
      </p:sp>
      <p:pic>
        <p:nvPicPr>
          <p:cNvPr id="9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2257425"/>
            <a:ext cx="10287000" cy="2381250"/>
          </a:xfrm>
          <a:prstGeom prst="rect">
            <a:avLst/>
          </a:prstGeom>
          <a:ln/>
        </p:spPr>
      </p:pic>
      <p:sp>
        <p:nvSpPr>
          <p:cNvPr id="966" name=""/>
          <p:cNvSpPr/>
          <p:nvPr/>
        </p:nvSpPr>
        <p:spPr>
          <a:xfrm rot="0" flipH="0" flipV="0">
            <a:off x="685800" y="5514975"/>
            <a:ext cx="3514725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967" name=""/>
          <p:cNvSpPr/>
          <p:nvPr/>
        </p:nvSpPr>
        <p:spPr>
          <a:xfrm rot="0" flipH="0" flipV="0">
            <a:off x="838200" y="56483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9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42975" y="5753100"/>
            <a:ext cx="209550" cy="209550"/>
          </a:xfrm>
          <a:prstGeom prst="rect">
            <a:avLst/>
          </a:prstGeom>
          <a:ln/>
        </p:spPr>
      </p:pic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1371600" y="5676900"/>
            <a:ext cx="2676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按需覆盖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1371600" y="5886450"/>
            <a:ext cx="2676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空天地一体，网络随处可达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4333875" y="5514975"/>
            <a:ext cx="35242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972" name=""/>
          <p:cNvSpPr/>
          <p:nvPr/>
        </p:nvSpPr>
        <p:spPr>
          <a:xfrm rot="0" flipH="0" flipV="0">
            <a:off x="4486275" y="56483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9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91050" y="5753100"/>
            <a:ext cx="209550" cy="209550"/>
          </a:xfrm>
          <a:prstGeom prst="rect">
            <a:avLst/>
          </a:prstGeom>
          <a:ln/>
        </p:spPr>
      </p:pic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5019675" y="5676900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原生感知</a:t>
            </a:r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5019675" y="5886450"/>
            <a:ext cx="2686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通信与感知作为一体两面</a:t>
            </a:r>
            <a:endParaRPr/>
          </a:p>
        </p:txBody>
      </p:sp>
      <p:sp>
        <p:nvSpPr>
          <p:cNvPr id="976" name=""/>
          <p:cNvSpPr/>
          <p:nvPr/>
        </p:nvSpPr>
        <p:spPr>
          <a:xfrm rot="0" flipH="0" flipV="0">
            <a:off x="7991475" y="5514975"/>
            <a:ext cx="3514725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977" name=""/>
          <p:cNvSpPr/>
          <p:nvPr/>
        </p:nvSpPr>
        <p:spPr>
          <a:xfrm rot="0" flipH="0" flipV="0">
            <a:off x="8143875" y="56483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9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248650" y="5753100"/>
            <a:ext cx="209550" cy="209550"/>
          </a:xfrm>
          <a:prstGeom prst="rect">
            <a:avLst/>
          </a:prstGeom>
          <a:ln/>
        </p:spPr>
      </p:pic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8677275" y="5676900"/>
            <a:ext cx="2676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AI </a:t>
            </a: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原生</a:t>
            </a:r>
            <a:endParaRPr/>
          </a:p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8677275" y="5886450"/>
            <a:ext cx="2676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大模型驱动的网络智能</a:t>
            </a:r>
            <a:endParaRPr/>
          </a:p>
        </p:txBody>
      </p:sp>
      <p:sp>
        <p:nvSpPr>
          <p:cNvPr id="981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08 / 41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85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背景与动机 MOTIVATION&lt;/Text&gt;&#10;&lt;/Box&gt;&#10;&lt;Text style={{ fontSize:34, fontWeight:'bold', color:'#0F172A', fontFamily:&quot;'Source Han Sans SC','Noto Sans SC','Microsoft YaHei',sans-serif&quot;, marginBottom:16 }}&gt;传统通信与感知的割裂：双重冗余&lt;/Text&gt;&#10;&lt;Box style={{ height:'540px', flexDirection:'column' }}&gt;&#10;&lt;Box style={{ flexDirection:'column', gap:16, height:'540px' }}&gt;&#10;  &lt;Box style={{ flexDirection:'row', gap:16, flex:1 }}&gt;&#10;    &lt;Box style={{ flex:1.5, background:'#FFFFFF', borderRadius:16, border:'1px solid #E6EBF2', borderTop:'5px solid #2563EB', padding:22, flexDirection:'column' }}&gt;&#10;      &lt;Box style={{ flexDirection:'row', alignItems:'center', gap:12, marginBottom:14 }}&gt;&lt;FAIcon name='wifi' style={{ fill:'#2563EB', width:26, height:26 }} /&gt;&lt;Text style={{ fontSize:21, fontWeight:'bold', color:'#0F172A', fontFamily:&quot;'Source Han Sans SC','Noto Sans SC','Microsoft YaHei',sans-serif&quot; }}&gt;通信系统（独立）&lt;/Text&gt;&lt;/Box&gt;&#10;      &lt;Text style={{ fontSize:15, color:'#64748B', lineHeight:1.75, fontFamily:&quot;'Source Han Sans SC','Noto Sans SC','Microsoft YaHei',sans-serif&quot; }}&gt;· 专属射频链、天线与基带，只为「传数据」优化&lt;br/&gt;· 关心速率、时延、误码率，把环境多径当干扰&lt;br/&gt;· 占用大段频谱，却未利用回波中的环境信息&lt;/Text&gt;&#10;    &lt;/Box&gt;&#10;    &lt;Box style={{ width:36, justifyContent:'center', alignItems:'center' }}&gt;&lt;Text style={{ fontSize:26, fontWeight:'bold', color:'#F59E0B', fontFamily:&quot;'Space Grotesk','Inter','Segoe UI',sans-serif&quot; }}&gt;VS&lt;/Text&gt;&lt;/Box&gt;&#10;    &lt;Box style={{ flex:1, background:'#FFFFFF', borderRadius:16, border:'1px solid #E6EBF2', borderTop:'5px solid #06B6D4', padding:22, flexDirection:'column' }}&gt;&#10;      &lt;Box style={{ flexDirection:'row', alignItems:'center', gap:12, marginBottom:14 }}&gt;&lt;FAIcon name='satellite-dish' style={{ fill:'#06B6D4', width:26, height:26 }} /&gt;&lt;Text style={{ fontSize:21, fontWeight:'bold', color:'#0F172A', fontFamily:&quot;'Source Han Sans SC','Noto Sans SC','Microsoft YaHei',sans-serif&quot; }}&gt;雷达系统（独立）&lt;/Text&gt;&lt;/Box&gt;&#10;      &lt;Text style={{ fontSize:15, color:'#64748B', lineHeight:1.75, fontFamily:&quot;'Source Han Sans SC','Noto Sans SC','Microsoft YaHei',sans-serif&quot; }}&gt;· 专属收发阵列与信号处理链&lt;br/&gt;· 关心检测、测距、测速、测角&lt;br/&gt;· 与通信设备同空间工作、互不相干&lt;/Text&gt;&#10;    &lt;/Box&gt;&#10;  &lt;/Box&gt;&#10;  &lt;Box style={{ background:'linear-gradient(135deg, rgba(245,158,11,0.14), rgba(245,158,11,0.04))', borderLeft:'5px solid #F59E0B', borderRadius:12, padding:'14px 18px' }}&gt;&#10;    &lt;Text style={{ fontSize:16, color:'#0F172A', lineHeight:1.55, fontFamily:&quot;'Source Han Sans SC','Noto Sans SC','Microsoft YaHei',sans-serif&quot; }}&gt;&lt;span style={{ fontWeight:'bold' }}&gt;判断：&lt;/span&gt;两套硬件、两段频谱、两套团队，意味着成本翻倍、频谱拥挤、干扰难管——这正是「一体化」要消除的系统性浪费。&lt;/Text&gt;&#10;  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09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87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98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背景与动机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MOTIVATION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传统通信与感知的割裂：双重冗余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685800" y="1104900"/>
            <a:ext cx="6105525" cy="443865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1" name=""/>
          <p:cNvSpPr/>
          <p:nvPr/>
        </p:nvSpPr>
        <p:spPr>
          <a:xfrm rot="0" flipH="0" flipV="0">
            <a:off x="685800" y="1104900"/>
            <a:ext cx="6105525" cy="4438650"/>
          </a:xfrm>
          <a:custGeom>
            <a:pathLst>
              <a:path w="641" h="466">
                <a:moveTo>
                  <a:pt x="626" y="0"/>
                </a:moveTo>
                <a:cubicBezTo>
                  <a:pt x="633" y="0"/>
                  <a:pt x="639" y="6"/>
                  <a:pt x="641" y="13"/>
                </a:cubicBezTo>
                <a:cubicBezTo>
                  <a:pt x="639" y="8"/>
                  <a:pt x="635" y="5"/>
                  <a:pt x="630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625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9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314450"/>
            <a:ext cx="247650" cy="247650"/>
          </a:xfrm>
          <a:prstGeom prst="rect">
            <a:avLst/>
          </a:prstGeom>
          <a:ln/>
        </p:spPr>
      </p:pic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1257300" y="1314450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Source Han Sans SC"/>
                <a:ea typeface="Source Han Sans SC"/>
              </a:rPr>
              <a:t>通信系统（独立）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895350" y="1695450"/>
            <a:ext cx="5686425" cy="9048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·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专属射频链、天线与基带，只为「传数据」优化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·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关心速率、时延、误码率，把环境多径当干扰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·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占用大段频谱，却未利用回波中的环境信息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6962775" y="3124200"/>
            <a:ext cx="304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59E0B"/>
                </a:solidFill>
                <a:latin typeface="Space Grotesk"/>
                <a:ea typeface="Space Grotesk"/>
              </a:rPr>
              <a:t>VS</a:t>
            </a:r>
            <a:endParaRPr/>
          </a:p>
        </p:txBody>
      </p:sp>
      <p:sp>
        <p:nvSpPr>
          <p:cNvPr id="996" name=""/>
          <p:cNvSpPr/>
          <p:nvPr/>
        </p:nvSpPr>
        <p:spPr>
          <a:xfrm rot="0" flipH="0" flipV="0">
            <a:off x="7439025" y="1104900"/>
            <a:ext cx="4067175" cy="4438650"/>
          </a:xfrm>
          <a:prstGeom prst="roundRect">
            <a:avLst>
              <a:gd name="adj" fmla="val 37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7" name=""/>
          <p:cNvSpPr/>
          <p:nvPr/>
        </p:nvSpPr>
        <p:spPr>
          <a:xfrm rot="0" flipH="0" flipV="0">
            <a:off x="7439025" y="1104900"/>
            <a:ext cx="4067175" cy="4438650"/>
          </a:xfrm>
          <a:custGeom>
            <a:pathLst>
              <a:path w="427" h="466">
                <a:moveTo>
                  <a:pt x="412" y="0"/>
                </a:moveTo>
                <a:cubicBezTo>
                  <a:pt x="419" y="0"/>
                  <a:pt x="425" y="6"/>
                  <a:pt x="427" y="13"/>
                </a:cubicBezTo>
                <a:cubicBezTo>
                  <a:pt x="425" y="8"/>
                  <a:pt x="421" y="5"/>
                  <a:pt x="416" y="5"/>
                </a:cubicBezTo>
                <a:lnTo>
                  <a:pt x="11" y="5"/>
                </a:lnTo>
                <a:cubicBezTo>
                  <a:pt x="6" y="5"/>
                  <a:pt x="1" y="9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411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9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48575" y="1314450"/>
            <a:ext cx="247650" cy="247650"/>
          </a:xfrm>
          <a:prstGeom prst="rect">
            <a:avLst/>
          </a:prstGeom>
          <a:ln/>
        </p:spPr>
      </p:pic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8010525" y="1314450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Source Han Sans SC"/>
                <a:ea typeface="Source Han Sans SC"/>
              </a:rPr>
              <a:t>雷达系统（独立）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7648575" y="1695450"/>
            <a:ext cx="3648075" cy="9048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·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专属收发阵列与信号处理链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·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关心检测、测距、测速、测角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·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与通信设备同空间工作、互不相干</a:t>
            </a:r>
            <a:endParaRPr/>
          </a:p>
        </p:txBody>
      </p:sp>
      <p:sp>
        <p:nvSpPr>
          <p:cNvPr id="1001" name=""/>
          <p:cNvSpPr/>
          <p:nvPr/>
        </p:nvSpPr>
        <p:spPr>
          <a:xfrm rot="0" flipH="0" flipV="0">
            <a:off x="733425" y="5648325"/>
            <a:ext cx="10820400" cy="552450"/>
          </a:xfrm>
          <a:prstGeom prst="roundRect">
            <a:avLst>
              <a:gd name="adj" fmla="val 20690"/>
            </a:avLst>
          </a:prstGeom>
          <a:gradFill>
            <a:gsLst>
              <a:gs pos="0">
                <a:srgbClr val="F59E0B">
                  <a:alpha val="14000"/>
                </a:srgbClr>
              </a:gs>
              <a:gs pos="100000">
                <a:srgbClr val="F59E0B">
                  <a:alpha val="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02" name=""/>
          <p:cNvSpPr/>
          <p:nvPr/>
        </p:nvSpPr>
        <p:spPr>
          <a:xfrm rot="0" flipH="0" flipV="0">
            <a:off x="733425" y="5648325"/>
            <a:ext cx="10820400" cy="552450"/>
          </a:xfrm>
          <a:custGeom>
            <a:pathLst>
              <a:path w="1136" h="58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51"/>
                </a:lnTo>
                <a:cubicBezTo>
                  <a:pt x="5" y="54"/>
                  <a:pt x="7" y="57"/>
                  <a:pt x="10" y="58"/>
                </a:cubicBezTo>
                <a:cubicBezTo>
                  <a:pt x="4" y="57"/>
                  <a:pt x="0" y="52"/>
                  <a:pt x="0" y="4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904875" y="5781675"/>
            <a:ext cx="1042987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判断：</a:t>
            </a:r>
            <a:r>
              <a:rPr lang="zh-CN" sz="1200">
                <a:solidFill>
                  <a:srgbClr val="0F172A"/>
                </a:solidFill>
                <a:latin typeface="Source Han Sans SC"/>
                <a:ea typeface="Source Han Sans SC"/>
              </a:rPr>
              <a:t>两套硬件、两段频谱、两套团队，意味着成本翻倍、频谱拥挤、干扰难管——这正是「一体化」要消除的系统性浪费。</a:t>
            </a:r>
            <a:endParaRPr/>
          </a:p>
        </p:txBody>
      </p:sp>
      <p:sp>
        <p:nvSpPr>
          <p:cNvPr id="1004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09 / 41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需求牵引 DEMAND&lt;/Text&gt;&#10;&lt;/Box&gt;&#10;&lt;Text style={{ fontSize:34, fontWeight:'bold', color:'#0F172A', fontFamily:&quot;'Source Han Sans SC','Noto Sans SC','Microsoft YaHei',sans-serif&quot;, marginBottom:16 }}&gt;新应用对「原生感知」的需求&lt;/Text&gt;&#10;&lt;Box style={{ height:'540px', flexDirection:'column' }}&gt;&#10;&lt;Box style={{ flexDirection:'column', gap:16, height:'540px' }}&gt;&#10;  &lt;Box style={{ height:'176px', borderRadius:16, background:'linear-gradient(135deg, #0F172A 0%, #182338 100%)', padding:'22px 26px', flexDirection:'column', justifyContent:'center', position:'relative' }}&gt;&#10;    &lt;Text style={{ fontSize:15, color:'#06B6D4', letterSpacing:2, fontFamily:&quot;'Space Grotesk','Inter','Segoe UI',sans-serif&quot;, marginBottom:10 }}&gt;SENSING AS A SERVICE&lt;/Text&gt;&#10;    &lt;Text style={{ fontSize:24, fontWeight:'bold', color:'#FFFFFF', lineHeight:1.4, fontFamily:&quot;'Source Han Sans SC','Noto Sans SC','Microsoft YaHei',sans-serif&quot; }}&gt;当自动驾驶要「看见」盲区、低空要「管住」无人机、工厂要「定位」到厘米——&lt;br/&gt;感知正从「专用设备」变成「网络的一项基础服务」。&lt;/Text&gt;&#10;  &lt;/Box&gt;&#10;  &lt;Box style={{ flexDirection:'row', gap:14, flex:1 }}&gt;&lt;Box style={{ flex:1, background:'#FFFFFF', borderRadius:14, border:'1px solid #E6EBF2', boxShadow:'0 4px 16px rgba(15,23,42,0.06)', padding:18, flexDirection:'column' }}&gt;&#10;    &lt;Box style={{ width:44, height:44, borderRadius:12, background:'rgba(37,99,235,0.10)', justifyContent:'center', alignItems:'center', marginBottom:12 }}&gt;&lt;FAIcon name='car' style={{ fill:'#2563EB', width:22, height:22 }} /&gt;&lt;/Box&gt;&#10;    &lt;Text style={{ fontSize:17, fontWeight:'bold', color:'#0F172A', fontFamily:&quot;'Source Han Sans SC','Noto Sans SC','Microsoft YaHei',sans-serif&quot;, marginBottom:8 }}&gt;自动驾驶 / V2X&lt;/Text&gt;&#10;    &lt;Text style={{ fontSize:14, color:'#64748B', lineHeight:1.55, fontFamily:&quot;'Source Han Sans SC','Noto Sans SC','Microsoft YaHei',sans-serif&quot; }}&gt;车与车、车与路协同感知，降低时延与盲区风险&lt;/Text&gt;&#10;  &lt;/Box&gt;&lt;Box style={{ flex:1, background:'#FFFFFF', borderRadius:14, border:'1px solid #E6EBF2', boxShadow:'0 4px 16px rgba(15,23,42,0.06)', padding:18, flexDirection:'column' }}&gt;&#10;    &lt;Box style={{ width:44, height:44, borderRadius:12, background:'rgba(37,99,235,0.10)', justifyContent:'center', alignItems:'center', marginBottom:12 }}&gt;&lt;FAIcon name='plane' style={{ fill:'#2563EB', width:22, height:22 }} /&gt;&lt;/Box&gt;&#10;    &lt;Text style={{ fontSize:17, fontWeight:'bold', color:'#0F172A', fontFamily:&quot;'Source Han Sans SC','Noto Sans SC','Microsoft YaHei',sans-serif&quot;, marginBottom:8 }}&gt;低空经济&lt;/Text&gt;&#10;    &lt;Text style={{ fontSize:14, color:'#64748B', lineHeight:1.55, fontFamily:&quot;'Source Han Sans SC','Noto Sans SC','Microsoft YaHei',sans-serif&quot; }}&gt;基站监测无人机航线，解决低空「看不见」的监管难题&lt;/Text&gt;&#10;  &lt;/Box&gt;&lt;Box style={{ flex:1, background:'#FFFFFF', borderRadius:14, border:'1px solid #E6EBF2', boxShadow:'0 4px 16px rgba(15,23,42,0.06)', padding:18, flexDirection:'column' }}&gt;&#10;    &lt;Box style={{ width:44, height:44, borderRadius:12, background:'rgba(37,99,235,0.10)', justifyContent:'center', alignItems:'center', marginBottom:12 }}&gt;&lt;FAIcon name='industry' style={{ fill:'#2563EB', width:22, height:22 }} /&gt;&lt;/Box&gt;&#10;    &lt;Text style={{ fontSize:17, fontWeight:'bold', color:'#0F172A', fontFamily:&quot;'Source Han Sans SC','Noto Sans SC','Microsoft YaHei',sans-serif&quot;, marginBottom:8 }}&gt;智慧工厂&lt;/Text&gt;&#10;    &lt;Text style={{ fontSize:14, color:'#64748B', lineHeight:1.55, fontFamily:&quot;'Source Han Sans SC','Noto Sans SC','Microsoft YaHei',sans-serif&quot; }}&gt;物料与 AGV 厘米级定位，支撑柔性制造与数字孪生&lt;/Text&gt;&#10;  &lt;/Box&gt;&lt;Box style={{ flex:1, background:'#FFFFFF', borderRadius:14, border:'1px solid #E6EBF2', boxShadow:'0 4px 16px rgba(15,23,42,0.06)', padding:18, flexDirection:'column' }}&gt;&#10;    &lt;Box style={{ width:44, height:44, borderRadius:12, background:'rgba(37,99,235,0.10)', justifyContent:'center', alignItems:'center', marginBottom:12 }}&gt;&lt;FAIcon name='hand' style={{ fill:'#2563EB', width:22, height:22 }} /&gt;&lt;/Box&gt;&#10;    &lt;Text style={{ fontSize:17, fontWeight:'bold', color:'#0F172A', fontFamily:&quot;'Source Han Sans SC','Noto Sans SC','Microsoft YaHei',sans-serif&quot;, marginBottom:8 }}&gt;人机交互&lt;/Text&gt;&#10;    &lt;Text style={{ fontSize:14, color:'#64748B', lineHeight:1.55, fontFamily:&quot;'Source Han Sans SC','Noto Sans SC','Microsoft YaHei',sans-serif&quot; }}&gt;手势、姿态、存在检测，无需额外专用传感硬件&lt;/Text&gt;&#10;  &lt;/Box&gt;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10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45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需求牵引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DEMAND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新应用对「原生感知」的需求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85800" y="2886075"/>
            <a:ext cx="2609850" cy="331470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5240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857250" y="30575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62025" y="3162300"/>
            <a:ext cx="209550" cy="209550"/>
          </a:xfrm>
          <a:prstGeom prst="rect">
            <a:avLst/>
          </a:pr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57250" y="3590925"/>
            <a:ext cx="226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自动驾驶</a:t>
            </a:r>
            <a:r>
              <a:rPr lang="en-US" sz="12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/ V2X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57250" y="3867150"/>
            <a:ext cx="22669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车与车、车与路协同感知，降低时延与盲区风险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3429000" y="2886075"/>
            <a:ext cx="2600325" cy="33147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5240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600450" y="30575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05225" y="3162300"/>
            <a:ext cx="209550" cy="209550"/>
          </a:xfrm>
          <a:prstGeom prst="rect">
            <a:avLst/>
          </a:prstGeom>
          <a:ln/>
        </p:spPr>
      </p:pic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600450" y="3590925"/>
            <a:ext cx="2257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低空经济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600450" y="3867150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基站监测无人机航线，解决低空「看不见」的监管难题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162675" y="2886075"/>
            <a:ext cx="2609850" cy="331470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5240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6334125" y="30575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38900" y="3162300"/>
            <a:ext cx="209550" cy="209550"/>
          </a:xfrm>
          <a:prstGeom prst="rect">
            <a:avLst/>
          </a:prstGeom>
          <a:ln/>
        </p:spPr>
      </p:pic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34125" y="3590925"/>
            <a:ext cx="226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智慧工厂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334125" y="3867150"/>
            <a:ext cx="22669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物料与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AGV 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厘米级定位，支撑柔性制造与数字孪生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8905875" y="2886075"/>
            <a:ext cx="2600325" cy="33147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5240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9077325" y="30575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182100" y="3162300"/>
            <a:ext cx="209550" cy="20955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077325" y="3590925"/>
            <a:ext cx="2257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人机交互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077325" y="3867150"/>
            <a:ext cx="22574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手势、姿态、存在检测，无需额外专用传感硬件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85800" y="1057275"/>
            <a:ext cx="10820400" cy="16764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33450" y="1381125"/>
            <a:ext cx="10325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06B6D4"/>
                </a:solidFill>
                <a:latin typeface="Space Grotesk"/>
                <a:ea typeface="Space Grotesk"/>
              </a:rPr>
              <a:t>SENSING AS A SERVICE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33450" y="1647825"/>
            <a:ext cx="10325100" cy="771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FFFFFF"/>
                </a:solidFill>
                <a:latin typeface="Source Han Sans SC"/>
                <a:ea typeface="Source Han Sans SC"/>
              </a:rPr>
              <a:t>当自动驾驶要「看见」盲区、低空要「管住」无人机、工厂要「定位」到厘米——</a:t>
            </a:r>
            <a:endParaRPr/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FFFFFF"/>
                </a:solidFill>
                <a:latin typeface="Source Han Sans SC"/>
                <a:ea typeface="Source Han Sans SC"/>
              </a:rPr>
              <a:t>感知正从「专用设备」变成「网络的一项基础服务」。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10 / 41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8" name="" descr="&lt;Slide style={{ width:'1280px', height:'720px', background:'#0F172A', padding:'0 72px', position:'relative', display:'flex', flexDirection:'column', justifyContent:'center', overflow:'hidden' }}&gt;&#10;  &lt;Box style={{ position:'absolute', right:-140, top:-140, width:520, height:520, borderRadius:260, background:'rgba(6,182,212,0.12)' }}&gt;&lt;/Box&gt;&#10;  &lt;Box style={{ position:'absolute', right:-40, top:-40, width:340, height:340, borderRadius:170, border:'1px solid rgba(6,182,212,0.25)' }}&gt;&lt;/Box&gt;&#10;  &lt;Box style={{ position:'absolute', left:-180, bottom:-180, width:480, height:480, borderRadius:240, background:'rgba(37,99,235,0.14)' }}&gt;&lt;/Box&gt;&#10;  &lt;Box style={{ flexDirection:'row', alignItems:'center', gap:28, position:'relative', zIndex:1 }}&gt;&#10;    &lt;Text style={{ fontSize:150, fontWeight:'bold', fontFamily:&quot;'Space Grotesk','Inter','Segoe UI',sans-serif&quot;, color:'rgba(255,255,255,0.07)', lineHeight:1 }}&gt;03&lt;/Text&gt;&#10;    &lt;Box&gt;&#10;      &lt;Box style={{ width:56, height:6, borderRadius:3, background:'linear-gradient(90deg, #2563EB, #06B6D4)', marginBottom:20 }}&gt;&lt;/Box&gt;&#10;      &lt;Text style={{ fontSize:54, fontWeight:'bold', color:'#FFFFFF', fontFamily:&quot;'Source Han Sans SC','Noto Sans SC','Microsoft YaHei',sans-serif&quot;, marginBottom:14 }}&gt;基本概念与集成范式&lt;/Text&gt;&#10;      &lt;Text style={{ fontSize:20, color:'#06B6D4', fontFamily:&quot;'Source Han Sans SC','Noto Sans SC','Microsoft YaHei',sans-serif&quot; }}&gt;定义三要素 · 集成程度谱系 · 感知模态全景&lt;/Text&gt;&#10;    &lt;/Box&gt;&#10;  &lt;/Box&gt;&#10;  &lt;Text style={{ position:'absolute', right:72, bottom:34, fontSize:13, color:'rgba(226,232,240,0.5)', fontFamily:&quot;'Space Grotesk','Inter','Segoe UI',sans-serif&quot; }}&gt;11 / 41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8572500" y="-1333500"/>
            <a:ext cx="4953000" cy="4953000"/>
          </a:xfrm>
          <a:custGeom>
            <a:pathLst>
              <a:path w="520" h="520">
                <a:moveTo>
                  <a:pt x="380" y="491"/>
                </a:move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380" y="140"/>
                </a:lnTo>
                <a:close/>
              </a:path>
            </a:pathLst>
          </a:cu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281" y="41"/>
                </a:moveTo>
                <a:cubicBezTo>
                  <a:pt x="288" y="47"/>
                  <a:pt x="294" y="54"/>
                  <a:pt x="300" y="61"/>
                </a:cubicBezTo>
                <a:lnTo>
                  <a:pt x="300" y="279"/>
                </a:lnTo>
                <a:cubicBezTo>
                  <a:pt x="259" y="329"/>
                  <a:pt x="193" y="350"/>
                  <a:pt x="131" y="335"/>
                </a:cubicBezTo>
                <a:cubicBezTo>
                  <a:pt x="68" y="321"/>
                  <a:pt x="19" y="272"/>
                  <a:pt x="5" y="209"/>
                </a:cubicBezTo>
                <a:cubicBezTo>
                  <a:pt x="-10" y="147"/>
                  <a:pt x="11" y="81"/>
                  <a:pt x="61" y="40"/>
                </a:cubicBezTo>
                <a:lnTo>
                  <a:pt x="279" y="40"/>
                </a:lnTo>
                <a:close/>
              </a:path>
            </a:pathLst>
          </a:custGeom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59" y="42"/>
                </a:moveTo>
                <a:cubicBezTo>
                  <a:pt x="5" y="91"/>
                  <a:pt x="-12" y="169"/>
                  <a:pt x="16" y="236"/>
                </a:cubicBezTo>
                <a:cubicBezTo>
                  <a:pt x="45" y="304"/>
                  <a:pt x="114" y="345"/>
                  <a:pt x="186" y="339"/>
                </a:cubicBezTo>
                <a:cubicBezTo>
                  <a:pt x="112" y="347"/>
                  <a:pt x="42" y="305"/>
                  <a:pt x="13" y="236"/>
                </a:cubicBezTo>
                <a:cubicBezTo>
                  <a:pt x="-15" y="167"/>
                  <a:pt x="4" y="87"/>
                  <a:pt x="62" y="40"/>
                </a:cubicBezTo>
                <a:close/>
                <a:moveTo>
                  <a:pt x="281" y="41"/>
                </a:moveTo>
                <a:cubicBezTo>
                  <a:pt x="288" y="47"/>
                  <a:pt x="295" y="54"/>
                  <a:pt x="300" y="62"/>
                </a:cubicBezTo>
                <a:cubicBezTo>
                  <a:pt x="293" y="55"/>
                  <a:pt x="286" y="47"/>
                  <a:pt x="279" y="40"/>
                </a:cubicBezTo>
                <a:close/>
              </a:path>
            </a:pathLst>
          </a:custGeom>
          <a:solidFill>
            <a:srgbClr val="06B6D4">
              <a:alpha val="25000"/>
            </a:srgbClr>
          </a:solidFill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-1714500" y="400050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2" y="300"/>
                </a:lnTo>
                <a:lnTo>
                  <a:pt x="180" y="300"/>
                </a:lnTo>
                <a:lnTo>
                  <a:pt x="180" y="8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solidFill>
            <a:srgbClr val="2563EB">
              <a:alpha val="14000"/>
            </a:srgbClr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115675" y="63817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>
                    <a:alpha val="50000"/>
                  </a:srgbClr>
                </a:solidFill>
                <a:latin typeface="Space Grotesk"/>
                <a:ea typeface="Space Grotesk"/>
              </a:rPr>
              <a:t>11 / 41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1647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7000"/>
                  </a:srgbClr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2600325" y="2819400"/>
            <a:ext cx="533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2600325" y="3067050"/>
            <a:ext cx="462915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Source Han Sans SC"/>
                <a:ea typeface="Source Han Sans SC"/>
              </a:rPr>
              <a:t>基本概念与集成范式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600325" y="381952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定义三要素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集成程度谱系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感知模态全景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9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定义与内涵 DEFINITION&lt;/Text&gt;&#10;&lt;/Box&gt;&#10;&lt;Text style={{ fontSize:34, fontWeight:'bold', color:'#0F172A', fontFamily:&quot;'Source Han Sans SC','Noto Sans SC','Microsoft YaHei',sans-serif&quot;, marginBottom:16 }}&gt;ISAC 定义与内涵&lt;/Text&gt;&#10;&lt;Box style={{ height:'540px', flexDirection:'column' }}&gt;&#10;&lt;Box style={{ flexDirection:'row', gap:24, height:'540px' }}&gt;&#10;  &lt;Box style={{ width:320, background:'linear-gradient(160deg, #0F172A 0%, #182338 100%)', borderRadius:16, padding:24, flexDirection:'column', justifyContent:'space-between' }}&gt;&#10;    &lt;Box&gt;&#10;      &lt;Box style={{ width:52, height:52, borderRadius:14, background:'rgba(6,182,212,0.18)', justifyContent:'center', alignItems:'center', marginBottom:18 }}&gt;&lt;FAIcon name='circle-nodes' style={{ fill:'#06B6D4', width:28, height:28 }} /&gt;&lt;/Box&gt;&#10;      &lt;Text style={{ fontSize:26, fontWeight:'bold', color:'#FFFFFF', lineHeight:1.3, fontFamily:&quot;'Source Han Sans SC','Noto Sans SC','Microsoft YaHei',sans-serif&quot;, marginBottom:14 }}&gt;定义三要素&lt;/Text&gt;&#10;      &lt;Text style={{ fontSize:15, color:'#E2E8F0', lineHeight:1.7, fontFamily:&quot;'Source Han Sans SC','Noto Sans SC','Microsoft YaHei',sans-serif&quot; }}&gt;是否「一体化」，取决于频谱、硬件、信号处理三者的共享深度。&lt;/Text&gt;&#10;    &lt;/Box&gt;&#10;    &lt;Box style={{ height:6, width:60, borderRadius:3, background:'linear-gradient(90deg, #2563EB, #06B6D4)' }}&gt;&lt;/Box&gt;&#10;  &lt;/Box&gt;&#10;  &lt;Box style={{ flex:1, flexDirection:'column', gap:14, justifyContent:'space-between' }}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tower-broadcast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共享频谱&lt;/Text&gt;&#10;    &lt;Text style={{ fontSize:15, color:'#64748B', lineHeight:1.5, fontFamily:&quot;'Source Han Sans SC','Noto Sans SC','Microsoft YaHei',sans-serif&quot; }}&gt;同一段时频资源既承载通信数据，又用于感知探测，频谱利用率翻倍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microchip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共享硬件&lt;/Text&gt;&#10;    &lt;Text style={{ fontSize:15, color:'#64748B', lineHeight:1.5, fontFamily:&quot;'Source Han Sans SC','Noto Sans SC','Microsoft YaHei',sans-serif&quot; }}&gt;同一套射频链、天线阵列与功放同时服务通信与感知，硬件成本与体积显著下降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wave-square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共享信号处理&lt;/Text&gt;&#10;    &lt;Text style={{ fontSize:15, color:'#64748B', lineHeight:1.5, fontFamily:&quot;'Source Han Sans SC','Noto Sans SC','Microsoft YaHei',sans-serif&quot; }}&gt;联合设计波形与接收机，从同一条接收信号中同时解调信息、提取目标参数。&lt;/Text&gt;&#10;  &lt;/Box&gt;&#10;&lt;/Box&gt;&#10;    &lt;Box style={{ background:'rgba(6,182,212,0.08)', borderRadius:12, padding:'14px 16px' }}&gt;&#10;      &lt;Text style={{ fontSize:15, color:'#0F172A', lineHeight:1.55, fontFamily:&quot;'Source Han Sans SC','Noto Sans SC','Microsoft YaHei',sans-serif&quot; }}&gt;&lt;span style={{ fontWeight:'bold' }}&gt;辨析：&lt;/span&gt;Radar-aided Communication（感知辅助通信）是单向利用感知结果优化通信；而 ISAC 强调通信与感知在&lt;span style={{ fontWeight:'bold' }}&gt;同一信号&lt;/span&gt;上的双向共生。&lt;/Text&gt;&#10;    &lt;/Box&gt;&#10;  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12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876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定义与内涵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DEFINITION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ISAC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定义与内涵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85800" y="1057275"/>
            <a:ext cx="3048000" cy="51435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914400" y="12858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p/>
        </p:txBody>
      </p:sp>
      <p:pic>
        <p:nvPicPr>
          <p:cNvPr id="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" y="1400175"/>
            <a:ext cx="266700" cy="266700"/>
          </a:xfrm>
          <a:prstGeom prst="rect">
            <a:avLst/>
          </a:prstGeom>
          <a:ln/>
        </p:spPr>
      </p:pic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914400" y="1952625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FFFFFF"/>
                </a:solidFill>
                <a:latin typeface="Source Han Sans SC"/>
                <a:ea typeface="Source Han Sans SC"/>
              </a:rPr>
              <a:t>定义三要素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14400" y="2476500"/>
            <a:ext cx="2590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是否「一体化」，取决于频谱、硬件、信号处理三者的共享深度。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914400" y="5915025"/>
            <a:ext cx="5715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3962400" y="1057275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4114800" y="11715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10050" y="1266825"/>
            <a:ext cx="190500" cy="190500"/>
          </a:xfrm>
          <a:prstGeom prst="rect">
            <a:avLst/>
          </a:prstGeom>
          <a:ln/>
        </p:spPr>
      </p:pic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629150" y="117157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共享频谱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629150" y="1400175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同一段时频资源既承载通信数据，又用于感知探测，频谱利用率翻倍。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3962400" y="2505075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4114800" y="26193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210050" y="2714625"/>
            <a:ext cx="190500" cy="190500"/>
          </a:xfrm>
          <a:prstGeom prst="rect">
            <a:avLst/>
          </a:prstGeom>
          <a:ln/>
        </p:spPr>
      </p:pic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629150" y="261937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共享硬件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629150" y="2847975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同一套射频链、天线阵列与功放同时服务通信与感知，硬件成本与体积显著下降。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962400" y="3952875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4114800" y="40671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210050" y="4162425"/>
            <a:ext cx="190500" cy="190500"/>
          </a:xfrm>
          <a:prstGeom prst="rect">
            <a:avLst/>
          </a:prstGeom>
          <a:ln/>
        </p:spPr>
      </p:pic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629150" y="406717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共享信号处理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629150" y="4295775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联合设计波形与接收机，从同一条接收信号中同时解调信息、提取目标参数。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3962400" y="5400675"/>
            <a:ext cx="7543800" cy="800100"/>
          </a:xfrm>
          <a:prstGeom prst="roundRect">
            <a:avLst>
              <a:gd name="adj" fmla="val 14286"/>
            </a:avLst>
          </a:prstGeom>
          <a:solidFill>
            <a:srgbClr val="06B6D4">
              <a:alpha val="8000"/>
            </a:srgbClr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114800" y="5534025"/>
            <a:ext cx="7239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辨析：</a:t>
            </a:r>
            <a:r>
              <a:rPr lang="en-US" sz="1125">
                <a:solidFill>
                  <a:srgbClr val="0F172A"/>
                </a:solidFill>
                <a:latin typeface="Source Han Sans SC"/>
                <a:ea typeface="Source Han Sans SC"/>
              </a:rPr>
              <a:t>Radar-aided Communication</a:t>
            </a:r>
            <a:r>
              <a:rPr lang="zh-CN" sz="1125">
                <a:solidFill>
                  <a:srgbClr val="0F172A"/>
                </a:solidFill>
                <a:latin typeface="Source Han Sans SC"/>
                <a:ea typeface="Source Han Sans SC"/>
              </a:rPr>
              <a:t>（感知辅助通信）是单向利用感知结果优化通信；而</a:t>
            </a:r>
            <a:r>
              <a:rPr lang="en-US" sz="1125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ISAC </a:t>
            </a:r>
            <a:r>
              <a:rPr lang="zh-CN" sz="1125">
                <a:solidFill>
                  <a:srgbClr val="0F172A"/>
                </a:solidFill>
                <a:latin typeface="Source Han Sans SC"/>
                <a:ea typeface="Source Han Sans SC"/>
              </a:rPr>
              <a:t>强调通信与感知在</a:t>
            </a: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同一信号</a:t>
            </a:r>
            <a:r>
              <a:rPr lang="zh-CN" sz="1125">
                <a:solidFill>
                  <a:srgbClr val="0F172A"/>
                </a:solidFill>
                <a:latin typeface="Source Han Sans SC"/>
                <a:ea typeface="Source Han Sans SC"/>
              </a:rPr>
              <a:t>上的双向共生。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12 / 41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1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集成范式 PARADIGMS&lt;/Text&gt;&#10;&lt;/Box&gt;&#10;&lt;Text style={{ fontSize:34, fontWeight:'bold', color:'#0F172A', fontFamily:&quot;'Source Han Sans SC','Noto Sans SC','Microsoft YaHei',sans-serif&quot;, marginBottom:16 }}&gt;集成程度谱系：共存 → 协作 → 联合 → 一体化&lt;/Text&gt;&#10;&lt;Box style={{ height:'540px', flexDirection:'column' }}&gt;&#10;&lt;Box style={{ flexDirection:'column', gap:18, height:'540px', justifyContent:'space-between' }}&gt;&#10;    &lt;Box style={{ alignItems:'center', justifyContent:'center', height:'300px' }}&gt;&lt;svg width={1080} height={300} viewBox='0 0 1080 300'&gt;&#10;  &lt;defs&gt;&lt;linearGradient id='sg' x1='0' y1='0' x2='1' y2='0'&gt;&lt;stop offset='0' stop-color='#06B6D4'/&gt;&lt;stop offset='1' stop-color='#2563EB'/&gt;&lt;/linearGradient&gt;&lt;/defs&gt;&#10;  &lt;line x1='40' y1='284' x2='1040' y2='284' stroke='#E6EBF2' strokeWidth='2'/&gt;&#10;  &#10;    &lt;rect x='52' y='170' width='196' height='110' rx='12' fill='url(#sg)' opacity='0.35'/&gt;&#10;    &lt;text x='150' y='210' text-anchor='middle' fill='#ffffff' font-size='19' font-weight='700' font-family='sans-serif'&gt;共存 Coexistence&lt;/text&gt;&#10;    &lt;text x='150' y='238' text-anchor='middle' fill='rgba(255,255,255,0.92)' font-size='13' font-family='sans-serif'&gt;两系统互不干扰&lt;/text&gt;&#10;    &lt;path d='M256 225 l 20 0' stroke='#64748B' strokeWidth='2.5'/&gt;&lt;path d='M270 219 l 8 6 l -8 6' fill='none' stroke='#64748B' strokeWidth='2.5'/&gt;&#10;  &#10;    &lt;rect x='304' y='120' width='196' height='160' rx='12' fill='url(#sg)' opacity='0.55'/&gt;&#10;    &lt;text x='402' y='160' text-anchor='middle' fill='#ffffff' font-size='19' font-weight='700' font-family='sans-serif'&gt;协作 Cooperation&lt;/text&gt;&#10;    &lt;text x='402' y='188' text-anchor='middle' fill='rgba(255,255,255,0.92)' font-size='13' font-family='sans-serif'&gt;共享信息与结果&lt;/text&gt;&#10;    &lt;path d='M508 200 l 20 0' stroke='#64748B' strokeWidth='2.5'/&gt;&lt;path d='M522 194 l 8 6 l -8 6' fill='none' stroke='#64748B' strokeWidth='2.5'/&gt;&#10;  &#10;    &lt;rect x='556' y='70' width='196' height='210' rx='12' fill='url(#sg)' opacity='0.75'/&gt;&#10;    &lt;text x='654' y='110' text-anchor='middle' fill='#ffffff' font-size='19' font-weight='700' font-family='sans-serif'&gt;联合 Joint&lt;/text&gt;&#10;    &lt;text x='654' y='138' text-anchor='middle' fill='rgba(255,255,255,0.92)' font-size='13' font-family='sans-serif'&gt;共享硬件与波形&lt;/text&gt;&#10;    &lt;path d='M760 175 l 20 0' stroke='#64748B' strokeWidth='2.5'/&gt;&lt;path d='M774 169 l 8 6 l -8 6' fill='none' stroke='#64748B' strokeWidth='2.5'/&gt;&#10;  &#10;    &lt;rect x='808' y='20' width='196' height='260' rx='12' fill='url(#sg)' opacity='0.95'/&gt;&#10;    &lt;text x='906' y='60' text-anchor='middle' fill='#ffffff' font-size='19' font-weight='700' font-family='sans-serif'&gt;一体化 Integrated&lt;/text&gt;&#10;    &lt;text x='906' y='88' text-anchor='middle' fill='rgba(255,255,255,0.92)' font-size='13' font-family='sans-serif'&gt;统一信号双功能&lt;/text&gt;&#10;    &#10;  &lt;/svg&gt;&lt;/Box&gt;&#10;    &lt;Box style={{ background:'#FFFFFF', borderRadius:14, border:'1px solid #E6EBF2', borderLeft:'5px solid #2563EB', padding:'16px 20px' }}&gt;&#10;      &lt;Text style={{ fontSize:16, color:'#0F172A', lineHeight:1.55, fontFamily:&quot;'Source Han Sans SC','Noto Sans SC','Microsoft YaHei',sans-serif&quot; }}&gt;&lt;span style={{ fontWeight:'bold' }}&gt;判断：&lt;/span&gt;真正的「一体化」在于&lt;span style={{ fontWeight:'bold', color:'#2563EB' }}&gt;联合设计波形与接收机&lt;/span&gt;，而非简单地把两套设备堆在一起——共存只是起点，联合与一体化才释放频谱与硬件的双重红利。&lt;/Text&gt;&#10;    &lt;/Box&gt;&#10;  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13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733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集成范式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PARADIGMS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集成程度谱系：共存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协作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联合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一体化</a:t>
            </a:r>
            <a:endParaRPr/>
          </a:p>
        </p:txBody>
      </p:sp>
      <p:pic>
        <p:nvPicPr>
          <p:cNvPr id="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1057275"/>
            <a:ext cx="10287000" cy="2857500"/>
          </a:xfrm>
          <a:prstGeom prst="rect">
            <a:avLst/>
          </a:prstGeom>
          <a:ln/>
        </p:spPr>
      </p:pic>
      <p:sp>
        <p:nvSpPr>
          <p:cNvPr id="97" name=""/>
          <p:cNvSpPr/>
          <p:nvPr/>
        </p:nvSpPr>
        <p:spPr>
          <a:xfrm rot="0" flipH="0" flipV="0">
            <a:off x="733425" y="5610225"/>
            <a:ext cx="1082040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733425" y="5610225"/>
            <a:ext cx="10820400" cy="590550"/>
          </a:xfrm>
          <a:custGeom>
            <a:pathLst>
              <a:path w="1136" h="62">
                <a:moveTo>
                  <a:pt x="13" y="0"/>
                </a:moveTo>
                <a:cubicBezTo>
                  <a:pt x="9" y="0"/>
                  <a:pt x="5" y="4"/>
                  <a:pt x="5" y="9"/>
                </a:cubicBezTo>
                <a:lnTo>
                  <a:pt x="5" y="53"/>
                </a:lnTo>
                <a:cubicBezTo>
                  <a:pt x="5" y="57"/>
                  <a:pt x="8" y="61"/>
                  <a:pt x="12" y="62"/>
                </a:cubicBezTo>
                <a:cubicBezTo>
                  <a:pt x="5" y="61"/>
                  <a:pt x="0" y="55"/>
                  <a:pt x="0" y="4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923925" y="5762625"/>
            <a:ext cx="1039177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判断：</a:t>
            </a:r>
            <a:r>
              <a:rPr lang="zh-CN" sz="1200">
                <a:solidFill>
                  <a:srgbClr val="0F172A"/>
                </a:solidFill>
                <a:latin typeface="Source Han Sans SC"/>
                <a:ea typeface="Source Han Sans SC"/>
              </a:rPr>
              <a:t>真正的「一体化」在于</a:t>
            </a:r>
            <a:r>
              <a:rPr lang="zh-CN" sz="1200" b="1">
                <a:solidFill>
                  <a:srgbClr val="2563EB"/>
                </a:solidFill>
                <a:latin typeface="Source Han Sans SC"/>
                <a:ea typeface="Source Han Sans SC"/>
              </a:rPr>
              <a:t>联合设计波形与接收机</a:t>
            </a:r>
            <a:r>
              <a:rPr lang="zh-CN" sz="1200">
                <a:solidFill>
                  <a:srgbClr val="0F172A"/>
                </a:solidFill>
                <a:latin typeface="Source Han Sans SC"/>
                <a:ea typeface="Source Han Sans SC"/>
              </a:rPr>
              <a:t>，而非简单地把两套设备堆在一起——共存只是起点，联合与一体化才释放频谱与硬件的双重红利。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13 / 41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4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感知模态 MODALITY&lt;/Text&gt;&#10;&lt;/Box&gt;&#10;&lt;Text style={{ fontSize:34, fontWeight:'bold', color:'#0F172A', fontFamily:&quot;'Source Han Sans SC','Noto Sans SC','Microsoft YaHei',sans-serif&quot;, marginBottom:16 }}&gt;感知模态全景&lt;/Text&gt;&#10;&lt;Box style={{ height:'540px', flexDirection:'column' }}&gt;&#10;&lt;Box style={{ flexDirection:'row', gap:16, justifyContent:'space-between', height:252, marginBottom:16 }}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crosshairs' style={{ fill:'#2563EB', width:20, height:20 }} /&gt;&#10;    &lt;/Box&gt;&#10;    &lt;Text style={{ fontSize:18, fontWeight:'bold', color:'#0F172A', fontFamily:&quot;'Source Han Sans SC','Noto Sans SC','Microsoft YaHei',sans-serif&quot; }}&gt;目标检测&lt;/Text&gt;&#10;  &lt;/Box&gt;&#10;  &lt;Text style={{ fontSize:14, color:'#64748B', lineHeight:1.55, fontFamily:&quot;'Source Han Sans SC','Noto Sans SC','Microsoft YaHei',sans-serif&quot; }}&gt;判断空间中是否存在目标，是其余感知任务的前提，常用恒虚警（CFAR）检测器。&lt;/Text&gt;&#10;&lt;/Box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ruler' style={{ fill:'#2563EB', width:20, height:20 }} /&gt;&#10;    &lt;/Box&gt;&#10;    &lt;Text style={{ fontSize:18, fontWeight:'bold', color:'#0F172A', fontFamily:&quot;'Source Han Sans SC','Noto Sans SC','Microsoft YaHei',sans-serif&quot; }}&gt;测距 Ranging&lt;/Text&gt;&#10;  &lt;/Box&gt;&#10;  &lt;Text style={{ fontSize:14, color:'#64748B', lineHeight:1.55, fontFamily:&quot;'Source Han Sans SC','Noto Sans SC','Microsoft YaHei',sans-serif&quot; }}&gt;由回波时延换算目标距离 R=c·τ/2，精度取决于信号带宽，带宽越大距离分辨率越高。&lt;/Text&gt;&#10;&lt;/Box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gauge-high' style={{ fill:'#2563EB', width:20, height:20 }} /&gt;&#10;    &lt;/Box&gt;&#10;    &lt;Text style={{ fontSize:18, fontWeight:'bold', color:'#0F172A', fontFamily:&quot;'Source Han Sans SC','Noto Sans SC','Microsoft YaHei',sans-serif&quot; }}&gt;测速 Velocity&lt;/Text&gt;&#10;  &lt;/Box&gt;&#10;  &lt;Text style={{ fontSize:14, color:'#64748B', lineHeight:1.55, fontFamily:&quot;'Source Han Sans SC','Noto Sans SC','Microsoft YaHei',sans-serif&quot; }}&gt;由多普勒频移换算径向速度，适合刻画运动目标，是多普勒处理的核心输出量。&lt;/Text&gt;&#10;&lt;/Box&gt;&lt;/Box&gt;&#10;&lt;Box style={{ flexDirection:'row', gap:16, justifyContent:'space-between', height:252, marginBottom:16 }}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location-crosshairs' style={{ fill:'#2563EB', width:20, height:20 }} /&gt;&#10;    &lt;/Box&gt;&#10;    &lt;Text style={{ fontSize:18, fontWeight:'bold', color:'#0F172A', fontFamily:&quot;'Source Han Sans SC','Noto Sans SC','Microsoft YaHei',sans-serif&quot; }}&gt;测角 AoA/AoD&lt;/Text&gt;&#10;  &lt;/Box&gt;&#10;  &lt;Text style={{ fontSize:14, color:'#64748B', lineHeight:1.55, fontFamily:&quot;'Source Han Sans SC','Noto Sans SC','Microsoft YaHei',sans-serif&quot; }}&gt;由阵列相位差估计目标到达/离开角，大规模天线带来更高的角度分辨率。&lt;/Text&gt;&#10;&lt;/Box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image' style={{ fill:'#2563EB', width:20, height:20 }} /&gt;&#10;    &lt;/Box&gt;&#10;    &lt;Text style={{ fontSize:18, fontWeight:'bold', color:'#0F172A', fontFamily:&quot;'Source Han Sans SC','Noto Sans SC','Microsoft YaHei',sans-serif&quot; }}&gt;成像 Imaging&lt;/Text&gt;&#10;  &lt;/Box&gt;&#10;  &lt;Text style={{ fontSize:14, color:'#64748B', lineHeight:1.55, fontFamily:&quot;'Source Han Sans SC','Noto Sans SC','Microsoft YaHei',sans-serif&quot; }}&gt;合成距离-多普勒-角度多维信息形成雷达图像，用于对目标或场景的精细识别。&lt;/Text&gt;&#10;&lt;/Box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map-pin' style={{ fill:'#2563EB', width:20, height:20 }} /&gt;&#10;    &lt;/Box&gt;&#10;    &lt;Text style={{ fontSize:18, fontWeight:'bold', color:'#0F172A', fontFamily:&quot;'Source Han Sans SC','Noto Sans SC','Microsoft YaHei',sans-serif&quot; }}&gt;定位 Localization&lt;/Text&gt;&#10;  &lt;/Box&gt;&#10;  &lt;Text style={{ fontSize:14, color:'#64748B', lineHeight:1.55, fontFamily:&quot;'Source Han Sans SC','Noto Sans SC','Microsoft YaHei',sans-serif&quot; }}&gt;对终端或标签测距测角并解算位置，为工业、车联提供厘米级定位服务。&lt;/Text&gt;&#10;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14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感知模态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MODALITY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感知模态全景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85800" y="10572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857250" y="12287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1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42975" y="1314450"/>
            <a:ext cx="190500" cy="190500"/>
          </a:xfrm>
          <a:prstGeom prst="rect">
            <a:avLst/>
          </a:prstGeom>
          <a:ln/>
        </p:spPr>
      </p:pic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314450" y="13049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目标检测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57250" y="16859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判断空间中是否存在目标，是其余感知任务的前提，常用恒虚警（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>CFAR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）检测器。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4419600" y="10572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4591050" y="12287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1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76775" y="1314450"/>
            <a:ext cx="190500" cy="190500"/>
          </a:xfrm>
          <a:prstGeom prst="rect">
            <a:avLst/>
          </a:prstGeom>
          <a:ln/>
        </p:spPr>
      </p:pic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048250" y="1304925"/>
            <a:ext cx="1000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测距</a:t>
            </a:r>
            <a:r>
              <a:rPr lang="en-US" sz="13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Ranging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591050" y="16859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由回波时延换算目标距离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R=c·τ/2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，精度取决于信号带宽，带宽越大距离分辨率越高。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8153400" y="10572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8324850" y="12287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10575" y="1314450"/>
            <a:ext cx="190500" cy="190500"/>
          </a:xfrm>
          <a:prstGeom prst="rect">
            <a:avLst/>
          </a:prstGeom>
          <a:ln/>
        </p:spPr>
      </p:pic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782050" y="1304925"/>
            <a:ext cx="971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测速</a:t>
            </a:r>
            <a:r>
              <a:rPr lang="en-US" sz="13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Velocity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324850" y="16859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由多普勒频移换算径向速度，适合刻画运动目标，是多普勒处理的核心输出量。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85800" y="36099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857250" y="37814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1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42975" y="3867150"/>
            <a:ext cx="190500" cy="190500"/>
          </a:xfrm>
          <a:prstGeom prst="rect">
            <a:avLst/>
          </a:prstGeom>
          <a:ln/>
        </p:spPr>
      </p:pic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314450" y="3857625"/>
            <a:ext cx="1057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测角</a:t>
            </a:r>
            <a:r>
              <a:rPr lang="en-US" sz="13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AoA/AoD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57250" y="42386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由阵列相位差估计目标到达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>/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离开角，大规模天线带来更高的角度分辨率。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4419600" y="36099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4591050" y="37814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1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676775" y="3867150"/>
            <a:ext cx="190500" cy="190500"/>
          </a:xfrm>
          <a:prstGeom prst="rect">
            <a:avLst/>
          </a:prstGeom>
          <a:ln/>
        </p:spPr>
      </p:pic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048250" y="3857625"/>
            <a:ext cx="1000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成像</a:t>
            </a:r>
            <a:r>
              <a:rPr lang="en-US" sz="13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Imaging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591050" y="42386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合成距离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>-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多普勒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>-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角度多维信息形成雷达图像，用于对目标或场景的精细识别。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8153400" y="36099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8324850" y="37814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1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410575" y="3867150"/>
            <a:ext cx="190500" cy="190500"/>
          </a:xfrm>
          <a:prstGeom prst="rect">
            <a:avLst/>
          </a:prstGeom>
          <a:ln/>
        </p:spPr>
      </p:pic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782050" y="3857625"/>
            <a:ext cx="1285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定位</a:t>
            </a:r>
            <a:r>
              <a:rPr lang="en-US" sz="13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Localization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324850" y="42386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对终端或标签测距测角并解算位置，为工业、车联提供厘米级定位服务。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14 / 41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3" name="" descr="&lt;Slide style={{ width:'1280px', height:'720px', background:'#0F172A', padding:'0 72px', position:'relative', display:'flex', flexDirection:'column', justifyContent:'center', overflow:'hidden' }}&gt;&#10;  &lt;Box style={{ position:'absolute', right:-140, top:-140, width:520, height:520, borderRadius:260, background:'rgba(6,182,212,0.12)' }}&gt;&lt;/Box&gt;&#10;  &lt;Box style={{ position:'absolute', right:-40, top:-40, width:340, height:340, borderRadius:170, border:'1px solid rgba(6,182,212,0.25)' }}&gt;&lt;/Box&gt;&#10;  &lt;Box style={{ position:'absolute', left:-180, bottom:-180, width:480, height:480, borderRadius:240, background:'rgba(37,99,235,0.14)' }}&gt;&lt;/Box&gt;&#10;  &lt;Box style={{ flexDirection:'row', alignItems:'center', gap:28, position:'relative', zIndex:1 }}&gt;&#10;    &lt;Text style={{ fontSize:150, fontWeight:'bold', fontFamily:&quot;'Space Grotesk','Inter','Segoe UI',sans-serif&quot;, color:'rgba(255,255,255,0.07)', lineHeight:1 }}&gt;04&lt;/Text&gt;&#10;    &lt;Box&gt;&#10;      &lt;Box style={{ width:56, height:6, borderRadius:3, background:'linear-gradient(90deg, #2563EB, #06B6D4)', marginBottom:20 }}&gt;&lt;/Box&gt;&#10;      &lt;Text style={{ fontSize:54, fontWeight:'bold', color:'#FFFFFF', fontFamily:&quot;'Source Han Sans SC','Noto Sans SC','Microsoft YaHei',sans-serif&quot;, marginBottom:14 }}&gt;系统架构与一体化平台&lt;/Text&gt;&#10;      &lt;Text style={{ fontSize:20, color:'#06B6D4', fontFamily:&quot;'Source Han Sans SC','Noto Sans SC','Microsoft YaHei',sans-serif&quot; }}&gt;共享硬件 · 基站即雷达 · 终端协同感知&lt;/Text&gt;&#10;    &lt;/Box&gt;&#10;  &lt;/Box&gt;&#10;  &lt;Text style={{ position:'absolute', right:72, bottom:34, fontSize:13, color:'rgba(226,232,240,0.5)', fontFamily:&quot;'Space Grotesk','Inter','Segoe UI',sans-serif&quot; }}&gt;15 / 41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8572500" y="-1333500"/>
            <a:ext cx="4953000" cy="4953000"/>
          </a:xfrm>
          <a:custGeom>
            <a:pathLst>
              <a:path w="520" h="520">
                <a:moveTo>
                  <a:pt x="380" y="491"/>
                </a:move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380" y="140"/>
                </a:lnTo>
                <a:close/>
              </a:path>
            </a:pathLst>
          </a:cu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281" y="41"/>
                </a:moveTo>
                <a:cubicBezTo>
                  <a:pt x="288" y="47"/>
                  <a:pt x="294" y="54"/>
                  <a:pt x="300" y="61"/>
                </a:cubicBezTo>
                <a:lnTo>
                  <a:pt x="300" y="279"/>
                </a:lnTo>
                <a:cubicBezTo>
                  <a:pt x="259" y="329"/>
                  <a:pt x="193" y="350"/>
                  <a:pt x="131" y="335"/>
                </a:cubicBezTo>
                <a:cubicBezTo>
                  <a:pt x="68" y="321"/>
                  <a:pt x="19" y="272"/>
                  <a:pt x="5" y="209"/>
                </a:cubicBezTo>
                <a:cubicBezTo>
                  <a:pt x="-10" y="147"/>
                  <a:pt x="11" y="81"/>
                  <a:pt x="61" y="40"/>
                </a:cubicBezTo>
                <a:lnTo>
                  <a:pt x="279" y="40"/>
                </a:lnTo>
                <a:close/>
              </a:path>
            </a:pathLst>
          </a:custGeom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59" y="42"/>
                </a:moveTo>
                <a:cubicBezTo>
                  <a:pt x="5" y="91"/>
                  <a:pt x="-12" y="169"/>
                  <a:pt x="16" y="236"/>
                </a:cubicBezTo>
                <a:cubicBezTo>
                  <a:pt x="45" y="304"/>
                  <a:pt x="114" y="345"/>
                  <a:pt x="186" y="339"/>
                </a:cubicBezTo>
                <a:cubicBezTo>
                  <a:pt x="112" y="347"/>
                  <a:pt x="42" y="305"/>
                  <a:pt x="13" y="236"/>
                </a:cubicBezTo>
                <a:cubicBezTo>
                  <a:pt x="-15" y="167"/>
                  <a:pt x="4" y="87"/>
                  <a:pt x="62" y="40"/>
                </a:cubicBezTo>
                <a:close/>
                <a:moveTo>
                  <a:pt x="281" y="41"/>
                </a:moveTo>
                <a:cubicBezTo>
                  <a:pt x="288" y="47"/>
                  <a:pt x="295" y="54"/>
                  <a:pt x="300" y="62"/>
                </a:cubicBezTo>
                <a:cubicBezTo>
                  <a:pt x="293" y="55"/>
                  <a:pt x="286" y="47"/>
                  <a:pt x="279" y="40"/>
                </a:cubicBezTo>
                <a:close/>
              </a:path>
            </a:pathLst>
          </a:custGeom>
          <a:solidFill>
            <a:srgbClr val="06B6D4">
              <a:alpha val="25000"/>
            </a:srgbClr>
          </a:solidFill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-1714500" y="400050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2" y="300"/>
                </a:lnTo>
                <a:lnTo>
                  <a:pt x="180" y="300"/>
                </a:lnTo>
                <a:lnTo>
                  <a:pt x="180" y="8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solidFill>
            <a:srgbClr val="2563EB">
              <a:alpha val="14000"/>
            </a:srgbClr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115675" y="63817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>
                    <a:alpha val="50000"/>
                  </a:srgbClr>
                </a:solidFill>
                <a:latin typeface="Space Grotesk"/>
                <a:ea typeface="Space Grotesk"/>
              </a:rPr>
              <a:t>15 / 41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1647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7000"/>
                  </a:srgbClr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2600325" y="2819400"/>
            <a:ext cx="533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2600325" y="3067050"/>
            <a:ext cx="51435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Source Han Sans SC"/>
                <a:ea typeface="Source Han Sans SC"/>
              </a:rPr>
              <a:t>系统架构与一体化平台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600325" y="3819525"/>
            <a:ext cx="514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共享硬件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基站即雷达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终端协同感知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4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系统架构 ARCHITECTURE&lt;/Text&gt;&#10;&lt;/Box&gt;&#10;&lt;Text style={{ fontSize:34, fontWeight:'bold', color:'#0F172A', fontFamily:&quot;'Source Han Sans SC','Noto Sans SC','Microsoft YaHei',sans-serif&quot;, marginBottom:16 }}&gt;一体化硬件平台与网络架构&lt;/Text&gt;&#10;&lt;Box style={{ height:'540px', flexDirection:'column' }}&gt;&#10;&lt;Box style={{ flexDirection:'row', gap:24, height:'540px', alignItems:'center' }}&gt;&lt;Box style={{ width:560, alignItems:'center', justifyContent:'center' }}&gt;&lt;svg width={560} height={470} viewBox='0 0 560 470'&gt;&#10;  &lt;defs&gt;&lt;linearGradient id='ag' x1='0' y1='0' x2='0' y2='1'&gt;&lt;stop offset='0' stop-color='#2563EB'/&gt;&lt;stop offset='1' stop-color='#06B6D4'/&gt;&lt;/linearGradient&gt;&lt;/defs&gt;&#10;  &lt;rect x='150' y='36' width='22' height='46' rx='4' fill='url(#ag)' opacity='0.85'/&gt;&lt;rect x='190' y='36' width='22' height='46' rx='4' fill='url(#ag)' opacity='0.85'/&gt;&lt;rect x='230' y='36' width='22' height='46' rx='4' fill='url(#ag)' opacity='0.85'/&gt;&lt;rect x='270' y='36' width='22' height='46' rx='4' fill='url(#ag)' opacity='0.85'/&gt;&lt;rect x='310' y='36' width='22' height='46' rx='4' fill='url(#ag)' opacity='0.85'/&gt;&lt;rect x='350' y='36' width='22' height='46' rx='4' fill='url(#ag)' opacity='0.85'/&gt;&#10;  &lt;text x='280' y='24' text-anchor='middle' fill='#0F172A' font-size='15' font-weight='700' font-family='sans-serif'&gt;天线阵列 Antenna Array&lt;/text&gt;&#10;  &lt;line x1='280' y1='82' x2='280' y2='118' stroke='#64748B' strokeWidth='2'/&gt;&#10;  &lt;rect x='160' y='118' width='240' height='58' rx='10' fill='url(#ag)'/&gt;&#10;  &lt;text x='280' y='144' text-anchor='middle' fill='#fff' font-size='15' font-weight='700' font-family='sans-serif'&gt;共享射频链 / T-R 组件&lt;/text&gt;&#10;  &lt;text x='280' y='166' text-anchor='middle' fill='rgba(255,255,255,0.9)' font-size='12' font-family='sans-serif'&gt;一次发射 · 同时供通信与感知&lt;/text&gt;&#10;  &lt;path d='M280 176 L150 250 M280 176 L410 250' stroke='#64748B' strokeWidth='2' fill='none'/&gt;&#10;  &lt;rect x='60' y='250' width='180' height='96' rx='12' fill='#FFFFFF' stroke='#2563EB' strokeWidth='2'/&gt;&#10;  &lt;text x='150' y='286' text-anchor='middle' fill='#2563EB' font-size='16' font-weight='700' font-family='sans-serif'&gt;通信基带&lt;/text&gt;&#10;  &lt;text x='150' y='312' text-anchor='middle' fill='#64748B' font-size='13' font-family='sans-serif'&gt;解调 / 译码 / 波束&lt;/text&gt;&#10;  &lt;rect x='320' y='250' width='180' height='96' rx='12' fill='#FFFFFF' stroke='#06B6D4' strokeWidth='2'/&gt;&#10;  &lt;text x='410' y='286' text-anchor='middle' fill='#06B6D4' font-size='16' font-weight='700' font-family='sans-serif'&gt;感知处理&lt;/text&gt;&#10;  &lt;text x='410' y='312' text-anchor='middle' fill='#64748B' font-size='13' font-family='sans-serif'&gt;检测 / 测距 / 测角&lt;/text&gt;&#10;  &lt;path d='M240 300 L320 300' stroke='#F59E0B' strokeWidth='2' strokeDasharray='5 4'/&gt;&#10;  &lt;text x='280' y='384' text-anchor='middle' fill='#F59E0B' font-size='13' font-weight='700' font-family='sans-serif'&gt;联合设计 / 资源共享&lt;/text&gt;&#10;  &lt;rect x='150' y='404' width='260' height='40' rx='20' fill='rgba(245,158,11,0.12)' stroke='#F59E0B' strokeWidth='1'/&gt;&#10;  &lt;text x='280' y='429' text-anchor='middle' fill='#0F172A' font-size='14' font-weight='700' font-family='sans-serif'&gt;基站即雷达 BS-as-Radar&lt;/text&gt;&lt;/svg&gt;&lt;/Box&gt;&lt;Box style={{ flex:1, flexDirection:'column', gap:14, justifyContent:'space-between' }}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microchip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共享射频链与天线阵列&lt;/Text&gt;&#10;    &lt;Text style={{ fontSize:15, color:'#64748B', lineHeight:1.5, fontFamily:&quot;'Source Han Sans SC','Noto Sans SC','Microsoft YaHei',sans-serif&quot; }}&gt;发射机、功放、阵列与接收前端一体复用，硬件成本、体积与能耗大幅下降，是一体化的物理基础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tower-broadcast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基站即雷达（BS-as-Radar）&lt;/Text&gt;&#10;    &lt;Text style={{ fontSize:15, color:'#64748B', lineHeight:1.5, fontFamily:&quot;'Source Han Sans SC','Noto Sans SC','Microsoft YaHei',sans-serif&quot; }}&gt;通信基站天然具备大带宽、大规模天线与同步时钟，可摇身一变成为覆盖广、精度高的「感知雷达」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users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终端协同感知&lt;/Text&gt;&#10;    &lt;Text style={{ fontSize:15, color:'#64748B', lineHeight:1.5, fontFamily:&quot;'Source Han Sans SC','Noto Sans SC','Microsoft YaHei',sans-serif&quot; }}&gt;多个终端 / 基站共享感知信息，多站组网扩展覆盖与视角，提升低可见度场景的感知可靠性。&lt;/Text&gt;&#10;  &lt;/Box&gt;&#10;&lt;/Box&gt;&#10;  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16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98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系统架构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ARCHITECTURE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一体化硬件平台与网络架构</a:t>
            </a:r>
            <a:endParaRPr/>
          </a:p>
        </p:txBody>
      </p:sp>
      <p:pic>
        <p:nvPicPr>
          <p:cNvPr id="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390650"/>
            <a:ext cx="5334000" cy="4476750"/>
          </a:xfrm>
          <a:prstGeom prst="rect">
            <a:avLst/>
          </a:prstGeom>
          <a:ln/>
        </p:spPr>
      </p:pic>
      <p:sp>
        <p:nvSpPr>
          <p:cNvPr id="160" name=""/>
          <p:cNvSpPr/>
          <p:nvPr/>
        </p:nvSpPr>
        <p:spPr>
          <a:xfrm rot="0" flipH="0" flipV="0">
            <a:off x="6248400" y="2038350"/>
            <a:ext cx="52578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6400800" y="2152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1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96050" y="2247900"/>
            <a:ext cx="190500" cy="190500"/>
          </a:xfrm>
          <a:prstGeom prst="rect">
            <a:avLst/>
          </a:prstGeom>
          <a:ln/>
        </p:spPr>
      </p:pic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915150" y="215265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共享射频链与天线阵列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915150" y="2381250"/>
            <a:ext cx="4438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发射机、功放、阵列与接收前端一体复用，硬件成本、体积与能耗大幅下降，是一体化的物理基础。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248400" y="3143250"/>
            <a:ext cx="52578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6400800" y="32575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96050" y="3352800"/>
            <a:ext cx="190500" cy="19050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915150" y="325755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基站即雷达（</a:t>
            </a:r>
            <a:r>
              <a:rPr lang="en-US" sz="1275" b="1">
                <a:solidFill>
                  <a:srgbClr val="0F172A"/>
                </a:solidFill>
                <a:latin typeface="Source Han Sans SC"/>
                <a:ea typeface="Source Han Sans SC"/>
              </a:rPr>
              <a:t>BS-as-Radar</a:t>
            </a: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915150" y="3486150"/>
            <a:ext cx="4438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通信基站天然具备大带宽、大规模天线与同步时钟，可摇身一变成为覆盖广、精度高的「感知雷达」。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248400" y="4248150"/>
            <a:ext cx="52578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6400800" y="43624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96050" y="4457700"/>
            <a:ext cx="190500" cy="190500"/>
          </a:xfrm>
          <a:prstGeom prst="rect">
            <a:avLst/>
          </a:prstGeom>
          <a:ln/>
        </p:spPr>
      </p:pic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915150" y="436245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终端协同感知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915150" y="4591050"/>
            <a:ext cx="4438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多个终端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基站共享感知信息，多站组网扩展覆盖与视角，提升低可见度场景的感知可靠性。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16 / 41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 width:'1280px', height:'720px', background:'#0F172A', padding:'0 72px', position:'relative', display:'flex', flexDirection:'column', justifyContent:'center', overflow:'hidden' }}&gt;&#10;  &lt;Box style={{ position:'absolute', right:-140, top:-140, width:520, height:520, borderRadius:260, background:'rgba(6,182,212,0.12)' }}&gt;&lt;/Box&gt;&#10;  &lt;Box style={{ position:'absolute', right:-40, top:-40, width:340, height:340, borderRadius:170, border:'1px solid rgba(6,182,212,0.25)' }}&gt;&lt;/Box&gt;&#10;  &lt;Box style={{ position:'absolute', left:-180, bottom:-180, width:480, height:480, borderRadius:240, background:'rgba(37,99,235,0.14)' }}&gt;&lt;/Box&gt;&#10;  &lt;Box style={{ flexDirection:'row', alignItems:'center', gap:28, position:'relative', zIndex:1 }}&gt;&#10;    &lt;Text style={{ fontSize:150, fontWeight:'bold', fontFamily:&quot;'Space Grotesk','Inter','Segoe UI',sans-serif&quot;, color:'rgba(255,255,255,0.07)', lineHeight:1 }}&gt;05&lt;/Text&gt;&#10;    &lt;Box&gt;&#10;      &lt;Box style={{ width:56, height:6, borderRadius:3, background:'linear-gradient(90deg, #2563EB, #06B6D4)', marginBottom:20 }}&gt;&lt;/Box&gt;&#10;      &lt;Text style={{ fontSize:54, fontWeight:'bold', color:'#FFFFFF', fontFamily:&quot;'Source Han Sans SC','Noto Sans SC','Microsoft YaHei',sans-serif&quot;, marginBottom:14 }}&gt;关键技术（一）：波形与双工&lt;/Text&gt;&#10;      &lt;Text style={{ fontSize:20, color:'#06B6D4', fontFamily:&quot;'Source Han Sans SC','Noto Sans SC','Microsoft YaHei',sans-serif&quot; }}&gt;波形设计 · 双功能优化 · 信道估计 · 全双工&lt;/Text&gt;&#10;    &lt;/Box&gt;&#10;  &lt;/Box&gt;&#10;  &lt;Text style={{ position:'absolute', right:72, bottom:34, fontSize:13, color:'rgba(226,232,240,0.5)', fontFamily:&quot;'Space Grotesk','Inter','Segoe UI',sans-serif&quot; }}&gt;17 / 41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8572500" y="-1333500"/>
            <a:ext cx="4953000" cy="4953000"/>
          </a:xfrm>
          <a:custGeom>
            <a:pathLst>
              <a:path w="520" h="520">
                <a:moveTo>
                  <a:pt x="380" y="491"/>
                </a:move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380" y="140"/>
                </a:lnTo>
                <a:close/>
              </a:path>
            </a:pathLst>
          </a:cu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281" y="41"/>
                </a:moveTo>
                <a:cubicBezTo>
                  <a:pt x="288" y="47"/>
                  <a:pt x="294" y="54"/>
                  <a:pt x="300" y="61"/>
                </a:cubicBezTo>
                <a:lnTo>
                  <a:pt x="300" y="279"/>
                </a:lnTo>
                <a:cubicBezTo>
                  <a:pt x="259" y="329"/>
                  <a:pt x="193" y="350"/>
                  <a:pt x="131" y="335"/>
                </a:cubicBezTo>
                <a:cubicBezTo>
                  <a:pt x="68" y="321"/>
                  <a:pt x="19" y="272"/>
                  <a:pt x="5" y="209"/>
                </a:cubicBezTo>
                <a:cubicBezTo>
                  <a:pt x="-10" y="147"/>
                  <a:pt x="11" y="81"/>
                  <a:pt x="61" y="40"/>
                </a:cubicBezTo>
                <a:lnTo>
                  <a:pt x="279" y="40"/>
                </a:lnTo>
                <a:close/>
              </a:path>
            </a:pathLst>
          </a:custGeom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59" y="42"/>
                </a:moveTo>
                <a:cubicBezTo>
                  <a:pt x="5" y="91"/>
                  <a:pt x="-12" y="169"/>
                  <a:pt x="16" y="236"/>
                </a:cubicBezTo>
                <a:cubicBezTo>
                  <a:pt x="45" y="304"/>
                  <a:pt x="114" y="345"/>
                  <a:pt x="186" y="339"/>
                </a:cubicBezTo>
                <a:cubicBezTo>
                  <a:pt x="112" y="347"/>
                  <a:pt x="42" y="305"/>
                  <a:pt x="13" y="236"/>
                </a:cubicBezTo>
                <a:cubicBezTo>
                  <a:pt x="-15" y="167"/>
                  <a:pt x="4" y="87"/>
                  <a:pt x="62" y="40"/>
                </a:cubicBezTo>
                <a:close/>
                <a:moveTo>
                  <a:pt x="281" y="41"/>
                </a:moveTo>
                <a:cubicBezTo>
                  <a:pt x="288" y="47"/>
                  <a:pt x="295" y="54"/>
                  <a:pt x="300" y="62"/>
                </a:cubicBezTo>
                <a:cubicBezTo>
                  <a:pt x="293" y="55"/>
                  <a:pt x="286" y="47"/>
                  <a:pt x="279" y="40"/>
                </a:cubicBezTo>
                <a:close/>
              </a:path>
            </a:pathLst>
          </a:custGeom>
          <a:solidFill>
            <a:srgbClr val="06B6D4">
              <a:alpha val="25000"/>
            </a:srgbClr>
          </a:solidFill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-1714500" y="400050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2" y="300"/>
                </a:lnTo>
                <a:lnTo>
                  <a:pt x="180" y="300"/>
                </a:lnTo>
                <a:lnTo>
                  <a:pt x="180" y="8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solidFill>
            <a:srgbClr val="2563EB">
              <a:alpha val="14000"/>
            </a:srgbClr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115675" y="63817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>
                    <a:alpha val="50000"/>
                  </a:srgbClr>
                </a:solidFill>
                <a:latin typeface="Space Grotesk"/>
                <a:ea typeface="Space Grotesk"/>
              </a:rPr>
              <a:t>17 / 41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1647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7000"/>
                  </a:srgbClr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2600325" y="2819400"/>
            <a:ext cx="533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600325" y="3067050"/>
            <a:ext cx="668655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Source Han Sans SC"/>
                <a:ea typeface="Source Han Sans SC"/>
              </a:rPr>
              <a:t>关键技术（一）：波形与双工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2600325" y="3819525"/>
            <a:ext cx="6686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波形设计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双功能优化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信道估计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全双工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90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波形设计 WAVEFORM&lt;/Text&gt;&#10;&lt;/Box&gt;&#10;&lt;Text style={{ fontSize:34, fontWeight:'bold', color:'#0F172A', fontFamily:&quot;'Source Han Sans SC','Noto Sans SC','Microsoft YaHei',sans-serif&quot;, marginBottom:16 }}&gt;波形设计总览：OFDM / FMCW / OTFS&lt;/Text&gt;&#10;&lt;Box style={{ height:'540px', flexDirection:'column' }}&gt;&#10;&lt;Box style={{ flexDirection:'column', gap:16, height:'540px' }}&gt;&#10;    &lt;Box style={{ flexDirection:'row', background:'linear-gradient(135deg, #2563EB, #06B6D4)', borderRadius:'10px 10px 0 0' }}&gt;&lt;Box style={{ width:150, padding:'12px 14px', justifyContent:'center' }}&gt;&lt;Text style={{ fontSize:16, fontWeight:'bold', color:'#fff', fontFamily:&quot;'Source Han Sans SC','Noto Sans SC','Microsoft YaHei',sans-serif&quot; }}&gt;维度&lt;/Text&gt;&lt;/Box&gt;&lt;Box style={{ width:296, padding:'12px 14px', justifyContent:'center' }}&gt;&lt;Text style={{ fontSize:16, fontWeight:'bold', color:'#fff', fontFamily:&quot;'Source Han Sans SC','Noto Sans SC','Microsoft YaHei',sans-serif&quot; }}&gt;OFDM&lt;/Text&gt;&lt;/Box&gt;&lt;Box style={{ width:296, padding:'12px 14px', justifyContent:'center' }}&gt;&lt;Text style={{ fontSize:16, fontWeight:'bold', color:'#fff', fontFamily:&quot;'Source Han Sans SC','Noto Sans SC','Microsoft YaHei',sans-serif&quot; }}&gt;FMCW&lt;/Text&gt;&lt;/Box&gt;&lt;Box style={{ width:296, padding:'12px 14px', justifyContent:'center' }}&gt;&lt;Text style={{ fontSize:16, fontWeight:'bold', color:'#fff', fontFamily:&quot;'Source Han Sans SC','Noto Sans SC','Microsoft YaHei',sans-serif&quot; }}&gt;OTFS&lt;/Text&gt;&lt;/Box&gt;&lt;/Box&gt;&lt;Box style={{ flexDirection:'row', background:'#F1F5F9', borderBottom:'1px solid #E6EBF2' }}&gt;&lt;Box style={{ width:150, padding:'11px 14px', justifyContent:'center' }}&gt;&lt;Text style={{ fontSize:15, fontWeight:700, color:'#0F172A', fontFamily:&quot;'Source Han Sans SC','Noto Sans SC','Microsoft YaHei',sans-serif&quot;, lineHeight:1.4 }}&gt;通信性能&lt;/Text&gt;&lt;/Box&gt;&lt;Box style={{ width:296, padding:'11px 14px', justifyContent:'center' }}&gt;&lt;Text style={{ fontSize:14, fontWeight:400, color:'#64748B', fontFamily:&quot;'Source Han Sans SC','Noto Sans SC','Microsoft YaHei',sans-serif&quot;, lineHeight:1.4 }}&gt;成熟，高速率&lt;/Text&gt;&lt;/Box&gt;&lt;Box style={{ width:296, padding:'11px 14px', justifyContent:'center' }}&gt;&lt;Text style={{ fontSize:14, fontWeight:400, color:'#64748B', fontFamily:&quot;'Source Han Sans SC','Noto Sans SC','Microsoft YaHei',sans-serif&quot;, lineHeight:1.4 }}&gt;速率较低，需连续发射&lt;/Text&gt;&lt;/Box&gt;&lt;Box style={{ width:296, padding:'11px 14px', justifyContent:'center' }}&gt;&lt;Text style={{ fontSize:14, fontWeight:400, color:'#64748B', fontFamily:&quot;'Source Han Sans SC','Noto Sans SC','Microsoft YaHei',sans-serif&quot;, lineHeight:1.4 }}&gt;高速率，频谱效率高&lt;/Text&gt;&lt;/Box&gt;&lt;/Box&gt;&lt;Box style={{ flexDirection:'row', background:'#FFFFFF', borderBottom:'1px solid #E6EBF2' }}&gt;&lt;Box style={{ width:150, padding:'11px 14px', justifyContent:'center' }}&gt;&lt;Text style={{ fontSize:15, fontWeight:700, color:'#0F172A', fontFamily:&quot;'Source Han Sans SC','Noto Sans SC','Microsoft YaHei',sans-serif&quot;, lineHeight:1.4 }}&gt;距离分辨率&lt;/Text&gt;&lt;/Box&gt;&lt;Box style={{ width:296, padding:'11px 14px', justifyContent:'center' }}&gt;&lt;Text style={{ fontSize:14, fontWeight:400, color:'#64748B', fontFamily:&quot;'Source Han Sans SC','Noto Sans SC','Microsoft YaHei',sans-serif&quot;, lineHeight:1.4 }}&gt;取决于带宽&lt;/Text&gt;&lt;/Box&gt;&lt;Box style={{ width:296, padding:'11px 14px', justifyContent:'center' }}&gt;&lt;Text style={{ fontSize:14, fontWeight:400, color:'#64748B', fontFamily:&quot;'Source Han Sans SC','Noto Sans SC','Microsoft YaHei',sans-serif&quot;, lineHeight:1.4 }}&gt;取决于带宽&lt;/Text&gt;&lt;/Box&gt;&lt;Box style={{ width:296, padding:'11px 14px', justifyContent:'center' }}&gt;&lt;Text style={{ fontSize:14, fontWeight:400, color:'#64748B', fontFamily:&quot;'Source Han Sans SC','Noto Sans SC','Microsoft YaHei',sans-serif&quot;, lineHeight:1.4 }}&gt;时延-多普勒域高分辨&lt;/Text&gt;&lt;/Box&gt;&lt;/Box&gt;&lt;Box style={{ flexDirection:'row', background:'#F1F5F9', borderBottom:'1px solid #E6EBF2' }}&gt;&lt;Box style={{ width:150, padding:'11px 14px', justifyContent:'center' }}&gt;&lt;Text style={{ fontSize:15, fontWeight:700, color:'#0F172A', fontFamily:&quot;'Source Han Sans SC','Noto Sans SC','Microsoft YaHei',sans-serif&quot;, lineHeight:1.4 }}&gt;高速 / 多普勒&lt;/Text&gt;&lt;/Box&gt;&lt;Box style={{ width:296, padding:'11px 14px', justifyContent:'center' }}&gt;&lt;Text style={{ fontSize:14, fontWeight:400, color:'#64748B', fontFamily:&quot;'Source Han Sans SC','Noto Sans SC','Microsoft YaHei',sans-serif&quot;, lineHeight:1.4 }}&gt;较敏感&lt;/Text&gt;&lt;/Box&gt;&lt;Box style={{ width:296, padding:'11px 14px', justifyContent:'center' }}&gt;&lt;Text style={{ fontSize:14, fontWeight:400, color:'#64748B', fontFamily:&quot;'Source Han Sans SC','Noto Sans SC','Microsoft YaHei',sans-serif&quot;, lineHeight:1.4 }}&gt;天生擅长测速&lt;/Text&gt;&lt;/Box&gt;&lt;Box style={{ width:296, padding:'11px 14px', justifyContent:'center' }}&gt;&lt;Text style={{ fontSize:14, fontWeight:400, color:'#64748B', fontFamily:&quot;'Source Han Sans SC','Noto Sans SC','Microsoft YaHei',sans-serif&quot;, lineHeight:1.4 }}&gt;抗大多普勒，适合高动态&lt;/Text&gt;&lt;/Box&gt;&lt;/Box&gt;&lt;Box style={{ flexDirection:'row', background:'#FFFFFF', borderBottom:'1px solid #E6EBF2' }}&gt;&lt;Box style={{ width:150, padding:'11px 14px', justifyContent:'center' }}&gt;&lt;Text style={{ fontSize:15, fontWeight:700, color:'#0F172A', fontFamily:&quot;'Source Han Sans SC','Noto Sans SC','Microsoft YaHei',sans-serif&quot;, lineHeight:1.4 }}&gt;双功能成熟度&lt;/Text&gt;&lt;/Box&gt;&lt;Box style={{ width:296, padding:'11px 14px', justifyContent:'center' }}&gt;&lt;Text style={{ fontSize:14, fontWeight:400, color:'#64748B', fontFamily:&quot;'Source Han Sans SC','Noto Sans SC','Microsoft YaHei',sans-serif&quot;, lineHeight:1.4 }}&gt;研究热点，易与蜂窝融合&lt;/Text&gt;&lt;/Box&gt;&lt;Box style={{ width:296, padding:'11px 14px', justifyContent:'center' }}&gt;&lt;Text style={{ fontSize:14, fontWeight:400, color:'#64748B', fontFamily:&quot;'Source Han Sans SC','Noto Sans SC','Microsoft YaHei',sans-serif&quot;, lineHeight:1.4 }}&gt;雷达原生，通信偏弱&lt;/Text&gt;&lt;/Box&gt;&lt;Box style={{ width:296, padding:'11px 14px', justifyContent:'center' }}&gt;&lt;Text style={{ fontSize:14, fontWeight:400, color:'#64748B', fontFamily:&quot;'Source Han Sans SC','Noto Sans SC','Microsoft YaHei',sans-serif&quot;, lineHeight:1.4 }}&gt;新兴，潜力大&lt;/Text&gt;&lt;/Box&gt;&lt;/Box&gt;&lt;Box style={{ flexDirection:'row', background:'#F1F5F9', borderBottom:'1px solid #E6EBF2' }}&gt;&lt;Box style={{ width:150, padding:'11px 14px', justifyContent:'center' }}&gt;&lt;Text style={{ fontSize:15, fontWeight:700, color:'#0F172A', fontFamily:&quot;'Source Han Sans SC','Noto Sans SC','Microsoft YaHei',sans-serif&quot;, lineHeight:1.4 }}&gt;典型场景&lt;/Text&gt;&lt;/Box&gt;&lt;Box style={{ width:296, padding:'11px 14px', justifyContent:'center' }}&gt;&lt;Text style={{ fontSize:14, fontWeight:400, color:'#64748B', fontFamily:&quot;'Source Han Sans SC','Noto Sans SC','Microsoft YaHei',sans-serif&quot;, lineHeight:1.4 }}&gt;蜂窝网 ISAC&lt;/Text&gt;&lt;/Box&gt;&lt;Box style={{ width:296, padding:'11px 14px', justifyContent:'center' }}&gt;&lt;Text style={{ fontSize:14, fontWeight:400, color:'#64748B', fontFamily:&quot;'Source Han Sans SC','Noto Sans SC','Microsoft YaHei',sans-serif&quot;, lineHeight:1.4 }}&gt;车载 / 近场雷达&lt;/Text&gt;&lt;/Box&gt;&lt;Box style={{ width:296, padding:'11px 14px', justifyContent:'center' }}&gt;&lt;Text style={{ fontSize:14, fontWeight:400, color:'#64748B', fontFamily:&quot;'Source Han Sans SC','Noto Sans SC','Microsoft YaHei',sans-serif&quot;, lineHeight:1.4 }}&gt;高速、高动态场景&lt;/Text&gt;&lt;/Box&gt;&lt;/Box&gt;&#10;    &lt;Box style={{ background:'rgba(6,182,212,0.08)', borderRadius:12, padding:'14px 18px' }}&gt;&#10;      &lt;Text style={{ fontSize:16, color:'#0F172A', lineHeight:1.55, fontFamily:&quot;'Source Han Sans SC','Noto Sans SC','Microsoft YaHei',sans-serif&quot; }}&gt;&lt;span style={{ fontWeight:'bold' }}&gt;判断：&lt;/span&gt;没有「万能波形」——OFDM 利于通信、FMCW 利于测速、OTFS 擅长高动态；工程上应按场景做&lt;span style={{ fontWeight:'bold', color:'#2563EB' }}&gt;通信-感知联合优化&lt;/span&gt;，而非二选一。&lt;/Text&gt;&#10;    &lt;/Box&gt;&#10;  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18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波形设计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WAVEFORM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波形设计总览：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>OFDM / FMCW / OTFS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85800" y="1057275"/>
            <a:ext cx="10820400" cy="419100"/>
          </a:xfrm>
          <a:custGeom>
            <a:pathLst>
              <a:path w="1136" h="44">
                <a:moveTo>
                  <a:pt x="10" y="0"/>
                </a:moveTo>
                <a:lnTo>
                  <a:pt x="1126" y="0"/>
                </a:lnTo>
                <a:cubicBezTo>
                  <a:pt x="1132" y="0"/>
                  <a:pt x="1136" y="4"/>
                  <a:pt x="1136" y="10"/>
                </a:cubicBezTo>
                <a:lnTo>
                  <a:pt x="1136" y="44"/>
                </a:lnTo>
                <a:lnTo>
                  <a:pt x="1136" y="44"/>
                </a:lnTo>
                <a:lnTo>
                  <a:pt x="0" y="44"/>
                </a:lnTo>
                <a:lnTo>
                  <a:pt x="0" y="44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19150" y="1171575"/>
            <a:ext cx="1162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Source Han Sans SC"/>
                <a:ea typeface="Source Han Sans SC"/>
              </a:rPr>
              <a:t>维度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247900" y="1171575"/>
            <a:ext cx="255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OFDM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067300" y="1171575"/>
            <a:ext cx="255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FMCW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886700" y="1171575"/>
            <a:ext cx="2552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OTFS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85800" y="1628775"/>
            <a:ext cx="10820400" cy="46672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685800" y="1628775"/>
            <a:ext cx="10820400" cy="476250"/>
          </a:xfrm>
          <a:custGeom>
            <a:pathLst>
              <a:path w="1136" h="50">
                <a:moveTo>
                  <a:pt x="0" y="49"/>
                </a:moveTo>
                <a:lnTo>
                  <a:pt x="1136" y="49"/>
                </a:lnTo>
                <a:lnTo>
                  <a:pt x="1136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6EBF2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19150" y="1733550"/>
            <a:ext cx="1162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通信性能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2247900" y="1743075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成熟，高速率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067300" y="1743075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速率较低，需连续发射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886700" y="1743075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高速率，频谱效率高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85800" y="2247900"/>
            <a:ext cx="10820400" cy="466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685800" y="2247900"/>
            <a:ext cx="10820400" cy="476250"/>
          </a:xfrm>
          <a:custGeom>
            <a:pathLst>
              <a:path w="1136" h="50">
                <a:moveTo>
                  <a:pt x="0" y="49"/>
                </a:moveTo>
                <a:lnTo>
                  <a:pt x="1136" y="49"/>
                </a:lnTo>
                <a:lnTo>
                  <a:pt x="1136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6EBF2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19150" y="2352675"/>
            <a:ext cx="1162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距离分辨率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2247900" y="2362200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取决于带宽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067300" y="2362200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取决于带宽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886700" y="2362200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时延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>-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多普勒域高分辨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85800" y="2867025"/>
            <a:ext cx="10820400" cy="46672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685800" y="2867025"/>
            <a:ext cx="10820400" cy="476250"/>
          </a:xfrm>
          <a:custGeom>
            <a:pathLst>
              <a:path w="1136" h="50">
                <a:moveTo>
                  <a:pt x="0" y="49"/>
                </a:moveTo>
                <a:lnTo>
                  <a:pt x="1136" y="49"/>
                </a:lnTo>
                <a:lnTo>
                  <a:pt x="1136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6EBF2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19150" y="2971800"/>
            <a:ext cx="1162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高速</a:t>
            </a:r>
            <a:r>
              <a:rPr lang="en-US" sz="112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多普勒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2247900" y="2981325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较敏感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067300" y="2981325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天生擅长测速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886700" y="2981325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抗大多普勒，适合高动态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85800" y="3486150"/>
            <a:ext cx="10820400" cy="466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685800" y="3486150"/>
            <a:ext cx="10820400" cy="476250"/>
          </a:xfrm>
          <a:custGeom>
            <a:pathLst>
              <a:path w="1136" h="50">
                <a:moveTo>
                  <a:pt x="0" y="49"/>
                </a:moveTo>
                <a:lnTo>
                  <a:pt x="1136" y="49"/>
                </a:lnTo>
                <a:lnTo>
                  <a:pt x="1136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6EBF2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19150" y="3590925"/>
            <a:ext cx="1162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双功能成熟度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247900" y="3600450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研究热点，易与蜂窝融合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067300" y="3600450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雷达原生，通信偏弱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886700" y="3600450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新兴，潜力大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85800" y="4105275"/>
            <a:ext cx="10820400" cy="46672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685800" y="4105275"/>
            <a:ext cx="10820400" cy="476250"/>
          </a:xfrm>
          <a:custGeom>
            <a:pathLst>
              <a:path w="1136" h="50">
                <a:moveTo>
                  <a:pt x="0" y="49"/>
                </a:moveTo>
                <a:lnTo>
                  <a:pt x="1136" y="49"/>
                </a:lnTo>
                <a:lnTo>
                  <a:pt x="1136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6EBF2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19150" y="4210050"/>
            <a:ext cx="11620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典型场景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247900" y="4219575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蜂窝网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ISAC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067300" y="4219575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车载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近场雷达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886700" y="4219575"/>
            <a:ext cx="2552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高速、高动态场景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85800" y="4724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06B6D4">
              <a:alpha val="8000"/>
            </a:srgbClr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57250" y="4857750"/>
            <a:ext cx="104775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判断：</a:t>
            </a:r>
            <a:r>
              <a:rPr lang="zh-CN" sz="1200">
                <a:solidFill>
                  <a:srgbClr val="0F172A"/>
                </a:solidFill>
                <a:latin typeface="Source Han Sans SC"/>
                <a:ea typeface="Source Han Sans SC"/>
              </a:rPr>
              <a:t>没有「万能波形」——</a:t>
            </a:r>
            <a:r>
              <a:rPr lang="en-US" sz="1200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OFDM </a:t>
            </a:r>
            <a:r>
              <a:rPr lang="zh-CN" sz="1200">
                <a:solidFill>
                  <a:srgbClr val="0F172A"/>
                </a:solidFill>
                <a:latin typeface="Source Han Sans SC"/>
                <a:ea typeface="Source Han Sans SC"/>
              </a:rPr>
              <a:t>利于通信、</a:t>
            </a:r>
            <a:r>
              <a:rPr lang="en-US" sz="1200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FMCW </a:t>
            </a:r>
            <a:r>
              <a:rPr lang="zh-CN" sz="1200">
                <a:solidFill>
                  <a:srgbClr val="0F172A"/>
                </a:solidFill>
                <a:latin typeface="Source Han Sans SC"/>
                <a:ea typeface="Source Han Sans SC"/>
              </a:rPr>
              <a:t>利于测速、</a:t>
            </a:r>
            <a:r>
              <a:rPr lang="en-US" sz="1200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OTFS </a:t>
            </a:r>
            <a:r>
              <a:rPr lang="zh-CN" sz="1200">
                <a:solidFill>
                  <a:srgbClr val="0F172A"/>
                </a:solidFill>
                <a:latin typeface="Source Han Sans SC"/>
                <a:ea typeface="Source Han Sans SC"/>
              </a:rPr>
              <a:t>擅长高动态；工程上应按场景做</a:t>
            </a:r>
            <a:r>
              <a:rPr lang="zh-CN" sz="1200" b="1">
                <a:solidFill>
                  <a:srgbClr val="2563EB"/>
                </a:solidFill>
                <a:latin typeface="Source Han Sans SC"/>
                <a:ea typeface="Source Han Sans SC"/>
              </a:rPr>
              <a:t>通信</a:t>
            </a:r>
            <a:r>
              <a:rPr lang="en-US" sz="1200" b="1">
                <a:solidFill>
                  <a:srgbClr val="2563EB"/>
                </a:solidFill>
                <a:latin typeface="Source Han Sans SC"/>
                <a:ea typeface="Source Han Sans SC"/>
              </a:rPr>
              <a:t>-</a:t>
            </a:r>
            <a:r>
              <a:rPr lang="zh-CN" sz="1200" b="1">
                <a:solidFill>
                  <a:srgbClr val="2563EB"/>
                </a:solidFill>
                <a:latin typeface="Source Han Sans SC"/>
                <a:ea typeface="Source Han Sans SC"/>
              </a:rPr>
              <a:t>感知联合优化</a:t>
            </a:r>
            <a:r>
              <a:rPr lang="zh-CN" sz="1200">
                <a:solidFill>
                  <a:srgbClr val="0F172A"/>
                </a:solidFill>
                <a:latin typeface="Source Han Sans SC"/>
                <a:ea typeface="Source Han Sans SC"/>
              </a:rPr>
              <a:t>，而非二选一。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18 / 41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6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双功能优化 TRADE-OFF&lt;/Text&gt;&#10;&lt;/Box&gt;&#10;&lt;Text style={{ fontSize:34, fontWeight:'bold', color:'#0F172A', fontFamily:&quot;'Source Han Sans SC','Noto Sans SC','Microsoft YaHei',sans-serif&quot;, marginBottom:16 }}&gt;双功能波形优化：通信-感知权衡&lt;/Text&gt;&#10;&lt;Box style={{ height:'540px', flexDirection:'column' }}&gt;&#10;&lt;Box style={{ flexDirection:'row', gap:24, height:'540px', alignItems:'center' }}&gt;&lt;Box style={{ flex:1, flexDirection:'column', gap:14, justifyContent:'center' }}&gt;&#10;    &lt;Box style={{ background:'#0F172A', borderRadius:14, padding:'18px 20px' }}&gt;&#10;      &lt;Text style={{ fontSize:15, color:'#06B6D4', fontFamily:&quot;'Space Grotesk','Inter','Segoe UI',sans-serif&quot;, marginBottom:8 }}&gt;优化目标 OBJECTIVE&lt;/Text&gt;&#10;      &lt;Text style={{ fontSize:16, color:'#FFFFFF', lineHeight:1.7, fontFamily:&quot;'Source Han Sans SC','Noto Sans SC','Microsoft YaHei',sans-serif&quot; }}&gt;max 通信互信息&lt;br/&gt;s.t. 感知 CRB ≤ ε、功率 ≤ P₀&lt;/Text&gt;&#10;    &lt;/Box&gt;&#10;    &lt;Text style={{ fontSize:16, color:'#64748B', lineHeight:1.7, fontFamily:&quot;'Source Han Sans SC','Noto Sans SC','Microsoft YaHei',sans-serif&quot; }}&gt;双功能波形设计的核心，是在&lt;span style={{ fontWeight:'bold', color:'#0F172A' }}&gt;同一信号&lt;/span&gt;上同时服务两类目标。通信要「互信息大」，感知要「估计误差（CRB）小」，二者往往相互牵制。&lt;/Text&gt;&#10;    &lt;Text style={{ fontSize:16, color:'#64748B', lineHeight:1.7, fontFamily:&quot;'Source Han Sans SC','Noto Sans SC','Microsoft YaHei',sans-serif&quot; }}&gt;解法是在&lt;span style={{ fontWeight:'bold', color:'#0F172A' }}&gt;帕累托前沿&lt;/span&gt;上按业务权重取舍：车联偏感知、宽带下载偏通信。&lt;/Text&gt;&#10;  &lt;/Box&gt;&lt;Box style={{ width:540, alignItems:'center', justifyContent:'center' }}&gt;&lt;svg width={540} height={420} viewBox='0 0 540 420'&gt;&#10;  &lt;line x1='70' y1='360' x2='500' y2='360' stroke='#64748B' strokeWidth='2'/&gt;&#10;  &lt;line x1='70' y1='360' x2='70' y2='50' stroke='#64748B' strokeWidth='2'/&gt;&#10;  &lt;path d='M90 90 Q 260 150 470 320' fill='none' stroke='#F59E0B' strokeWidth='3.5'/&gt;&#10;  &lt;path d='M90 90 Q 260 150 470 320 L 470 360 L 90 360 Z' fill='rgba(37,99,235,0.08)'/&gt;&#10;  &lt;circle cx='120' cy='106' r='8' fill='#2563EB'/&gt;&lt;text x='132' y='100' fill='#2563EB' font-size='13' font-weight='700' font-family='sans-serif'&gt;A · 通信优先&lt;/text&gt;&#10;  &lt;circle cx='432' cy='290' r='8' fill='#06B6D4'/&gt;&lt;text x='300' y='316' fill='#06B6D4' font-size='13' font-weight='700' font-family='sans-serif'&gt;B · 感知优先&lt;/text&gt;&#10;  &lt;text x='285' y='392' text-anchor='middle' fill='#64748B' font-size='14' font-family='sans-serif'&gt;通信速率 Rate →&lt;/text&gt;&#10;  &lt;text x='34' y='200' fill='#64748B' font-size='14' font-family='sans-serif' transform='rotate(-90 34 200)'&gt;感知精度 ←&lt;/text&gt;&#10;  &lt;text x='285' y='72' text-anchor='middle' fill='#F59E0B' font-size='14' font-weight='700' font-family='sans-serif'&gt;帕累托前沿 Pareto Frontier&lt;/text&gt;&lt;/svg&gt;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19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819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双功能优化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TRADE-OFF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双功能波形优化：通信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>-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感知权衡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85800" y="2419350"/>
            <a:ext cx="5448300" cy="1219200"/>
          </a:xfrm>
          <a:prstGeom prst="roundRect">
            <a:avLst>
              <a:gd name="adj" fmla="val 10938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76300" y="2590800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6B6D4"/>
                </a:solidFill>
                <a:latin typeface="Space Grotesk"/>
                <a:ea typeface="Space Grotesk"/>
              </a:rPr>
              <a:t>优化目标</a:t>
            </a:r>
            <a:r>
              <a:rPr lang="en-US" sz="1125">
                <a:solidFill>
                  <a:srgbClr val="06B6D4"/>
                </a:solidFill>
                <a:latin typeface="Space Grotesk"/>
                <a:ea typeface="Space Grotesk"/>
              </a:rPr>
              <a:t xml:space="preserve"> OBJECTIVE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76300" y="2838450"/>
            <a:ext cx="50673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max </a:t>
            </a:r>
            <a:r>
              <a:rPr lang="zh-CN" sz="1200">
                <a:solidFill>
                  <a:srgbClr val="FFFFFF"/>
                </a:solidFill>
                <a:latin typeface="Source Han Sans SC"/>
                <a:ea typeface="Source Han Sans SC"/>
              </a:rPr>
              <a:t>通信互信息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s.t. </a:t>
            </a:r>
            <a:r>
              <a:rPr lang="zh-CN" sz="1200">
                <a:solidFill>
                  <a:srgbClr val="FFFFFF"/>
                </a:solidFill>
                <a:latin typeface="Source Han Sans SC"/>
                <a:ea typeface="Source Han Sans SC"/>
              </a:rPr>
              <a:t>感知</a:t>
            </a:r>
            <a:r>
              <a:rPr lang="en-US" sz="1200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CRB ≤ ε</a:t>
            </a:r>
            <a:r>
              <a:rPr lang="zh-CN" sz="1200">
                <a:solidFill>
                  <a:srgbClr val="FFFFFF"/>
                </a:solidFill>
                <a:latin typeface="Source Han Sans SC"/>
                <a:ea typeface="Source Han Sans SC"/>
              </a:rPr>
              <a:t>、功率</a:t>
            </a:r>
            <a:r>
              <a:rPr lang="en-US" sz="1200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≤ P₀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5800" y="3771900"/>
            <a:ext cx="5448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双功能波形设计的核心，是在</a:t>
            </a: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同一信号</a:t>
            </a: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上同时服务两类目标。通信要「互信息大」，感知要「估计误差（</a:t>
            </a:r>
            <a:r>
              <a:rPr lang="en-US" sz="1200">
                <a:solidFill>
                  <a:srgbClr val="64748B"/>
                </a:solidFill>
                <a:latin typeface="Source Han Sans SC"/>
                <a:ea typeface="Source Han Sans SC"/>
              </a:rPr>
              <a:t>CRB</a:t>
            </a: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）小」，二者往往相互牵制。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85800" y="4533900"/>
            <a:ext cx="54483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解法是在</a:t>
            </a: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帕累托前沿</a:t>
            </a:r>
            <a:r>
              <a:rPr lang="zh-CN" sz="1200">
                <a:solidFill>
                  <a:srgbClr val="64748B"/>
                </a:solidFill>
                <a:latin typeface="Source Han Sans SC"/>
                <a:ea typeface="Source Han Sans SC"/>
              </a:rPr>
              <a:t>上按业务权重取舍：车联偏感知、宽带下载偏通信。</a:t>
            </a:r>
            <a:endParaRPr/>
          </a:p>
        </p:txBody>
      </p:sp>
      <p:pic>
        <p:nvPicPr>
          <p:cNvPr id="2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362700" y="1628775"/>
            <a:ext cx="5143500" cy="4000500"/>
          </a:xfrm>
          <a:prstGeom prst="rect">
            <a:avLst/>
          </a:prstGeom>
          <a:ln/>
        </p:spPr>
      </p:pic>
      <p:sp>
        <p:nvSpPr>
          <p:cNvPr id="247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19 / 41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5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信道与双工 CHANNEL &amp; DUPLEX&lt;/Text&gt;&#10;&lt;/Box&gt;&#10;&lt;Text style={{ fontSize:34, fontWeight:'bold', color:'#0F172A', fontFamily:&quot;'Source Han Sans SC','Noto Sans SC','Microsoft YaHei',sans-serif&quot;, marginBottom:16 }}&gt;信道估计、参数提取与全双工&lt;/Text&gt;&#10;&lt;Box style={{ height:'540px', flexDirection:'column' }}&gt;&#10;&lt;Box style={{ flexDirection:'row', gap:24, height:'540px' }}&gt;&#10;  &lt;Box style={{ width:320, background:'linear-gradient(160deg, #0F172A 0%, #182338 100%)', borderRadius:16, padding:24, flexDirection:'column', justifyContent:'space-between' }}&gt;&#10;    &lt;Box&gt;&#10;      &lt;Box style={{ width:52, height:52, borderRadius:14, background:'rgba(6,182,212,0.18)', justifyContent:'center', alignItems:'center', marginBottom:18 }}&gt;&lt;FAIcon name='signal' style={{ fill:'#06B6D4', width:28, height:28 }} /&gt;&lt;/Box&gt;&#10;      &lt;Text style={{ fontSize:25, fontWeight:'bold', color:'#FFFFFF', lineHeight:1.35, fontFamily:&quot;'Source Han Sans SC','Noto Sans SC','Microsoft YaHei',sans-serif&quot;, marginBottom:14 }}&gt;从同一条&lt;br/&gt;接收信号出发&lt;/Text&gt;&#10;      &lt;Text style={{ fontSize:15, color:'#E2E8F0', lineHeight:1.7, fontFamily:&quot;'Source Han Sans SC','Noto Sans SC','Microsoft YaHei',sans-serif&quot; }}&gt;通信关心「信道怎么解调」，感知关心「目标参数在哪」——二者共享观测，联合估计事半功倍。&lt;/Text&gt;&#10;    &lt;/Box&gt;&#10;    &lt;Box style={{ height:6, width:60, borderRadius:3, background:'linear-gradient(90deg, #2563EB, #06B6D4)' }}&gt;&lt;/Box&gt;&#10;  &lt;/Box&gt;&#10;  &lt;Box style={{ flex:1, flexDirection:'column', gap:14, justifyContent:'space-between' }}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chart-line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联合信道与目标参数估计&lt;/Text&gt;&#10;    &lt;Text style={{ fontSize:15, color:'#64748B', lineHeight:1.5, fontFamily:&quot;'Source Han Sans SC','Noto Sans SC','Microsoft YaHei',sans-serif&quot; }}&gt;把通信信道响应与目标回波统一建模，一次估计同时输出数据链路信息与目标时延/多普勒/角度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wave-square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感知参数提取&lt;/Text&gt;&#10;    &lt;Text style={{ fontSize:15, color:'#64748B', lineHeight:1.5, fontFamily:&quot;'Source Han Sans SC','Noto Sans SC','Microsoft YaHei',sans-serif&quot; }}&gt;对距离-多普勒图做峰值搜索与 CFAR 检测得目标；用 MUSIC/ESPRIT 等超分辨算法提升角度精度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arrows-rotate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全双工与自干扰消除&lt;/Text&gt;&#10;    &lt;Text style={{ fontSize:15, color:'#64748B', lineHeight:1.5, fontFamily:&quot;'Source Han Sans SC','Noto Sans SC','Microsoft YaHei',sans-serif&quot; }}&gt;同频同时收发带来强自干扰，需在模拟域（天线/射频对消）、数字域（基带重建对消）联合抑制，方能释放一体化频谱红利。&lt;/Text&gt;&#10;  &lt;/Box&gt;&#10;&lt;/Box&gt;&#10;  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20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2590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信道与双工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CHANNEL &amp; DUPLEX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信道估计、参数提取与全双工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85800" y="1057275"/>
            <a:ext cx="3048000" cy="51435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914400" y="12858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p/>
        </p:txBody>
      </p:sp>
      <p:pic>
        <p:nvPicPr>
          <p:cNvPr id="2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" y="1400175"/>
            <a:ext cx="266700" cy="266700"/>
          </a:xfrm>
          <a:prstGeom prst="rect">
            <a:avLst/>
          </a:prstGeom>
          <a:ln/>
        </p:spPr>
      </p:pic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914400" y="1952625"/>
            <a:ext cx="2590800" cy="771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Source Han Sans SC"/>
                <a:ea typeface="Source Han Sans SC"/>
              </a:rPr>
              <a:t>从同一条</a:t>
            </a:r>
            <a:endParaRPr/>
          </a:p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Source Han Sans SC"/>
                <a:ea typeface="Source Han Sans SC"/>
              </a:rPr>
              <a:t>接收信号出发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914400" y="2857500"/>
            <a:ext cx="25908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通信关心「信道怎么解调」，感知关心「目标参数在哪」——二者共享观测，联合估计事半功倍。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914400" y="5915025"/>
            <a:ext cx="5715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3962400" y="1057275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4114800" y="11715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2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10050" y="1266825"/>
            <a:ext cx="190500" cy="190500"/>
          </a:xfrm>
          <a:prstGeom prst="rect">
            <a:avLst/>
          </a:prstGeom>
          <a:ln/>
        </p:spPr>
      </p:pic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629150" y="117157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联合信道与目标参数估计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629150" y="1400175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把通信信道响应与目标回波统一建模，一次估计同时输出数据链路信息与目标时延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/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多普勒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/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角度。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3962400" y="3143250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4114800" y="32575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3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210050" y="3352800"/>
            <a:ext cx="190500" cy="190500"/>
          </a:xfrm>
          <a:prstGeom prst="rect">
            <a:avLst/>
          </a:prstGeom>
          <a:ln/>
        </p:spPr>
      </p:pic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629150" y="3257550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感知参数提取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629150" y="3486150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对距离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-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多普勒图做峰值搜索与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CFAR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检测得目标；用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MUSIC/ESPRIT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等超分辨算法提升角度精度。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3962400" y="5229225"/>
            <a:ext cx="75438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4114800" y="53435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3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210050" y="5438775"/>
            <a:ext cx="190500" cy="190500"/>
          </a:xfrm>
          <a:prstGeom prst="rect">
            <a:avLst/>
          </a:prstGeom>
          <a:ln/>
        </p:spPr>
      </p:pic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629150" y="534352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全双工与自干扰消除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629150" y="5572125"/>
            <a:ext cx="6724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同频同时收发带来强自干扰，需在模拟域（天线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/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射频对消）、数字域（基带重建对消）联合抑制，方能释放一体化频谱红利。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20 / 41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15" name="" descr="&lt;Slide style={{ width:'1280px', height:'720px', background:'#0F172A', padding:'0 72px', position:'relative', display:'flex', flexDirection:'column', justifyContent:'center', overflow:'hidden' }}&gt;&#10;  &lt;Box style={{ position:'absolute', right:-140, top:-140, width:520, height:520, borderRadius:260, background:'rgba(6,182,212,0.12)' }}&gt;&lt;/Box&gt;&#10;  &lt;Box style={{ position:'absolute', right:-40, top:-40, width:340, height:340, borderRadius:170, border:'1px solid rgba(6,182,212,0.25)' }}&gt;&lt;/Box&gt;&#10;  &lt;Box style={{ position:'absolute', left:-180, bottom:-180, width:480, height:480, borderRadius:240, background:'rgba(37,99,235,0.14)' }}&gt;&lt;/Box&gt;&#10;  &lt;Box style={{ flexDirection:'row', alignItems:'center', gap:28, position:'relative', zIndex:1 }}&gt;&#10;    &lt;Text style={{ fontSize:150, fontWeight:'bold', fontFamily:&quot;'Space Grotesk','Inter','Segoe UI',sans-serif&quot;, color:'rgba(255,255,255,0.07)', lineHeight:1 }}&gt;06&lt;/Text&gt;&#10;    &lt;Box&gt;&#10;      &lt;Box style={{ width:56, height:6, borderRadius:3, background:'linear-gradient(90deg, #2563EB, #06B6D4)', marginBottom:20 }}&gt;&lt;/Box&gt;&#10;      &lt;Text style={{ fontSize:54, fontWeight:'bold', color:'#FFFFFF', fontFamily:&quot;'Source Han Sans SC','Noto Sans SC','Microsoft YaHei',sans-serif&quot;, marginBottom:14 }}&gt;关键技术（二）：波束、资源与 AI&lt;/Text&gt;&#10;      &lt;Text style={{ fontSize:20, color:'#06B6D4', fontFamily:&quot;'Source Han Sans SC','Noto Sans SC','Microsoft YaHei',sans-serif&quot; }}&gt;联合波束成形 · 资源分配 · 大规模 MIMO · 机器学习&lt;/Text&gt;&#10;    &lt;/Box&gt;&#10;  &lt;/Box&gt;&#10;  &lt;Text style={{ position:'absolute', right:72, bottom:34, fontSize:13, color:'rgba(226,232,240,0.5)', fontFamily:&quot;'Space Grotesk','Inter','Segoe UI',sans-serif&quot; }}&gt;21 / 41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8572500" y="-1333500"/>
            <a:ext cx="4953000" cy="4953000"/>
          </a:xfrm>
          <a:custGeom>
            <a:pathLst>
              <a:path w="520" h="520">
                <a:moveTo>
                  <a:pt x="380" y="491"/>
                </a:move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380" y="140"/>
                </a:lnTo>
                <a:close/>
              </a:path>
            </a:pathLst>
          </a:cu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281" y="41"/>
                </a:moveTo>
                <a:cubicBezTo>
                  <a:pt x="288" y="47"/>
                  <a:pt x="294" y="54"/>
                  <a:pt x="300" y="61"/>
                </a:cubicBezTo>
                <a:lnTo>
                  <a:pt x="300" y="279"/>
                </a:lnTo>
                <a:cubicBezTo>
                  <a:pt x="259" y="329"/>
                  <a:pt x="193" y="350"/>
                  <a:pt x="131" y="335"/>
                </a:cubicBezTo>
                <a:cubicBezTo>
                  <a:pt x="68" y="321"/>
                  <a:pt x="19" y="272"/>
                  <a:pt x="5" y="209"/>
                </a:cubicBezTo>
                <a:cubicBezTo>
                  <a:pt x="-10" y="147"/>
                  <a:pt x="11" y="81"/>
                  <a:pt x="61" y="40"/>
                </a:cubicBezTo>
                <a:lnTo>
                  <a:pt x="279" y="40"/>
                </a:lnTo>
                <a:close/>
              </a:path>
            </a:pathLst>
          </a:custGeom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59" y="42"/>
                </a:moveTo>
                <a:cubicBezTo>
                  <a:pt x="5" y="91"/>
                  <a:pt x="-12" y="169"/>
                  <a:pt x="16" y="236"/>
                </a:cubicBezTo>
                <a:cubicBezTo>
                  <a:pt x="45" y="304"/>
                  <a:pt x="114" y="345"/>
                  <a:pt x="186" y="339"/>
                </a:cubicBezTo>
                <a:cubicBezTo>
                  <a:pt x="112" y="347"/>
                  <a:pt x="42" y="305"/>
                  <a:pt x="13" y="236"/>
                </a:cubicBezTo>
                <a:cubicBezTo>
                  <a:pt x="-15" y="167"/>
                  <a:pt x="4" y="87"/>
                  <a:pt x="62" y="40"/>
                </a:cubicBezTo>
                <a:close/>
                <a:moveTo>
                  <a:pt x="281" y="41"/>
                </a:moveTo>
                <a:cubicBezTo>
                  <a:pt x="288" y="47"/>
                  <a:pt x="295" y="54"/>
                  <a:pt x="300" y="62"/>
                </a:cubicBezTo>
                <a:cubicBezTo>
                  <a:pt x="293" y="55"/>
                  <a:pt x="286" y="47"/>
                  <a:pt x="279" y="40"/>
                </a:cubicBezTo>
                <a:close/>
              </a:path>
            </a:pathLst>
          </a:custGeom>
          <a:solidFill>
            <a:srgbClr val="06B6D4">
              <a:alpha val="25000"/>
            </a:srgbClr>
          </a:solidFill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-1714500" y="400050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2" y="300"/>
                </a:lnTo>
                <a:lnTo>
                  <a:pt x="180" y="300"/>
                </a:lnTo>
                <a:lnTo>
                  <a:pt x="180" y="8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solidFill>
            <a:srgbClr val="2563EB">
              <a:alpha val="14000"/>
            </a:srgbClr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115675" y="63817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>
                    <a:alpha val="50000"/>
                  </a:srgbClr>
                </a:solidFill>
                <a:latin typeface="Space Grotesk"/>
                <a:ea typeface="Space Grotesk"/>
              </a:rPr>
              <a:t>21 / 41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1647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7000"/>
                  </a:srgbClr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2600325" y="2819400"/>
            <a:ext cx="533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2600325" y="3067050"/>
            <a:ext cx="774382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Source Han Sans SC"/>
                <a:ea typeface="Source Han Sans SC"/>
              </a:rPr>
              <a:t>关键技术（二）：波束、资源与</a:t>
            </a:r>
            <a:r>
              <a:rPr lang="en-US" sz="4050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AI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2600325" y="3819525"/>
            <a:ext cx="774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联合波束成形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资源分配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大规模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MIMO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机器学习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26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波束成形 BEAMFORMING&lt;/Text&gt;&#10;&lt;/Box&gt;&#10;&lt;Text style={{ fontSize:34, fontWeight:'bold', color:'#0F172A', fontFamily:&quot;'Source Han Sans SC','Noto Sans SC','Microsoft YaHei',sans-serif&quot;, marginBottom:16 }}&gt;联合通信-感知波束成形&lt;/Text&gt;&#10;&lt;Box style={{ height:'540px', flexDirection:'column' }}&gt;&#10;&lt;Box style={{ flexDirection:'row', gap:24, height:'540px', alignItems:'center' }}&gt;&lt;Box style={{ width:560, alignItems:'center', justifyContent:'center' }}&gt;&lt;svg width={560} height={430} viewBox='0 0 560 430'&gt;&#10;  &lt;rect x='36' y='110' width='18' height='22' rx='3' fill='#2563EB' opacity='0.85'/&gt;&lt;rect x='36' y='150' width='18' height='22' rx='3' fill='#2563EB' opacity='0.85'/&gt;&lt;rect x='36' y='190' width='18' height='22' rx='3' fill='#2563EB' opacity='0.85'/&gt;&lt;rect x='36' y='230' width='18' height='22' rx='3' fill='#2563EB' opacity='0.85'/&gt;&lt;rect x='36' y='270' width='18' height='22' rx='3' fill='#2563EB' opacity='0.85'/&gt;&#10;  &lt;text x='45' y='330' text-anchor='middle' fill='#0F172A' font-size='13' font-weight='700' font-family='sans-serif'&gt;阵列&lt;/text&gt;&#10;  &lt;path d='M56 150 L350 84' stroke='#2563EB' strokeWidth='3'/&gt;&#10;  &lt;path d='M56 250 L350 336' stroke='#2563EB' strokeWidth='3'/&gt;&#10;  &lt;circle cx='372' cy='80' r='13' fill='#2563EB'/&gt;&lt;text x='372' y='52' text-anchor='middle' fill='#2563EB' font-size='13' font-weight='700' font-family='sans-serif'&gt;通信用户 UE1&lt;/text&gt;&#10;  &lt;circle cx='372' cy='340' r='13' fill='#2563EB'/&gt;&lt;text x='372' y='378' text-anchor='middle' fill='#2563EB' font-size='13' font-weight='700' font-family='sans-serif'&gt;通信用户 UE2&lt;/text&gt;&#10;  &lt;path d='M56 200 L470 200' stroke='#F59E0B' strokeWidth='2.5' strokeDasharray='7 5'/&gt;&#10;  &lt;path d='M56 172 L470 176 M56 228 L470 224' stroke='#F59E0B' strokeWidth='1.5' opacity='0.5'/&gt;&#10;  &lt;circle cx='486' cy='200' r='15' fill='#F59E0B'/&gt;&lt;text x='486' y='240' text-anchor='middle' fill='#F59E0B' font-size='13' font-weight='700' font-family='sans-serif'&gt;感知目标&lt;/text&gt;&#10;  &lt;rect x='150' y='392' width='270' height='30' rx='15' fill='rgba(245,158,11,0.12)'/&gt;&#10;  &lt;text x='285' y='412' text-anchor='middle' fill='#0F172A' font-size='13' font-weight='700' font-family='sans-serif'&gt;同一导向向量 · 服务通信与感知&lt;/text&gt;&lt;/svg&gt;&lt;/Box&gt;&lt;Box style={{ flex:1, flexDirection:'column', gap:14, justifyContent:'space-between' }}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broadcast-tower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一副阵列，多束并用&lt;/Text&gt;&#10;    &lt;Text style={{ fontSize:15, color:'#64748B', lineHeight:1.5, fontFamily:&quot;'Source Han Sans SC','Noto Sans SC','Microsoft YaHei',sans-serif&quot; }}&gt;大规模天线的空间自由度足够充裕，可用不同波束同时覆盖通信用户与感知目标，硬件零增加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compass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联合导向向量设计&lt;/Text&gt;&#10;    &lt;Text style={{ fontSize:15, color:'#64748B', lineHeight:1.5, fontFamily:&quot;'Source Han Sans SC','Noto Sans SC','Microsoft YaHei',sans-serif&quot; }}&gt;为通信用户设计窄波束提速率，为感知目标设计宽波束保覆盖；按目标函数加权合成统一的波束成形矩阵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scale-balanced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窄带 / 宽带权衡&lt;/Text&gt;&#10;    &lt;Text style={{ fontSize:15, color:'#64748B', lineHeight:1.5, fontFamily:&quot;'Source Han Sans SC','Noto Sans SC','Microsoft YaHei',sans-serif&quot; }}&gt;宽带下波束随频率「偏斜」，需做真延时或子带处理，否则感知测角精度会随频率漂移而下降。&lt;/Text&gt;&#10;  &lt;/Box&gt;&#10;&lt;/Box&gt;&#10;  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22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波束成形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BEAMFORMING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联合通信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>-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感知波束成形</a:t>
            </a:r>
            <a:endParaRPr/>
          </a:p>
        </p:txBody>
      </p:sp>
      <p:pic>
        <p:nvPicPr>
          <p:cNvPr id="3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581150"/>
            <a:ext cx="5334000" cy="4095750"/>
          </a:xfrm>
          <a:prstGeom prst="rect">
            <a:avLst/>
          </a:prstGeom>
          <a:ln/>
        </p:spPr>
      </p:pic>
      <p:sp>
        <p:nvSpPr>
          <p:cNvPr id="332" name=""/>
          <p:cNvSpPr/>
          <p:nvPr/>
        </p:nvSpPr>
        <p:spPr>
          <a:xfrm rot="0" flipH="0" flipV="0">
            <a:off x="6248400" y="2038350"/>
            <a:ext cx="52578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6400800" y="2152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3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96050" y="2247900"/>
            <a:ext cx="190500" cy="190500"/>
          </a:xfrm>
          <a:prstGeom prst="rect">
            <a:avLst/>
          </a:prstGeom>
          <a:ln/>
        </p:spPr>
      </p:pic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915150" y="215265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一副阵列，多束并用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915150" y="2381250"/>
            <a:ext cx="4438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大规模天线的空间自由度足够充裕，可用不同波束同时覆盖通信用户与感知目标，硬件零增加。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248400" y="3143250"/>
            <a:ext cx="52578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6400800" y="32575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3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96050" y="3352800"/>
            <a:ext cx="190500" cy="190500"/>
          </a:xfrm>
          <a:prstGeom prst="rect">
            <a:avLst/>
          </a:prstGeom>
          <a:ln/>
        </p:spPr>
      </p:pic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915150" y="325755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联合导向向量设计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915150" y="3486150"/>
            <a:ext cx="4438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为通信用户设计窄波束提速率，为感知目标设计宽波束保覆盖；按目标函数加权合成统一的波束成形矩阵。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248400" y="4248150"/>
            <a:ext cx="52578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6400800" y="43624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3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96050" y="4457700"/>
            <a:ext cx="190500" cy="190500"/>
          </a:xfrm>
          <a:prstGeom prst="rect">
            <a:avLst/>
          </a:prstGeom>
          <a:ln/>
        </p:spPr>
      </p:pic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915150" y="436245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窄带</a:t>
            </a:r>
            <a:r>
              <a:rPr lang="en-US" sz="12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宽带权衡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915150" y="4591050"/>
            <a:ext cx="4438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宽带下波束随频率「偏斜」，需做真延时或子带处理，否则感知测角精度会随频率漂移而下降。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22 / 41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1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资源与天线 RESOURCE &amp; MIMO&lt;/Text&gt;&#10;&lt;/Box&gt;&#10;&lt;Text style={{ fontSize:34, fontWeight:'bold', color:'#0F172A', fontFamily:&quot;'Source Han Sans SC','Noto Sans SC','Microsoft YaHei',sans-serif&quot;, marginBottom:16 }}&gt;资源分配与大规模 MIMO&lt;/Text&gt;&#10;&lt;Box style={{ height:'540px', flexDirection:'column' }}&gt;&#10;&lt;Box style={{ flexDirection:'row', gap:24, height:'540px', alignItems:'stretch' }}&gt;&lt;Box style={{ flex:1.5, flexDirection:'column', gap:14 }}&gt;&#10;    &lt;Text style={{ fontSize:19, fontWeight:'bold', color:'#0F172A', fontFamily:&quot;'Source Han Sans SC','Noto Sans SC','Microsoft YaHei',sans-serif&quot; }}&gt;时频功率资源分配&lt;/Text&gt;&#10;    &lt;Box style={{ background:'#FFFFFF', borderRadius:14, border:'1px solid #E6EBF2', padding:14 }}&gt;&lt;svg width={600} height={250} viewBox='0 0 600 250'&gt;&#10;  &lt;text x='70' y='26' fill='#64748B' font-size='12' font-family='sans-serif'&gt;频率 →&lt;/text&gt;&#10;  &lt;text x='20' y='150' fill='#64748B' font-size='12' font-family='sans-serif' transform='rotate(-90 20 150)'&gt;时间 →&lt;/text&gt;&#10;  &lt;rect x='70' y='40' width='34' height='28' rx='4' fill='rgba(6,182,212,0.72)'/&gt;&lt;rect x='110' y='40' width='34' height='28' rx='4' fill='rgba(37,99,235,0.72)'/&gt;&lt;rect x='150' y='40' width='34' height='28' rx='4' fill='rgba(37,99,235,0.72)'/&gt;&lt;rect x='190' y='40' width='34' height='28' rx='4' fill='rgba(6,182,212,0.72)'/&gt;&lt;rect x='230' y='40' width='34' height='28' rx='4' fill='rgba(37,99,235,0.72)'/&gt;&lt;rect x='270' y='40' width='34' height='28' rx='4' fill='rgba(37,99,235,0.72)'/&gt;&lt;rect x='310' y='40' width='34' height='28' rx='4' fill='rgba(6,182,212,0.72)'/&gt;&lt;rect x='350' y='40' width='34' height='28' rx='4' fill='rgba(37,99,235,0.72)'/&gt;&lt;rect x='390' y='40' width='34' height='28' rx='4' fill='rgba(37,99,235,0.72)'/&gt;&lt;rect x='430' y='40' width='34' height='28' rx='4' fill='rgba(6,182,212,0.72)'/&gt;&lt;rect x='470' y='40' width='34' height='28' rx='4' fill='rgba(37,99,235,0.72)'/&gt;&lt;rect x='510' y='40' width='34' height='28' rx='4' fill='rgba(37,99,235,0.72)'/&gt;&lt;rect x='70' y='74' width='34' height='28' rx='4' fill='rgba(37,99,235,0.72)'/&gt;&lt;rect x='110' y='74' width='34' height='28' rx='4' fill='rgba(37,99,235,0.72)'/&gt;&lt;rect x='150' y='74' width='34' height='28' rx='4' fill='rgba(6,182,212,0.72)'/&gt;&lt;rect x='190' y='74' width='34' height='28' rx='4' fill='rgba(37,99,235,0.72)'/&gt;&lt;rect x='230' y='74' width='34' height='28' rx='4' fill='rgba(37,99,235,0.72)'/&gt;&lt;rect x='270' y='74' width='34' height='28' rx='4' fill='rgba(6,182,212,0.72)'/&gt;&lt;rect x='310' y='74' width='34' height='28' rx='4' fill='rgba(37,99,235,0.72)'/&gt;&lt;rect x='350' y='74' width='34' height='28' rx='4' fill='rgba(37,99,235,0.72)'/&gt;&lt;rect x='390' y='74' width='34' height='28' rx='4' fill='rgba(6,182,212,0.72)'/&gt;&lt;rect x='430' y='74' width='34' height='28' rx='4' fill='rgba(37,99,235,0.72)'/&gt;&lt;rect x='470' y='74' width='34' height='28' rx='4' fill='rgba(37,99,235,0.72)'/&gt;&lt;rect x='510' y='74' width='34' height='28' rx='4' fill='rgba(6,182,212,0.72)'/&gt;&lt;rect x='70' y='108' width='34' height='28' rx='4' fill='rgba(37,99,235,0.72)'/&gt;&lt;rect x='110' y='108' width='34' height='28' rx='4' fill='rgba(6,182,212,0.72)'/&gt;&lt;rect x='150' y='108' width='34' height='28' rx='4' fill='rgba(37,99,235,0.72)'/&gt;&lt;rect x='190' y='108' width='34' height='28' rx='4' fill='rgba(37,99,235,0.72)'/&gt;&lt;rect x='230' y='108' width='34' height='28' rx='4' fill='rgba(6,182,212,0.72)'/&gt;&lt;rect x='270' y='108' width='34' height='28' rx='4' fill='rgba(37,99,235,0.72)'/&gt;&lt;rect x='310' y='108' width='34' height='28' rx='4' fill='rgba(37,99,235,0.72)'/&gt;&lt;rect x='350' y='108' width='34' height='28' rx='4' fill='rgba(6,182,212,0.72)'/&gt;&lt;rect x='390' y='108' width='34' height='28' rx='4' fill='rgba(37,99,235,0.72)'/&gt;&lt;rect x='430' y='108' width='34' height='28' rx='4' fill='rgba(37,99,235,0.72)'/&gt;&lt;rect x='470' y='108' width='34' height='28' rx='4' fill='rgba(6,182,212,0.72)'/&gt;&lt;rect x='510' y='108' width='34' height='28' rx='4' fill='rgba(37,99,235,0.72)'/&gt;&lt;rect x='70' y='142' width='34' height='28' rx='4' fill='rgba(6,182,212,0.72)'/&gt;&lt;rect x='110' y='142' width='34' height='28' rx='4' fill='rgba(37,99,235,0.72)'/&gt;&lt;rect x='150' y='142' width='34' height='28' rx='4' fill='rgba(37,99,235,0.72)'/&gt;&lt;rect x='190' y='142' width='34' height='28' rx='4' fill='rgba(6,182,212,0.72)'/&gt;&lt;rect x='230' y='142' width='34' height='28' rx='4' fill='rgba(37,99,235,0.72)'/&gt;&lt;rect x='270' y='142' width='34' height='28' rx='4' fill='rgba(37,99,235,0.72)'/&gt;&lt;rect x='310' y='142' width='34' height='28' rx='4' fill='rgba(6,182,212,0.72)'/&gt;&lt;rect x='350' y='142' width='34' height='28' rx='4' fill='rgba(37,99,235,0.72)'/&gt;&lt;rect x='390' y='142' width='34' height='28' rx='4' fill='rgba(37,99,235,0.72)'/&gt;&lt;rect x='430' y='142' width='34' height='28' rx='4' fill='rgba(6,182,212,0.72)'/&gt;&lt;rect x='470' y='142' width='34' height='28' rx='4' fill='rgba(37,99,235,0.72)'/&gt;&lt;rect x='510' y='142' width='34' height='28' rx='4' fill='rgba(37,99,235,0.72)'/&gt;&#10;  &lt;rect x='70' y='196' width='14' height='14' rx='3' fill='rgba(37,99,235,0.72)'/&gt;&lt;text x='92' y='209' fill='#64748B' font-size='13' font-family='sans-serif'&gt;通信资源块&lt;/text&gt;&#10;  &lt;rect x='230' y='196' width='14' height='14' rx='3' fill='rgba(6,182,212,0.72)'/&gt;&lt;text x='252' y='209' fill='#64748B' font-size='13' font-family='sans-serif'&gt;感知资源块&lt;/text&gt;&lt;/svg&gt;&lt;/Box&gt;&#10;    &lt;Text style={{ fontSize:15, color:'#64748B', lineHeight:1.6, fontFamily:&quot;'Source Han Sans SC','Noto Sans SC','Microsoft YaHei',sans-serif&quot; }}&gt;把时频资源块与发射功率在通信与感知之间分配：感知需要足够带宽与驻留时间，通信需要峰值速率——需按业务权重联合优化。&lt;/Text&gt;&#10;  &lt;/Box&gt;&lt;Box style={{ flex:1, background:'linear-gradient(160deg, #0F172A, #182338)', borderRadius:16, padding:22, flexDirection:'column', justifyContent:'space-between' }}&gt;&#10;    &lt;Box&gt;&#10;      &lt;Box style={{ width:52, height:52, borderRadius:14, background:'rgba(6,182,212,0.18)', justifyContent:'center', alignItems:'center', marginBottom:16 }}&gt;&lt;FAIcon name='table-cells' style={{ fill:'#06B6D4', width:28, height:28 }} /&gt;&lt;/Box&gt;&#10;      &lt;Text style={{ fontSize:22, fontWeight:'bold', color:'#FFFFFF', fontFamily:&quot;'Source Han Sans SC','Noto Sans SC','Microsoft YaHei',sans-serif&quot;, marginBottom:12 }}&gt;大规模 MIMO&lt;/Text&gt;&#10;      &lt;Text style={{ fontSize:15, color:'#E2E8F0', lineHeight:1.7, fontFamily:&quot;'Source Han Sans SC','Noto Sans SC','Microsoft YaHei',sans-serif&quot; }}&gt;天线数 N 越大，波束越窄（宽度约 ∝ 1/N），感知的&lt;span style={{ fontWeight:'bold', color:'#06B6D4' }}&gt;角度分辨率&lt;/span&gt;与通信的空间复用能力同步提升。&lt;/Text&gt;&#10;    &lt;/Box&gt;&#10;    &lt;Text style={{ fontSize:14, color:'#06B6D4', fontFamily:&quot;'Space Grotesk','Inter','Segoe UI',sans-serif&quot; }}&gt;更多天线 = 更细波束 + 更多空间自由度&lt;/Text&gt;&#10;  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23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2505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资源与天线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RESOURCE &amp; MIMO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资源分配与大规模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MIMO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85800" y="1057275"/>
            <a:ext cx="6353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SC"/>
                <a:ea typeface="Source Han Sans SC"/>
              </a:rPr>
              <a:t>时频功率资源分配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85800" y="1409700"/>
            <a:ext cx="6353175" cy="264795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pic>
        <p:nvPicPr>
          <p:cNvPr id="3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543050"/>
            <a:ext cx="5715000" cy="2381250"/>
          </a:xfrm>
          <a:prstGeom prst="rect">
            <a:avLst/>
          </a:prstGeom>
          <a:ln/>
        </p:spPr>
      </p:pic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85800" y="4191000"/>
            <a:ext cx="63531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把时频资源块与发射功率在通信与感知之间分配：感知需要足够带宽与驻留时间，通信需要峰值速率——需按业务权重联合优化。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7267575" y="1057275"/>
            <a:ext cx="4238625" cy="5143500"/>
          </a:xfrm>
          <a:prstGeom prst="roundRect">
            <a:avLst>
              <a:gd name="adj" fmla="val 3596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7477125" y="12668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p/>
        </p:txBody>
      </p:sp>
      <p:pic>
        <p:nvPicPr>
          <p:cNvPr id="3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91425" y="1381125"/>
            <a:ext cx="266700" cy="266700"/>
          </a:xfrm>
          <a:prstGeom prst="rect">
            <a:avLst/>
          </a:prstGeom>
          <a:ln/>
        </p:spPr>
      </p:pic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477125" y="1914525"/>
            <a:ext cx="3819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大规模</a:t>
            </a: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MIMO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477125" y="2286000"/>
            <a:ext cx="38195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天线数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N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越大，波束越窄（宽度约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∝ 1/N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），感知的</a:t>
            </a:r>
            <a:r>
              <a:rPr lang="zh-CN" sz="1125" b="1">
                <a:solidFill>
                  <a:srgbClr val="06B6D4"/>
                </a:solidFill>
                <a:latin typeface="Source Han Sans SC"/>
                <a:ea typeface="Source Han Sans SC"/>
              </a:rPr>
              <a:t>角度分辨率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与通信的空间复用能力同步提升。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477125" y="5829300"/>
            <a:ext cx="3819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6B6D4"/>
                </a:solidFill>
                <a:latin typeface="Space Grotesk"/>
                <a:ea typeface="Space Grotesk"/>
              </a:rPr>
              <a:t>更多天线</a:t>
            </a:r>
            <a:r>
              <a:rPr lang="en-US" sz="1050">
                <a:solidFill>
                  <a:srgbClr val="06B6D4"/>
                </a:solidFill>
                <a:latin typeface="Space Grotesk"/>
                <a:ea typeface="Space Grotesk"/>
              </a:rPr>
              <a:t xml:space="preserve"> = </a:t>
            </a:r>
            <a:r>
              <a:rPr lang="zh-CN" sz="1050">
                <a:solidFill>
                  <a:srgbClr val="06B6D4"/>
                </a:solidFill>
                <a:latin typeface="Space Grotesk"/>
                <a:ea typeface="Space Grotesk"/>
              </a:rPr>
              <a:t>更细波束</a:t>
            </a:r>
            <a:r>
              <a:rPr lang="en-US" sz="1050">
                <a:solidFill>
                  <a:srgbClr val="06B6D4"/>
                </a:solidFill>
                <a:latin typeface="Space Grotesk"/>
                <a:ea typeface="Space Grotesk"/>
              </a:rPr>
              <a:t xml:space="preserve"> + </a:t>
            </a:r>
            <a:r>
              <a:rPr lang="zh-CN" sz="1050">
                <a:solidFill>
                  <a:srgbClr val="06B6D4"/>
                </a:solidFill>
                <a:latin typeface="Space Grotesk"/>
                <a:ea typeface="Space Grotesk"/>
              </a:rPr>
              <a:t>更多空间自由度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23 / 41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70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AI 赋能 AI-ENABLED&lt;/Text&gt;&#10;&lt;/Box&gt;&#10;&lt;Text style={{ fontSize:34, fontWeight:'bold', color:'#0F172A', fontFamily:&quot;'Source Han Sans SC','Noto Sans SC','Microsoft YaHei',sans-serif&quot;, marginBottom:16 }}&gt;AI / 机器学习赋能 ISAC&lt;/Text&gt;&#10;&lt;Box style={{ height:'540px', flexDirection:'column' }}&gt;&#10;&lt;Box style={{ flexDirection:'column', gap:16, height:'540px' }}&gt;&#10;  &lt;Box style={{ height:'150px', borderRadius:16, background:'linear-gradient(135deg, #0F172A 0%, #182338 100%)', padding:'20px 26px', flexDirection:'column', justifyContent:'center' }}&gt;&#10;    &lt;Text style={{ fontSize:15, color:'#06B6D4', letterSpacing:2, fontFamily:&quot;'Space Grotesk','Inter','Segoe UI',sans-serif&quot;, marginBottom:8 }}&gt;DATA-DRIVEN ISAC&lt;/Text&gt;&#10;    &lt;Text style={{ fontSize:23, fontWeight:'bold', color:'#FFFFFF', lineHeight:1.4, fontFamily:&quot;'Source Han Sans SC','Noto Sans SC','Microsoft YaHei',sans-serif&quot; }}&gt;解析模型难以同时驾驭「通信最优化 + 感知估计 + 实时调度」，&lt;br/&gt;数据驱动方法正好补足这些盲区。&lt;/Text&gt;&#10;  &lt;/Box&gt;&#10;  &lt;Box style={{ flexDirection:'row', gap:14, flex:1 }}&gt;&lt;Box style={{ flex:1, background:'#FFFFFF', borderRadius:14, border:'1px solid #E6EBF2', boxShadow:'0 4px 16px rgba(15,23,42,0.06)', padding:18, flexDirection:'column' }}&gt;&#10;    &lt;Box style={{ width:44, height:44, borderRadius:12, background:'rgba(37,99,235,0.10)', justifyContent:'center', alignItems:'center', marginBottom:12 }}&gt;&lt;FAIcon name='brain' style={{ fill:'#2563EB', width:22, height:22 }} /&gt;&lt;/Box&gt;&#10;    &lt;Text style={{ fontSize:17, fontWeight:'bold', color:'#0F172A', fontFamily:&quot;'Source Han Sans SC','Noto Sans SC','Microsoft YaHei',sans-serif&quot;, marginBottom:8 }}&gt;信道与波束预测&lt;/Text&gt;&#10;    &lt;Text style={{ fontSize:14, color:'#64748B', lineHeight:1.55, fontFamily:&quot;'Source Han Sans SC','Noto Sans SC','Microsoft YaHei',sans-serif&quot; }}&gt;用学习模型预测信道/目标轨迹，提前配置波束，降低导频开销与反馈时延。&lt;/Text&gt;&#10;  &lt;/Box&gt;&lt;Box style={{ flex:1, background:'#FFFFFF', borderRadius:14, border:'1px solid #E6EBF2', boxShadow:'0 4px 16px rgba(15,23,42,0.06)', padding:18, flexDirection:'column' }}&gt;&#10;    &lt;Box style={{ width:44, height:44, borderRadius:12, background:'rgba(37,99,235,0.10)', justifyContent:'center', alignItems:'center', marginBottom:12 }}&gt;&lt;FAIcon name='diagram-project' style={{ fill:'#2563EB', width:22, height:22 }} /&gt;&lt;/Box&gt;&#10;    &lt;Text style={{ fontSize:17, fontWeight:'bold', color:'#0F172A', fontFamily:&quot;'Source Han Sans SC','Noto Sans SC','Microsoft YaHei',sans-serif&quot;, marginBottom:8 }}&gt;感知重建&lt;/Text&gt;&#10;    &lt;Text style={{ fontSize:14, color:'#64748B', lineHeight:1.55, fontFamily:&quot;'Source Han Sans SC','Noto Sans SC','Microsoft YaHei',sans-serif&quot; }}&gt;以神经网络替代部分匹配滤波与超分辨处理，在低信噪比下提升检测与成像质量。&lt;/Text&gt;&#10;  &lt;/Box&gt;&lt;Box style={{ flex:1, background:'#FFFFFF', borderRadius:14, border:'1px solid #E6EBF2', boxShadow:'0 4px 16px rgba(15,23,42,0.06)', padding:18, flexDirection:'column' }}&gt;&#10;    &lt;Box style={{ width:44, height:44, borderRadius:12, background:'rgba(37,99,235,0.10)', justifyContent:'center', alignItems:'center', marginBottom:12 }}&gt;&lt;FAIcon name='sliders' style={{ fill:'#2563EB', width:22, height:22 }} /&gt;&lt;/Box&gt;&#10;    &lt;Text style={{ fontSize:17, fontWeight:'bold', color:'#0F172A', fontFamily:&quot;'Source Han Sans SC','Noto Sans SC','Microsoft YaHei',sans-serif&quot;, marginBottom:8 }}&gt;资源智能调度&lt;/Text&gt;&#10;    &lt;Text style={{ fontSize:14, color:'#64748B', lineHeight:1.55, fontFamily:&quot;'Source Han Sans SC','Noto Sans SC','Microsoft YaHei',sans-serif&quot; }}&gt;深度强化学习在复杂场景下逼近最优的时频功率与波束分配策略。&lt;/Text&gt;&#10;  &lt;/Box&gt;&lt;Box style={{ flex:1, background:'#FFFFFF', borderRadius:14, border:'1px solid #E6EBF2', boxShadow:'0 4px 16px rgba(15,23,42,0.06)', padding:18, flexDirection:'column' }}&gt;&#10;    &lt;Box style={{ width:44, height:44, borderRadius:12, background:'rgba(37,99,235,0.10)', justifyContent:'center', alignItems:'center', marginBottom:12 }}&gt;&lt;FAIcon name='robot' style={{ fill:'#2563EB', width:22, height:22 }} /&gt;&lt;/Box&gt;&#10;    &lt;Text style={{ fontSize:17, fontWeight:'bold', color:'#0F172A', fontFamily:&quot;'Source Han Sans SC','Noto Sans SC','Microsoft YaHei',sans-serif&quot;, marginBottom:8 }}&gt;端到端联合设计&lt;/Text&gt;&#10;    &lt;Text style={{ fontSize:14, color:'#64748B', lineHeight:1.55, fontFamily:&quot;'Source Han Sans SC','Noto Sans SC','Microsoft YaHei',sans-serif&quot; }}&gt;把波形、预编码、检测当作可学习模块，用自动编码器端到端联合优化双功能信号。&lt;/Text&gt;&#10;  &lt;/Box&gt;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24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AI </a:t>
            </a: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赋能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AI-ENABLED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AI /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机器学习赋能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ISAC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85800" y="1057275"/>
            <a:ext cx="10820400" cy="1428750"/>
          </a:xfrm>
          <a:prstGeom prst="roundRect">
            <a:avLst>
              <a:gd name="adj" fmla="val 10667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933450" y="1276350"/>
            <a:ext cx="10325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06B6D4"/>
                </a:solidFill>
                <a:latin typeface="Space Grotesk"/>
                <a:ea typeface="Space Grotesk"/>
              </a:rPr>
              <a:t>DATA-DRIVEN ISAC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933450" y="1524000"/>
            <a:ext cx="10325100" cy="7429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725" b="1">
                <a:solidFill>
                  <a:srgbClr val="FFFFFF"/>
                </a:solidFill>
                <a:latin typeface="Source Han Sans SC"/>
                <a:ea typeface="Source Han Sans SC"/>
              </a:rPr>
              <a:t>解析模型难以同时驾驭「通信最优化</a:t>
            </a:r>
            <a:r>
              <a:rPr lang="en-US" sz="1725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725" b="1">
                <a:solidFill>
                  <a:srgbClr val="FFFFFF"/>
                </a:solidFill>
                <a:latin typeface="Source Han Sans SC"/>
                <a:ea typeface="Source Han Sans SC"/>
              </a:rPr>
              <a:t>感知估计</a:t>
            </a:r>
            <a:r>
              <a:rPr lang="en-US" sz="1725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725" b="1">
                <a:solidFill>
                  <a:srgbClr val="FFFFFF"/>
                </a:solidFill>
                <a:latin typeface="Source Han Sans SC"/>
                <a:ea typeface="Source Han Sans SC"/>
              </a:rPr>
              <a:t>实时调度」，</a:t>
            </a:r>
            <a:endParaRPr/>
          </a:p>
          <a:p>
            <a:pPr>
              <a:lnSpc>
                <a:spcPct val="140000"/>
              </a:lnSpc>
            </a:pPr>
            <a:r>
              <a:rPr lang="zh-CN" sz="1725" b="1">
                <a:solidFill>
                  <a:srgbClr val="FFFFFF"/>
                </a:solidFill>
                <a:latin typeface="Source Han Sans SC"/>
                <a:ea typeface="Source Han Sans SC"/>
              </a:rPr>
              <a:t>数据驱动方法正好补足这些盲区。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85800" y="2638425"/>
            <a:ext cx="2609850" cy="356235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5240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857250" y="28098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3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62025" y="2914650"/>
            <a:ext cx="209550" cy="209550"/>
          </a:xfrm>
          <a:prstGeom prst="rect">
            <a:avLst/>
          </a:prstGeom>
          <a:ln/>
        </p:spPr>
      </p:pic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57250" y="3343275"/>
            <a:ext cx="226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信道与波束预测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57250" y="3619500"/>
            <a:ext cx="22669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用学习模型预测信道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>/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目标轨迹，提前配置波束，降低导频开销与反馈时延。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3429000" y="2638425"/>
            <a:ext cx="2600325" cy="35623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5240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3600450" y="28098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3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05225" y="2914650"/>
            <a:ext cx="209550" cy="209550"/>
          </a:xfrm>
          <a:prstGeom prst="rect">
            <a:avLst/>
          </a:prstGeom>
          <a:ln/>
        </p:spPr>
      </p:pic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3600450" y="3343275"/>
            <a:ext cx="2257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感知重建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3600450" y="3619500"/>
            <a:ext cx="2257425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以神经网络替代部分匹配滤波与超分辨处理，在低信噪比下提升检测与成像质量。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162675" y="2638425"/>
            <a:ext cx="2609850" cy="356235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5240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6334125" y="28098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3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38900" y="2914650"/>
            <a:ext cx="209550" cy="209550"/>
          </a:xfrm>
          <a:prstGeom prst="rect">
            <a:avLst/>
          </a:prstGeom>
          <a:ln/>
        </p:spPr>
      </p:pic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334125" y="3343275"/>
            <a:ext cx="2266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资源智能调度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334125" y="3619500"/>
            <a:ext cx="22669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深度强化学习在复杂场景下逼近最优的时频功率与波束分配策略。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8905875" y="2638425"/>
            <a:ext cx="2600325" cy="35623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5240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94" name=""/>
          <p:cNvSpPr/>
          <p:nvPr/>
        </p:nvSpPr>
        <p:spPr>
          <a:xfrm rot="0" flipH="0" flipV="0">
            <a:off x="9077325" y="28098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3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182100" y="2914650"/>
            <a:ext cx="209550" cy="209550"/>
          </a:xfrm>
          <a:prstGeom prst="rect">
            <a:avLst/>
          </a:prstGeom>
          <a:ln/>
        </p:spPr>
      </p:pic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077325" y="3343275"/>
            <a:ext cx="2257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端到端联合设计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9077325" y="3619500"/>
            <a:ext cx="2257425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把波形、预编码、检测当作可学习模块，用自动编码器端到端联合优化双功能信号。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24 / 41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02" name="" descr="&lt;Slide style={{ width:'1280px', height:'720px', background:'#0F172A', padding:'0 72px', position:'relative', display:'flex', flexDirection:'column', justifyContent:'center', overflow:'hidden' }}&gt;&#10;  &lt;Box style={{ position:'absolute', right:-140, top:-140, width:520, height:520, borderRadius:260, background:'rgba(6,182,212,0.12)' }}&gt;&lt;/Box&gt;&#10;  &lt;Box style={{ position:'absolute', right:-40, top:-40, width:340, height:340, borderRadius:170, border:'1px solid rgba(6,182,212,0.25)' }}&gt;&lt;/Box&gt;&#10;  &lt;Box style={{ position:'absolute', left:-180, bottom:-180, width:480, height:480, borderRadius:240, background:'rgba(37,99,235,0.14)' }}&gt;&lt;/Box&gt;&#10;  &lt;Box style={{ flexDirection:'row', alignItems:'center', gap:28, position:'relative', zIndex:1 }}&gt;&#10;    &lt;Text style={{ fontSize:150, fontWeight:'bold', fontFamily:&quot;'Space Grotesk','Inter','Segoe UI',sans-serif&quot;, color:'rgba(255,255,255,0.07)', lineHeight:1 }}&gt;07&lt;/Text&gt;&#10;    &lt;Box&gt;&#10;      &lt;Box style={{ width:56, height:6, borderRadius:3, background:'linear-gradient(90deg, #2563EB, #06B6D4)', marginBottom:20 }}&gt;&lt;/Box&gt;&#10;      &lt;Text style={{ fontSize:54, fontWeight:'bold', color:'#FFFFFF', fontFamily:&quot;'Source Han Sans SC','Noto Sans SC','Microsoft YaHei',sans-serif&quot;, marginBottom:14 }}&gt;信号处理与性能界&lt;/Text&gt;&#10;      &lt;Text style={{ fontSize:20, color:'#06B6D4', fontFamily:&quot;'Source Han Sans SC','Noto Sans SC','Microsoft YaHei',sans-serif&quot; }}&gt;参数估计 · Cramér-Rao 界 · 速率-精度折中&lt;/Text&gt;&#10;    &lt;/Box&gt;&#10;  &lt;/Box&gt;&#10;  &lt;Text style={{ position:'absolute', right:72, bottom:34, fontSize:13, color:'rgba(226,232,240,0.5)', fontFamily:&quot;'Space Grotesk','Inter','Segoe UI',sans-serif&quot; }}&gt;25 / 41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8572500" y="-1333500"/>
            <a:ext cx="4953000" cy="4953000"/>
          </a:xfrm>
          <a:custGeom>
            <a:pathLst>
              <a:path w="520" h="520">
                <a:moveTo>
                  <a:pt x="380" y="491"/>
                </a:move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380" y="140"/>
                </a:lnTo>
                <a:close/>
              </a:path>
            </a:pathLst>
          </a:cu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281" y="41"/>
                </a:moveTo>
                <a:cubicBezTo>
                  <a:pt x="288" y="47"/>
                  <a:pt x="294" y="54"/>
                  <a:pt x="300" y="61"/>
                </a:cubicBezTo>
                <a:lnTo>
                  <a:pt x="300" y="279"/>
                </a:lnTo>
                <a:cubicBezTo>
                  <a:pt x="259" y="329"/>
                  <a:pt x="193" y="350"/>
                  <a:pt x="131" y="335"/>
                </a:cubicBezTo>
                <a:cubicBezTo>
                  <a:pt x="68" y="321"/>
                  <a:pt x="19" y="272"/>
                  <a:pt x="5" y="209"/>
                </a:cubicBezTo>
                <a:cubicBezTo>
                  <a:pt x="-10" y="147"/>
                  <a:pt x="11" y="81"/>
                  <a:pt x="61" y="40"/>
                </a:cubicBezTo>
                <a:lnTo>
                  <a:pt x="279" y="40"/>
                </a:lnTo>
                <a:close/>
              </a:path>
            </a:pathLst>
          </a:custGeom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59" y="42"/>
                </a:moveTo>
                <a:cubicBezTo>
                  <a:pt x="5" y="91"/>
                  <a:pt x="-12" y="169"/>
                  <a:pt x="16" y="236"/>
                </a:cubicBezTo>
                <a:cubicBezTo>
                  <a:pt x="45" y="304"/>
                  <a:pt x="114" y="345"/>
                  <a:pt x="186" y="339"/>
                </a:cubicBezTo>
                <a:cubicBezTo>
                  <a:pt x="112" y="347"/>
                  <a:pt x="42" y="305"/>
                  <a:pt x="13" y="236"/>
                </a:cubicBezTo>
                <a:cubicBezTo>
                  <a:pt x="-15" y="167"/>
                  <a:pt x="4" y="87"/>
                  <a:pt x="62" y="40"/>
                </a:cubicBezTo>
                <a:close/>
                <a:moveTo>
                  <a:pt x="281" y="41"/>
                </a:moveTo>
                <a:cubicBezTo>
                  <a:pt x="288" y="47"/>
                  <a:pt x="295" y="54"/>
                  <a:pt x="300" y="62"/>
                </a:cubicBezTo>
                <a:cubicBezTo>
                  <a:pt x="293" y="55"/>
                  <a:pt x="286" y="47"/>
                  <a:pt x="279" y="40"/>
                </a:cubicBezTo>
                <a:close/>
              </a:path>
            </a:pathLst>
          </a:custGeom>
          <a:solidFill>
            <a:srgbClr val="06B6D4">
              <a:alpha val="25000"/>
            </a:srgbClr>
          </a:solidFill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-1714500" y="400050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2" y="300"/>
                </a:lnTo>
                <a:lnTo>
                  <a:pt x="180" y="300"/>
                </a:lnTo>
                <a:lnTo>
                  <a:pt x="180" y="8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solidFill>
            <a:srgbClr val="2563EB">
              <a:alpha val="14000"/>
            </a:srgbClr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1115675" y="63817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>
                    <a:alpha val="50000"/>
                  </a:srgbClr>
                </a:solidFill>
                <a:latin typeface="Space Grotesk"/>
                <a:ea typeface="Space Grotesk"/>
              </a:rPr>
              <a:t>25 / 41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1647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7000"/>
                  </a:srgbClr>
                </a:solidFill>
                <a:latin typeface="Space Grotesk"/>
                <a:ea typeface="Space Grotesk"/>
              </a:rPr>
              <a:t>07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2600325" y="2819400"/>
            <a:ext cx="533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2600325" y="3067050"/>
            <a:ext cx="41148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Source Han Sans SC"/>
                <a:ea typeface="Source Han Sans SC"/>
              </a:rPr>
              <a:t>信号处理与性能界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2600325" y="3819525"/>
            <a:ext cx="411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参数估计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Cramér-Rao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界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速率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>-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精度折中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13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参数估计 ESTIMATION&lt;/Text&gt;&#10;&lt;/Box&gt;&#10;&lt;Text style={{ fontSize:34, fontWeight:'bold', color:'#0F172A', fontFamily:&quot;'Source Han Sans SC','Noto Sans SC','Microsoft YaHei',sans-serif&quot;, marginBottom:16 }}&gt;目标参数估计：时延 / 多普勒 / 角度&lt;/Text&gt;&#10;&lt;Box style={{ height:'540px', flexDirection:'column' }}&gt;&#10;&lt;Box style={{ flexDirection:'row', gap:24, height:'540px' }}&gt;&#10;  &lt;Box style={{ width:320, background:'linear-gradient(160deg, #0F172A 0%, #182338 100%)', borderRadius:16, padding:24, flexDirection:'column', justifyContent:'space-between' }}&gt;&#10;    &lt;Box&gt;&#10;      &lt;Box style={{ width:52, height:52, borderRadius:14, background:'rgba(6,182,212,0.18)', justifyContent:'center', alignItems:'center', marginBottom:18 }}&gt;&lt;FAIcon name='magnifying-glass-chart' style={{ fill:'#06B6D4', width:28, height:28 }} /&gt;&lt;/Box&gt;&#10;      &lt;Text style={{ fontSize:25, fontWeight:'bold', color:'#FFFFFF', lineHeight:1.35, fontFamily:&quot;'Source Han Sans SC','Noto Sans SC','Microsoft YaHei',sans-serif&quot;, marginBottom:14 }}&gt;从回波里&lt;br/&gt;读出目标&lt;/Text&gt;&#10;      &lt;Text style={{ fontSize:15, color:'#E2E8F0', lineHeight:1.7, fontFamily:&quot;'Source Han Sans SC','Noto Sans SC','Microsoft YaHei',sans-serif&quot; }}&gt;感知的本质是参数估计：把目标的距离、速度、方向，从接收信号中解算出来。&lt;/Text&gt;&#10;    &lt;/Box&gt;&#10;    &lt;Box style={{ height:6, width:60, borderRadius:3, background:'linear-gradient(90deg, #2563EB, #06B6D4)' }}&gt;&lt;/Box&gt;&#10;  &lt;/Box&gt;&#10;  &lt;Box style={{ flex:1, flexDirection:'column', gap:14, justifyContent:'space-between' }}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ruler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测距 = 时延估计&lt;/Text&gt;&#10;    &lt;Text style={{ fontSize:15, color:'#64748B', lineHeight:1.5, fontFamily:&quot;'Source Han Sans SC','Noto Sans SC','Microsoft YaHei',sans-serif&quot; }}&gt;回波时延 τ 换算距离 R = c·τ/2；距离分辨率 ΔR = c/(2B)，由信号带宽 B 决定，宽带是测准的前提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gauge-high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测速 = 多普勒估计&lt;/Text&gt;&#10;    &lt;Text style={{ fontSize:15, color:'#64748B', lineHeight:1.5, fontFamily:&quot;'Source Han Sans SC','Noto Sans SC','Microsoft YaHei',sans-serif&quot; }}&gt;多普勒频移 f_d 对应径向速度 v = f_d·c/(2f_c)；对距离-多普勒图做峰值搜索即可得目标速度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location-crosshairs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测角 = AoA / AoD 估计&lt;/Text&gt;&#10;    &lt;Text style={{ fontSize:15, color:'#64748B', lineHeight:1.5, fontFamily:&quot;'Source Han Sans SC','Noto Sans SC','Microsoft YaHei',sans-serif&quot; }}&gt;由阵列天线间的相位差解算角度；MUSIC、ESPRIT 等超分辨算法可突破瑞利限，逼近 CRB。&lt;/Text&gt;&#10;  &lt;/Box&gt;&#10;&lt;/Box&gt;&#10;    &lt;Box style={{ background:'rgba(6,182,212,0.08)', borderRadius:12, padding:'14px 16px' }}&gt;&#10;      &lt;Text style={{ fontSize:15, color:'#0F172A', lineHeight:1.55, fontFamily:&quot;'Source Han Sans SC','Noto Sans SC','Microsoft YaHei',sans-serif&quot; }}&gt;&lt;span style={{ fontWeight:'bold' }}&gt;要点：&lt;/span&gt;带宽决定「看得多细（距离）」，阵列孔径决定「分得多开（角度）」，信噪比决定「估得多准」。&lt;/Text&gt;&#10;    &lt;/Box&gt;&#10;  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26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参数估计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ESTIMATION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目标参数估计：时延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多普勒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角度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685800" y="1057275"/>
            <a:ext cx="3048000" cy="51435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914400" y="12858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p/>
        </p:txBody>
      </p:sp>
      <p:pic>
        <p:nvPicPr>
          <p:cNvPr id="4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" y="1400175"/>
            <a:ext cx="266700" cy="266700"/>
          </a:xfrm>
          <a:prstGeom prst="rect">
            <a:avLst/>
          </a:prstGeom>
          <a:ln/>
        </p:spPr>
      </p:pic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14400" y="1952625"/>
            <a:ext cx="2590800" cy="771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Source Han Sans SC"/>
                <a:ea typeface="Source Han Sans SC"/>
              </a:rPr>
              <a:t>从回波里</a:t>
            </a:r>
            <a:endParaRPr/>
          </a:p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Source Han Sans SC"/>
                <a:ea typeface="Source Han Sans SC"/>
              </a:rPr>
              <a:t>读出目标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914400" y="2857500"/>
            <a:ext cx="2590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感知的本质是参数估计：把目标的距离、速度、方向，从接收信号中解算出来。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914400" y="5915025"/>
            <a:ext cx="5715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3962400" y="1057275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4114800" y="11715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4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10050" y="1266825"/>
            <a:ext cx="190500" cy="190500"/>
          </a:xfrm>
          <a:prstGeom prst="rect">
            <a:avLst/>
          </a:prstGeom>
          <a:ln/>
        </p:spPr>
      </p:pic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629150" y="117157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测距</a:t>
            </a:r>
            <a:r>
              <a:rPr lang="en-US" sz="12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时延估计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4629150" y="1400175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回波时延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τ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换算距离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R = c·τ/2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；距离分辨率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ΔR = c/(2B)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，由信号带宽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B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决定，宽带是测准的前提。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3962400" y="2590800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4114800" y="27051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4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210050" y="2800350"/>
            <a:ext cx="190500" cy="190500"/>
          </a:xfrm>
          <a:prstGeom prst="rect">
            <a:avLst/>
          </a:prstGeom>
          <a:ln/>
        </p:spPr>
      </p:pic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629150" y="2705100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测速</a:t>
            </a:r>
            <a:r>
              <a:rPr lang="en-US" sz="12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多普勒估计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4629150" y="2933700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多普勒频移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f_d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对应径向速度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v = f_d·c/(2f_c)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；对距离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-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多普勒图做峰值搜索即可得目标速度。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3962400" y="4133850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35" name=""/>
          <p:cNvSpPr/>
          <p:nvPr/>
        </p:nvSpPr>
        <p:spPr>
          <a:xfrm rot="0" flipH="0" flipV="0">
            <a:off x="4114800" y="42481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4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210050" y="4343400"/>
            <a:ext cx="190500" cy="190500"/>
          </a:xfrm>
          <a:prstGeom prst="rect">
            <a:avLst/>
          </a:prstGeom>
          <a:ln/>
        </p:spPr>
      </p:pic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4629150" y="4248150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测角</a:t>
            </a:r>
            <a:r>
              <a:rPr lang="en-US" sz="12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= AoA / AoD </a:t>
            </a: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估计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4629150" y="4476750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由阵列天线间的相位差解算角度；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MUSIC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、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ESPRIT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等超分辨算法可突破瑞利限，逼近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CRB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3962400" y="5667375"/>
            <a:ext cx="7543800" cy="533400"/>
          </a:xfrm>
          <a:prstGeom prst="roundRect">
            <a:avLst>
              <a:gd name="adj" fmla="val 21429"/>
            </a:avLst>
          </a:prstGeom>
          <a:solidFill>
            <a:srgbClr val="06B6D4">
              <a:alpha val="8000"/>
            </a:srgbClr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4114800" y="5800725"/>
            <a:ext cx="7239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要点：</a:t>
            </a:r>
            <a:r>
              <a:rPr lang="zh-CN" sz="1125">
                <a:solidFill>
                  <a:srgbClr val="0F172A"/>
                </a:solidFill>
                <a:latin typeface="Source Han Sans SC"/>
                <a:ea typeface="Source Han Sans SC"/>
              </a:rPr>
              <a:t>带宽决定「看得多细（距离）」，阵列孔径决定「分得多开（角度）」，信噪比决定「估得多准」。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26 / 41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45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性能界 BOUNDS&lt;/Text&gt;&#10;&lt;/Box&gt;&#10;&lt;Text style={{ fontSize:34, fontWeight:'bold', color:'#0F172A', fontFamily:&quot;'Source Han Sans SC','Noto Sans SC','Microsoft YaHei',sans-serif&quot;, marginBottom:16 }}&gt;Cramér-Rao 界与通信-感知折中&lt;/Text&gt;&#10;&lt;Box style={{ height:'540px', flexDirection:'column' }}&gt;&#10;&lt;Box style={{ flexDirection:'row', gap:24, height:'540px', alignItems:'center' }}&gt;&lt;Box style={{ flex:1, flexDirection:'column', gap:14, justifyContent:'center' }}&gt;&#10;    &lt;Box style={{ background:'#0F172A', borderRadius:16, padding:'22px 24px' }}&gt;&#10;      &lt;Text style={{ fontSize:15, color:'#06B6D4', letterSpacing:2, fontFamily:&quot;'Space Grotesk','Inter','Segoe UI',sans-serif&quot;, marginBottom:10 }}&gt;CRAMÉR-RAO BOUND&lt;/Text&gt;&#10;      &lt;Text style={{ fontSize:30, fontWeight:'bold', color:'#FFFFFF', fontFamily:&quot;'Space Grotesk','Inter','Segoe UI',sans-serif&quot;, lineHeight:1.2, marginBottom:12 }}&gt;Var(θ̂) ≥ [J(θ)]⁻¹&lt;/Text&gt;&#10;      &lt;Text style={{ fontSize:15, color:'#E2E8F0', lineHeight:1.7, fontFamily:&quot;'Source Han Sans SC','Noto Sans SC','Microsoft YaHei',sans-serif&quot; }}&gt;任何无偏估计量的方差都不低于 Fisher 信息的逆——这是感知精度的&lt;span style={{ fontWeight:'bold', color:'#06B6D4' }}&gt;可证明下界&lt;/span&gt;，也是波形与阵列设计的理论天花板。&lt;/Text&gt;&#10;    &lt;/Box&gt;&#10;    &lt;Box style={{ background:'linear-gradient(135deg, rgba(245,158,11,0.14), rgba(245,158,11,0.04))', borderLeft:'5px solid #F59E0B', borderRadius:12, padding:'14px 18px' }}&gt;&#10;      &lt;Text style={{ fontSize:15, color:'#0F172A', lineHeight:1.55, fontFamily:&quot;'Source Han Sans SC','Noto Sans SC','Microsoft YaHei',sans-serif&quot; }}&gt;&lt;span style={{ fontWeight:'bold' }}&gt;判断：&lt;/span&gt;速率与感知精度存在固有折中；CRB 告诉我们「至多能估多准」，据此分配波形与功率才有的放矢。&lt;/Text&gt;&#10;    &lt;/Box&gt;&#10;  &lt;/Box&gt;&lt;Box style={{ width:540, alignItems:'center', justifyContent:'center' }}&gt;&lt;svg width={540} height={400} viewBox='0 0 540 400'&gt;&#10;  &lt;line x1='72' y1='350' x2='500' y2='350' stroke='#64748B' strokeWidth='2'/&gt;&#10;  &lt;line x1='72' y1='350' x2='72' y2='50' stroke='#64748B' strokeWidth='2'/&gt;&#10;  &lt;path d='M84 336 Q 260 250 488 92' fill='none' stroke='#2563EB' strokeWidth='3.5'/&gt;&#10;  &lt;path d='M84 96 Q 260 190 488 322' fill='none' stroke='#F59E0B' strokeWidth='3.5'/&gt;&#10;  &lt;text x='300' y='74' text-anchor='middle' fill='#2563EB' font-size='13' font-weight='700' font-family='sans-serif'&gt;通信速率 ↑（SNR 增大）&lt;/text&gt;&#10;  &lt;text x='300' y='344' text-anchor='middle' fill='#F59E0B' font-size='13' font-weight='700' font-family='sans-serif'&gt;感知 MSE ↓（SNR 增大）&lt;/text&gt;&#10;  &lt;text x='286' y='384' text-anchor='middle' fill='#64748B' font-size='13' font-family='sans-serif'&gt;信噪比 SNR →&lt;/text&gt;&#10;  &lt;text x='30' y='200' fill='#64748B' font-size='13' font-family='sans-serif' transform='rotate(-90 30 200)'&gt;性能 →&lt;/text&gt;&#10;  &lt;circle cx='200' cy='216' r='7' fill='#0F172A'/&gt;&lt;text x='150' y='140' fill='#0F172A' font-size='12' font-weight='700' font-family='sans-serif'&gt;波形分配决定谁更受益&lt;/text&gt;&lt;/svg&gt;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27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性能界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BOUNDS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Cramér-Rao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界与通信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>-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感知折中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85800" y="2257425"/>
            <a:ext cx="5448300" cy="180975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914400" y="2466975"/>
            <a:ext cx="4991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06B6D4"/>
                </a:solidFill>
                <a:latin typeface="Space Grotesk"/>
                <a:ea typeface="Space Grotesk"/>
              </a:rPr>
              <a:t>CRAMÉR-RAO BOUND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914400" y="2733675"/>
            <a:ext cx="499110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FFFFFF"/>
                </a:solidFill>
                <a:latin typeface="Space Grotesk"/>
                <a:ea typeface="Space Grotesk"/>
              </a:rPr>
              <a:t>Var(θ̂) ≥ [J(θ)]⁻¹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914400" y="3267075"/>
            <a:ext cx="4991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任何无偏估计量的方差都不低于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Fisher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信息的逆——这是感知精度的</a:t>
            </a:r>
            <a:r>
              <a:rPr lang="zh-CN" sz="1125" b="1">
                <a:solidFill>
                  <a:srgbClr val="06B6D4"/>
                </a:solidFill>
                <a:latin typeface="Source Han Sans SC"/>
                <a:ea typeface="Source Han Sans SC"/>
              </a:rPr>
              <a:t>可证明下界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，也是波形与阵列设计的理论天花板。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733425" y="4200525"/>
            <a:ext cx="5448300" cy="80010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F59E0B">
                  <a:alpha val="14000"/>
                </a:srgbClr>
              </a:gs>
              <a:gs pos="100000">
                <a:srgbClr val="F59E0B">
                  <a:alpha val="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733425" y="4200525"/>
            <a:ext cx="5448300" cy="800100"/>
          </a:xfrm>
          <a:custGeom>
            <a:pathLst>
              <a:path w="572" h="84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7"/>
                </a:lnTo>
                <a:cubicBezTo>
                  <a:pt x="5" y="80"/>
                  <a:pt x="7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904875" y="4333875"/>
            <a:ext cx="50577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判断：</a:t>
            </a:r>
            <a:r>
              <a:rPr lang="zh-CN" sz="1125">
                <a:solidFill>
                  <a:srgbClr val="0F172A"/>
                </a:solidFill>
                <a:latin typeface="Source Han Sans SC"/>
                <a:ea typeface="Source Han Sans SC"/>
              </a:rPr>
              <a:t>速率与感知精度存在固有折中；</a:t>
            </a:r>
            <a:r>
              <a:rPr lang="en-US" sz="1125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CRB </a:t>
            </a:r>
            <a:r>
              <a:rPr lang="zh-CN" sz="1125">
                <a:solidFill>
                  <a:srgbClr val="0F172A"/>
                </a:solidFill>
                <a:latin typeface="Source Han Sans SC"/>
                <a:ea typeface="Source Han Sans SC"/>
              </a:rPr>
              <a:t>告诉我们「至多能估多准」，据此分配波形与功率才有的放矢。</a:t>
            </a:r>
            <a:endParaRPr/>
          </a:p>
        </p:txBody>
      </p:sp>
      <p:pic>
        <p:nvPicPr>
          <p:cNvPr id="4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362700" y="1724025"/>
            <a:ext cx="5143500" cy="3810000"/>
          </a:xfrm>
          <a:prstGeom prst="rect">
            <a:avLst/>
          </a:prstGeom>
          <a:ln/>
        </p:spPr>
      </p:pic>
      <p:sp>
        <p:nvSpPr>
          <p:cNvPr id="458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27 / 41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462" name="" descr="&lt;Slide style={{ width:'1280px', height:'720px', background:'#0F172A', padding:'0 72px', position:'relative', display:'flex', flexDirection:'column', justifyContent:'center', overflow:'hidden' }}&gt;&#10;  &lt;Box style={{ position:'absolute', right:-140, top:-140, width:520, height:520, borderRadius:260, background:'rgba(6,182,212,0.12)' }}&gt;&lt;/Box&gt;&#10;  &lt;Box style={{ position:'absolute', right:-40, top:-40, width:340, height:340, borderRadius:170, border:'1px solid rgba(6,182,212,0.25)' }}&gt;&lt;/Box&gt;&#10;  &lt;Box style={{ position:'absolute', left:-180, bottom:-180, width:480, height:480, borderRadius:240, background:'rgba(37,99,235,0.14)' }}&gt;&lt;/Box&gt;&#10;  &lt;Box style={{ flexDirection:'row', alignItems:'center', gap:28, position:'relative', zIndex:1 }}&gt;&#10;    &lt;Text style={{ fontSize:150, fontWeight:'bold', fontFamily:&quot;'Space Grotesk','Inter','Segoe UI',sans-serif&quot;, color:'rgba(255,255,255,0.07)', lineHeight:1 }}&gt;08&lt;/Text&gt;&#10;    &lt;Box&gt;&#10;      &lt;Box style={{ width:56, height:6, borderRadius:3, background:'linear-gradient(90deg, #2563EB, #06B6D4)', marginBottom:20 }}&gt;&lt;/Box&gt;&#10;      &lt;Text style={{ fontSize:54, fontWeight:'bold', color:'#FFFFFF', fontFamily:&quot;'Source Han Sans SC','Noto Sans SC','Microsoft YaHei',sans-serif&quot;, marginBottom:14 }}&gt;典型应用场景&lt;/Text&gt;&#10;      &lt;Text style={{ fontSize:20, color:'#06B6D4', fontFamily:&quot;'Source Han Sans SC','Noto Sans SC','Microsoft YaHei',sans-serif&quot; }}&gt;车联网 · 低空经济 · 智慧工厂 · 人机交互&lt;/Text&gt;&#10;    &lt;/Box&gt;&#10;  &lt;/Box&gt;&#10;  &lt;Text style={{ position:'absolute', right:72, bottom:34, fontSize:13, color:'rgba(226,232,240,0.5)', fontFamily:&quot;'Space Grotesk','Inter','Segoe UI',sans-serif&quot; }}&gt;28 / 41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8572500" y="-1333500"/>
            <a:ext cx="4953000" cy="4953000"/>
          </a:xfrm>
          <a:custGeom>
            <a:pathLst>
              <a:path w="520" h="520">
                <a:moveTo>
                  <a:pt x="380" y="491"/>
                </a:move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380" y="140"/>
                </a:lnTo>
                <a:close/>
              </a:path>
            </a:pathLst>
          </a:cu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281" y="41"/>
                </a:moveTo>
                <a:cubicBezTo>
                  <a:pt x="288" y="47"/>
                  <a:pt x="294" y="54"/>
                  <a:pt x="300" y="61"/>
                </a:cubicBezTo>
                <a:lnTo>
                  <a:pt x="300" y="279"/>
                </a:lnTo>
                <a:cubicBezTo>
                  <a:pt x="259" y="329"/>
                  <a:pt x="193" y="350"/>
                  <a:pt x="131" y="335"/>
                </a:cubicBezTo>
                <a:cubicBezTo>
                  <a:pt x="68" y="321"/>
                  <a:pt x="19" y="272"/>
                  <a:pt x="5" y="209"/>
                </a:cubicBezTo>
                <a:cubicBezTo>
                  <a:pt x="-10" y="147"/>
                  <a:pt x="11" y="81"/>
                  <a:pt x="61" y="40"/>
                </a:cubicBezTo>
                <a:lnTo>
                  <a:pt x="279" y="40"/>
                </a:lnTo>
                <a:close/>
              </a:path>
            </a:pathLst>
          </a:custGeom>
          <a:ln/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59" y="42"/>
                </a:moveTo>
                <a:cubicBezTo>
                  <a:pt x="5" y="91"/>
                  <a:pt x="-12" y="169"/>
                  <a:pt x="16" y="236"/>
                </a:cubicBezTo>
                <a:cubicBezTo>
                  <a:pt x="45" y="304"/>
                  <a:pt x="114" y="345"/>
                  <a:pt x="186" y="339"/>
                </a:cubicBezTo>
                <a:cubicBezTo>
                  <a:pt x="112" y="347"/>
                  <a:pt x="42" y="305"/>
                  <a:pt x="13" y="236"/>
                </a:cubicBezTo>
                <a:cubicBezTo>
                  <a:pt x="-15" y="167"/>
                  <a:pt x="4" y="87"/>
                  <a:pt x="62" y="40"/>
                </a:cubicBezTo>
                <a:close/>
                <a:moveTo>
                  <a:pt x="281" y="41"/>
                </a:moveTo>
                <a:cubicBezTo>
                  <a:pt x="288" y="47"/>
                  <a:pt x="295" y="54"/>
                  <a:pt x="300" y="62"/>
                </a:cubicBezTo>
                <a:cubicBezTo>
                  <a:pt x="293" y="55"/>
                  <a:pt x="286" y="47"/>
                  <a:pt x="279" y="40"/>
                </a:cubicBezTo>
                <a:close/>
              </a:path>
            </a:pathLst>
          </a:custGeom>
          <a:solidFill>
            <a:srgbClr val="06B6D4">
              <a:alpha val="25000"/>
            </a:srgbClr>
          </a:solidFill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-1714500" y="400050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2" y="300"/>
                </a:lnTo>
                <a:lnTo>
                  <a:pt x="180" y="300"/>
                </a:lnTo>
                <a:lnTo>
                  <a:pt x="180" y="8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solidFill>
            <a:srgbClr val="2563EB">
              <a:alpha val="14000"/>
            </a:srgbClr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1115675" y="63817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>
                    <a:alpha val="50000"/>
                  </a:srgbClr>
                </a:solidFill>
                <a:latin typeface="Space Grotesk"/>
                <a:ea typeface="Space Grotesk"/>
              </a:rPr>
              <a:t>28 / 41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1647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7000"/>
                  </a:srgbClr>
                </a:solidFill>
                <a:latin typeface="Space Grotesk"/>
                <a:ea typeface="Space Grotesk"/>
              </a:rPr>
              <a:t>08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2600325" y="2819400"/>
            <a:ext cx="533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2600325" y="3067050"/>
            <a:ext cx="368617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Source Han Sans SC"/>
                <a:ea typeface="Source Han Sans SC"/>
              </a:rPr>
              <a:t>典型应用场景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2600325" y="3819525"/>
            <a:ext cx="3686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车联网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低空经济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智慧工厂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人机交互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73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应用 · 车联网 V2X&lt;/Text&gt;&#10;&lt;/Box&gt;&#10;&lt;Text style={{ fontSize:34, fontWeight:'bold', color:'#0F172A', fontFamily:&quot;'Source Han Sans SC','Noto Sans SC','Microsoft YaHei',sans-serif&quot;, marginBottom:16 }}&gt;车联网与自动驾驶 V2X&lt;/Text&gt;&#10;&lt;Box style={{ height:'540px', flexDirection:'column' }}&gt;&#10;&lt;Box style={{ flexDirection:'row', gap:24, height:'540px', alignItems:'center' }}&gt;&#10;  &lt;Box style={{ width:552 }}&gt;&lt;Box style={{ width:'552px', height:'470px', borderRadius:16, position:'relative', boxShadow:'0 12px 32px rgba(15,23,42,0.18)' }}&gt;&#10;  &lt;Image src='assets/app_v2x.png' style={{ width:'100%', height:'100%', objectFit:'cover', borderRadius:16 }} /&gt;&#10;  &lt;Box style={{ position:'absolute', left:0, right:0, bottom:0, height:54, borderBottomLeftRadius:16, borderBottomRightRadius:16, background:'linear-gradient(180deg, rgba(15,23,42,0) 0%, rgba(15,23,42,0.92) 100%)' }}&gt;&lt;/Box&gt;&#10;&lt;/Box&gt;&lt;/Box&gt;&#10;  &lt;Box style={{ flex:1, flexDirection:'column', gap:14, justifyContent:'space-between' }}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car-burst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协同感知，消除盲区&lt;/Text&gt;&#10;    &lt;Text style={{ fontSize:15, color:'#64748B', lineHeight:1.5, fontFamily:&quot;'Source Han Sans SC','Noto Sans SC','Microsoft YaHei',sans-serif&quot; }}&gt;车辆与路边基站共享感知结果，交叉路口、遮挡目标不再「看不见」，显著降低碰撞风险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bolt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一体化降低时延与成本&lt;/Text&gt;&#10;    &lt;Text style={{ fontSize:15, color:'#64748B', lineHeight:1.5, fontFamily:&quot;'Source Han Sans SC','Noto Sans SC','Microsoft YaHei',sans-serif&quot; }}&gt;感知与通信一次完成，省去独立雷达与多次数据回传，端到端时延更短、车载硬件更省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tower-broadcast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基站 + 多车组网&lt;/Text&gt;&#10;    &lt;Text style={{ fontSize:15, color:'#64748B', lineHeight:1.5, fontFamily:&quot;'Source Han Sans SC','Noto Sans SC','Microsoft YaHei',sans-serif&quot; }}&gt;多基站与多车感知信息融合，扩展覆盖与视角，提升夜间、雨雾等低可见度场景的可靠性。&lt;/Text&gt;&#10;  &lt;/Box&gt;&#10;&lt;/Box&gt;&#10;  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29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75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应用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· </a:t>
            </a: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车联网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V2X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车联网与自动驾驶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V2X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172200" y="2038350"/>
            <a:ext cx="53340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6324600" y="2152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4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19850" y="2247900"/>
            <a:ext cx="190500" cy="190500"/>
          </a:xfrm>
          <a:prstGeom prst="rect">
            <a:avLst/>
          </a:prstGeom>
          <a:ln/>
        </p:spPr>
      </p:pic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838950" y="215265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协同感知，消除盲区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838950" y="2381250"/>
            <a:ext cx="4514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车辆与路边基站共享感知结果，交叉路口、遮挡目标不再「看不见」，显著降低碰撞风险。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172200" y="3143250"/>
            <a:ext cx="53340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84" name=""/>
          <p:cNvSpPr/>
          <p:nvPr/>
        </p:nvSpPr>
        <p:spPr>
          <a:xfrm rot="0" flipH="0" flipV="0">
            <a:off x="6324600" y="32575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4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19850" y="3352800"/>
            <a:ext cx="190500" cy="190500"/>
          </a:xfrm>
          <a:prstGeom prst="rect">
            <a:avLst/>
          </a:prstGeom>
          <a:ln/>
        </p:spPr>
      </p:pic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838950" y="325755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一体化降低时延与成本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838950" y="3486150"/>
            <a:ext cx="4514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感知与通信一次完成，省去独立雷达与多次数据回传，端到端时延更短、车载硬件更省。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172200" y="4248150"/>
            <a:ext cx="53340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89" name=""/>
          <p:cNvSpPr/>
          <p:nvPr/>
        </p:nvSpPr>
        <p:spPr>
          <a:xfrm rot="0" flipH="0" flipV="0">
            <a:off x="6324600" y="43624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4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19850" y="4457700"/>
            <a:ext cx="190500" cy="190500"/>
          </a:xfrm>
          <a:prstGeom prst="rect">
            <a:avLst/>
          </a:prstGeom>
          <a:ln/>
        </p:spPr>
      </p:pic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838950" y="436245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基站</a:t>
            </a:r>
            <a:r>
              <a:rPr lang="en-US" sz="127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多车组网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838950" y="4591050"/>
            <a:ext cx="4514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多基站与多车感知信息融合，扩展覆盖与视角，提升夜间、雨雾等低可见度场景的可靠性。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85800" y="1390650"/>
            <a:ext cx="5257800" cy="4476750"/>
          </a:xfrm>
          <a:prstGeom prst="roundRect">
            <a:avLst>
              <a:gd name="adj" fmla="val 3404"/>
            </a:avLst>
          </a:prstGeom>
          <a:ln/>
          <a:effectLst>
            <a:outerShdw blurRad="304800" dist="114300" dir="5400000">
              <a:srgbClr val="0F172A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494" name=""/>
          <p:cNvPicPr>
            <a:picLocks noChangeAspect="1"/>
          </p:cNvPicPr>
          <p:nvPr/>
        </p:nvPicPr>
        <p:blipFill>
          <a:blip r:embed="rId4"/>
          <a:srcRect l="10851" t="0" r="10851" b="0"/>
          <a:stretch>
            <a:fillRect/>
          </a:stretch>
        </p:blipFill>
        <p:spPr>
          <a:xfrm rot="0" flipH="0" flipV="0">
            <a:off x="685800" y="1390650"/>
            <a:ext cx="5257800" cy="4476750"/>
          </a:xfrm>
          <a:prstGeom prst="roundRect">
            <a:avLst>
              <a:gd name="adj" fmla="val 3404"/>
            </a:avLst>
          </a:prstGeom>
          <a:ln/>
        </p:spPr>
      </p:pic>
      <p:sp>
        <p:nvSpPr>
          <p:cNvPr id="495" name=""/>
          <p:cNvSpPr/>
          <p:nvPr/>
        </p:nvSpPr>
        <p:spPr>
          <a:xfrm rot="0" flipH="0" flipV="0">
            <a:off x="685800" y="5353050"/>
            <a:ext cx="5257800" cy="514350"/>
          </a:xfrm>
          <a:custGeom>
            <a:pathLst>
              <a:path w="552" h="54">
                <a:moveTo>
                  <a:pt x="0" y="0"/>
                </a:moveTo>
                <a:lnTo>
                  <a:pt x="552" y="0"/>
                </a:lnTo>
                <a:lnTo>
                  <a:pt x="552" y="0"/>
                </a:lnTo>
                <a:lnTo>
                  <a:pt x="552" y="38"/>
                </a:lnTo>
                <a:cubicBezTo>
                  <a:pt x="552" y="47"/>
                  <a:pt x="545" y="54"/>
                  <a:pt x="536" y="54"/>
                </a:cubicBezTo>
                <a:lnTo>
                  <a:pt x="16" y="54"/>
                </a:lnTo>
                <a:cubicBezTo>
                  <a:pt x="7" y="54"/>
                  <a:pt x="0" y="47"/>
                  <a:pt x="0" y="38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9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29 / 41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65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应用 · 低空经济 UAV&lt;/Text&gt;&#10;&lt;/Box&gt;&#10;&lt;Text style={{ fontSize:34, fontWeight:'bold', color:'#0F172A', fontFamily:&quot;'Source Han Sans SC','Noto Sans SC','Microsoft YaHei',sans-serif&quot;, marginBottom:16 }}&gt;低空经济与无人机监测&lt;/Text&gt;&#10;&lt;Box style={{ height:'540px', flexDirection:'column' }}&gt;&#10;&lt;Box style={{ flexDirection:'row', gap:24, height:'540px', alignItems:'stretch' }}&gt;&lt;Box style={{ flex:1.5, flexDirection:'column', gap:14 }}&gt;&#10;    &lt;Text style={{ fontSize:19, fontWeight:'bold', color:'#0F172A', fontFamily:&quot;'Source Han Sans SC','Noto Sans SC','Microsoft YaHei',sans-serif&quot; }}&gt;让基站「看得见」低空&lt;/Text&gt;&#10;    &lt;Box style={{ background:'#FFFFFF', borderRadius:14, border:'1px solid #E6EBF2', padding:14 }}&gt;&lt;svg width={600} height={300} viewBox='0 0 600 300'&gt;&#10;  &lt;rect x='66' y='176' width='22' height='104' rx='4' fill='#64748B'/&gt;&#10;  &lt;circle cx='77' cy='172' r='16' fill='#2563EB'/&gt;&#10;  &lt;text x='77' y='300' text-anchor='middle' fill='#0F172A' font-size='13' font-weight='700' font-family='sans-serif'&gt;通信基站&lt;/text&gt;&#10;  &lt;path d='M96 168 L286 96' stroke='#06B6D4' strokeWidth='2.5' strokeDasharray='7 5'/&gt;&#10;  &lt;path d='M96 176 L416 190' stroke='#06B6D4' strokeWidth='2.5' strokeDasharray='7 5'/&gt;&#10;  &lt;rect x='288' y='78' width='40' height='20' rx='7' fill='#F59E0B'/&gt;&#10;  &lt;text x='308' y='60' text-anchor='middle' fill='#F59E0B' font-size='13' font-weight='700' font-family='sans-serif'&gt;无人机 1&lt;/text&gt;&#10;  &lt;rect x='418' y='172' width='40' height='20' rx='7' fill='#F59E0B'/&gt;&#10;  &lt;text x='438' y='154' text-anchor='middle' fill='#F59E0B' font-size='13' font-weight='700' font-family='sans-serif'&gt;无人机 2&lt;/text&gt;&#10;  &lt;circle cx='308' cy='88' r='34' fill='none' stroke='#06B6D4' strokeWidth='1.5' opacity='0.4'/&gt;&#10;  &lt;circle cx='438' cy='182' r='34' fill='none' stroke='#06B6D4' strokeWidth='1.5' opacity='0.4'/&gt;&lt;/svg&gt;&lt;/Box&gt;&#10;    &lt;Text style={{ fontSize:15, color:'#64748B', lineHeight:1.6, fontFamily:&quot;'Source Han Sans SC','Noto Sans SC','Microsoft YaHei',sans-serif&quot; }}&gt;通信基站的大带宽与大规模天线天然适合监测低空慢速小目标；通感一体让「通信网」同时成为「低空监视网」，无需另行部署专网。&lt;/Text&gt;&#10;  &lt;/Box&gt;&lt;Box style={{ flex:1, background:'linear-gradient(160deg, #0F172A, #182338)', borderRadius:16, padding:22, flexDirection:'column', justifyContent:'space-between' }}&gt;&#10;    &lt;Box&gt;&#10;      &lt;Box style={{ width:52, height:52, borderRadius:14, background:'rgba(6,182,212,0.18)', justifyContent:'center', alignItems:'center', marginBottom:16 }}&gt;&lt;FAIcon name='tower-observation' style={{ fill:'#06B6D4', width:28, height:28 }} /&gt;&lt;/Box&gt;&#10;      &lt;Text style={{ fontSize:21, fontWeight:'bold', color:'#FFFFFF', fontFamily:&quot;'Source Han Sans SC','Noto Sans SC','Microsoft YaHei',sans-serif&quot;, marginBottom:12 }}&gt;低空监管新基建&lt;/Text&gt;&#10;      &lt;Text style={{ fontSize:15, color:'#E2E8F0', lineHeight:1.7, fontFamily:&quot;'Source Han Sans SC','Noto Sans SC','Microsoft YaHei',sans-serif&quot; }}&gt;· 航线监测与「黑飞」识别&lt;br/&gt;· 定位、测速、轨迹跟踪&lt;br/&gt;· 与通信回传共用一套网络&lt;/Text&gt;&#10;    &lt;/Box&gt;&#10;    &lt;Text style={{ fontSize:14, color:'#06B6D4', fontFamily:&quot;'Space Grotesk','Inter','Segoe UI',sans-serif&quot; }}&gt;通信网 = 低空感知网&lt;/Text&gt;&#10;  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30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56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应用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· </a:t>
            </a: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低空经济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UAV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低空经济与无人机监测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85800" y="1057275"/>
            <a:ext cx="6353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SC"/>
                <a:ea typeface="Source Han Sans SC"/>
              </a:rPr>
              <a:t>让基站「看得见」低空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85800" y="1409700"/>
            <a:ext cx="6353175" cy="3124200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pic>
        <p:nvPicPr>
          <p:cNvPr id="5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543050"/>
            <a:ext cx="5715000" cy="2857500"/>
          </a:xfrm>
          <a:prstGeom prst="rect">
            <a:avLst/>
          </a:prstGeom>
          <a:ln/>
        </p:spPr>
      </p:pic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85800" y="4667250"/>
            <a:ext cx="63531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通信基站的大带宽与大规模天线天然适合监测低空慢速小目标；通感一体让「通信网」同时成为「低空监视网」，无需另行部署专网。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7267575" y="1057275"/>
            <a:ext cx="4238625" cy="5143500"/>
          </a:xfrm>
          <a:prstGeom prst="roundRect">
            <a:avLst>
              <a:gd name="adj" fmla="val 3596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75" name=""/>
          <p:cNvSpPr/>
          <p:nvPr/>
        </p:nvSpPr>
        <p:spPr>
          <a:xfrm rot="0" flipH="0" flipV="0">
            <a:off x="7477125" y="12668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p/>
        </p:txBody>
      </p:sp>
      <p:pic>
        <p:nvPicPr>
          <p:cNvPr id="5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91425" y="1381125"/>
            <a:ext cx="266700" cy="266700"/>
          </a:xfrm>
          <a:prstGeom prst="rect">
            <a:avLst/>
          </a:prstGeom>
          <a:ln/>
        </p:spPr>
      </p:pic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7477125" y="1914525"/>
            <a:ext cx="3819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低空监管新基建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477125" y="2276475"/>
            <a:ext cx="3819525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·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航线监测与「黑飞」识别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·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定位、测速、轨迹跟踪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·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与通信回传共用一套网络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477125" y="5829300"/>
            <a:ext cx="3819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6B6D4"/>
                </a:solidFill>
                <a:latin typeface="Space Grotesk"/>
                <a:ea typeface="Space Grotesk"/>
              </a:rPr>
              <a:t>通信网</a:t>
            </a:r>
            <a:r>
              <a:rPr lang="en-US" sz="1050">
                <a:solidFill>
                  <a:srgbClr val="06B6D4"/>
                </a:solidFill>
                <a:latin typeface="Space Grotesk"/>
                <a:ea typeface="Space Grotesk"/>
              </a:rPr>
              <a:t xml:space="preserve"> = </a:t>
            </a:r>
            <a:r>
              <a:rPr lang="zh-CN" sz="1050">
                <a:solidFill>
                  <a:srgbClr val="06B6D4"/>
                </a:solidFill>
                <a:latin typeface="Space Grotesk"/>
                <a:ea typeface="Space Grotesk"/>
              </a:rPr>
              <a:t>低空感知网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30 / 41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84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应用 · 工业 FACTORY&lt;/Text&gt;&#10;&lt;/Box&gt;&#10;&lt;Text style={{ fontSize:34, fontWeight:'bold', color:'#0F172A', fontFamily:&quot;'Source Han Sans SC','Noto Sans SC','Microsoft YaHei',sans-serif&quot;, marginBottom:16 }}&gt;智慧工厂 / 工业物联网与人机交互&lt;/Text&gt;&#10;&lt;Box style={{ height:'540px', flexDirection:'column' }}&gt;&#10;&lt;Box style={{ flexDirection:'column', gap:16, height:'540px' }}&gt;&#10;  &lt;Box style={{ width:'1136px', height:'288px', borderRadius:16, position:'relative', boxShadow:'0 12px 32px rgba(15,23,42,0.18)' }}&gt;&#10;  &lt;Image src='assets/app_factory.png' style={{ width:'100%', height:'100%', objectFit:'cover', borderRadius:16 }} /&gt;&#10;  &lt;Box style={{ position:'absolute', left:0, right:0, bottom:0, height:54, borderBottomLeftRadius:16, borderBottomRightRadius:16, background:'linear-gradient(180deg, rgba(15,23,42,0) 0%, rgba(15,23,42,0.92) 100%)' }}&gt;&lt;/Box&gt;&#10;&lt;/Box&gt;&#10;  &lt;Box style={{ flexDirection:'row', gap:16, height:216 }}&gt;&#10;&lt;Box style={{ flex:1, background:'#FFFFFF', borderRadius:14, border:'1px solid #E6EBF2', boxShadow:'0 4px 18px rgba(15,23,42,0.06)', padding:20, flexDirection:'column' }}&gt;&#10;  &lt;Box style={{ width:46, height:46, borderRadius:12, background:'rgba(37,99,235,0.10)', justifyContent:'center', alignItems:'center', marginBottom:12 }}&gt;&#10;    &lt;FAIcon name='map-pin' style={{ fill:'#2563EB', width:24, height:24 }} /&gt;&#10;  &lt;/Box&gt;&#10;  &lt;Text style={{ fontSize:19, fontWeight:'bold', color:'#0F172A', fontFamily:&quot;'Source Han Sans SC','Noto Sans SC','Microsoft YaHei',sans-serif&quot;, marginBottom:8 }}&gt;工业高精定位&lt;/Text&gt;&#10;  &lt;Text style={{ fontSize:15, color:'#64748B', lineHeight:1.55, fontFamily:&quot;'Source Han Sans SC','Noto Sans SC','Microsoft YaHei',sans-serif&quot; }}&gt;物料、AGV、刀具的厘米级实时定位，摆脱对有线布线与额外定位卡的依赖。&lt;/Text&gt;&#10;&lt;/Box&gt;&#10;&lt;Box style={{ flex:1, background:'#FFFFFF', borderRadius:14, border:'1px solid #E6EBF2', boxShadow:'0 4px 18px rgba(15,23,42,0.06)', padding:20, flexDirection:'column' }}&gt;&#10;  &lt;Box style={{ width:46, height:46, borderRadius:12, background:'rgba(37,99,235,0.10)', justifyContent:'center', alignItems:'center', marginBottom:12 }}&gt;&#10;    &lt;FAIcon name='hand-back-fist' style={{ fill:'#2563EB', width:24, height:24 }} /&gt;&#10;  &lt;/Box&gt;&#10;  &lt;Text style={{ fontSize:19, fontWeight:'bold', color:'#0F172A', fontFamily:&quot;'Source Han Sans SC','Noto Sans SC','Microsoft YaHei',sans-serif&quot;, marginBottom:8 }}&gt;手势 / 人机交互&lt;/Text&gt;&#10;  &lt;Text style={{ fontSize:15, color:'#64748B', lineHeight:1.55, fontFamily:&quot;'Source Han Sans SC','Noto Sans SC','Microsoft YaHei',sans-serif&quot; }}&gt;无需穿戴设备即可识别手势与人员存在，让装配线交互更自然、更安全。&lt;/Text&gt;&#10;&lt;/Box&gt;&#10;&lt;Box style={{ flex:1, background:'#FFFFFF', borderRadius:14, border:'1px solid #E6EBF2', boxShadow:'0 4px 18px rgba(15,23,42,0.06)', padding:20, flexDirection:'column' }}&gt;&#10;  &lt;Box style={{ width:46, height:46, borderRadius:12, background:'rgba(37,99,235,0.10)', justifyContent:'center', alignItems:'center', marginBottom:12 }}&gt;&#10;    &lt;FAIcon name='cubes' style={{ fill:'#2563EB', width:24, height:24 }} /&gt;&#10;  &lt;/Box&gt;&#10;  &lt;Text style={{ fontSize:19, fontWeight:'bold', color:'#0F172A', fontFamily:&quot;'Source Han Sans SC','Noto Sans SC','Microsoft YaHei',sans-serif&quot;, marginBottom:8 }}&gt;数字孪生&lt;/Text&gt;&#10;  &lt;Text style={{ fontSize:15, color:'#64748B', lineHeight:1.55, fontFamily:&quot;'Source Han Sans SC','Noto Sans SC','Microsoft YaHei',sans-serif&quot; }}&gt;感知数据实时驱动产线数字孪生，支撑柔性制造、预测性维护与质量追溯。&lt;/Text&gt;&#10;&lt;/Box&gt;&#10;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31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86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应用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· </a:t>
            </a: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工业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FACTORY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智慧工厂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工业物联网与人机交互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685800" y="3952875"/>
            <a:ext cx="3505200" cy="205740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90" name=""/>
          <p:cNvSpPr/>
          <p:nvPr/>
        </p:nvSpPr>
        <p:spPr>
          <a:xfrm rot="0" flipH="0" flipV="0">
            <a:off x="876300" y="41433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5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4248150"/>
            <a:ext cx="228600" cy="228600"/>
          </a:xfrm>
          <a:prstGeom prst="rect">
            <a:avLst/>
          </a:prstGeom>
          <a:ln/>
        </p:spPr>
      </p:pic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76300" y="4695825"/>
            <a:ext cx="312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SC"/>
                <a:ea typeface="Source Han Sans SC"/>
              </a:rPr>
              <a:t>工业高精定位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76300" y="4991100"/>
            <a:ext cx="3124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物料、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AGV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、刀具的厘米级实时定位，摆脱对有线布线与额外定位卡的依赖。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4343400" y="3952875"/>
            <a:ext cx="3505200" cy="205740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95" name=""/>
          <p:cNvSpPr/>
          <p:nvPr/>
        </p:nvSpPr>
        <p:spPr>
          <a:xfrm rot="0" flipH="0" flipV="0">
            <a:off x="4533900" y="41433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5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38675" y="4248150"/>
            <a:ext cx="228600" cy="228600"/>
          </a:xfrm>
          <a:prstGeom prst="rect">
            <a:avLst/>
          </a:prstGeom>
          <a:ln/>
        </p:spPr>
      </p:pic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4533900" y="4695825"/>
            <a:ext cx="312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SC"/>
                <a:ea typeface="Source Han Sans SC"/>
              </a:rPr>
              <a:t>手势</a:t>
            </a:r>
            <a:r>
              <a:rPr lang="en-US" sz="1425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425" b="1">
                <a:solidFill>
                  <a:srgbClr val="0F172A"/>
                </a:solidFill>
                <a:latin typeface="Source Han Sans SC"/>
                <a:ea typeface="Source Han Sans SC"/>
              </a:rPr>
              <a:t>人机交互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4533900" y="4991100"/>
            <a:ext cx="3124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无需穿戴设备即可识别手势与人员存在，让装配线交互更自然、更安全。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8001000" y="3952875"/>
            <a:ext cx="3505200" cy="205740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8191500" y="41433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6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96275" y="4248150"/>
            <a:ext cx="228600" cy="228600"/>
          </a:xfrm>
          <a:prstGeom prst="rect">
            <a:avLst/>
          </a:prstGeom>
          <a:ln/>
        </p:spPr>
      </p:pic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8191500" y="4695825"/>
            <a:ext cx="3124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Source Han Sans SC"/>
                <a:ea typeface="Source Han Sans SC"/>
              </a:rPr>
              <a:t>数字孪生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191500" y="4991100"/>
            <a:ext cx="3124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感知数据实时驱动产线数字孪生，支撑柔性制造、预测性维护与质量追溯。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85800" y="1057275"/>
            <a:ext cx="10820400" cy="2743200"/>
          </a:xfrm>
          <a:prstGeom prst="roundRect">
            <a:avLst>
              <a:gd name="adj" fmla="val 5556"/>
            </a:avLst>
          </a:prstGeom>
          <a:ln/>
          <a:effectLst>
            <a:outerShdw blurRad="304800" dist="114300" dir="5400000">
              <a:srgbClr val="0F172A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605" name=""/>
          <p:cNvPicPr>
            <a:picLocks noChangeAspect="1"/>
          </p:cNvPicPr>
          <p:nvPr/>
        </p:nvPicPr>
        <p:blipFill>
          <a:blip r:embed="rId4"/>
          <a:srcRect l="0" t="30985" r="0" b="30985"/>
          <a:stretch>
            <a:fillRect/>
          </a:stretch>
        </p:blipFill>
        <p:spPr>
          <a:xfrm rot="0" flipH="0" flipV="0">
            <a:off x="685800" y="1057275"/>
            <a:ext cx="10820400" cy="2743200"/>
          </a:xfrm>
          <a:prstGeom prst="roundRect">
            <a:avLst>
              <a:gd name="adj" fmla="val 5556"/>
            </a:avLst>
          </a:prstGeom>
          <a:ln/>
        </p:spPr>
      </p:pic>
      <p:sp>
        <p:nvSpPr>
          <p:cNvPr id="606" name=""/>
          <p:cNvSpPr/>
          <p:nvPr/>
        </p:nvSpPr>
        <p:spPr>
          <a:xfrm rot="0" flipH="0" flipV="0">
            <a:off x="685800" y="3286125"/>
            <a:ext cx="10820400" cy="514350"/>
          </a:xfrm>
          <a:custGeom>
            <a:pathLst>
              <a:path w="1136" h="54">
                <a:moveTo>
                  <a:pt x="0" y="0"/>
                </a:moveTo>
                <a:lnTo>
                  <a:pt x="1136" y="0"/>
                </a:lnTo>
                <a:lnTo>
                  <a:pt x="1136" y="0"/>
                </a:lnTo>
                <a:lnTo>
                  <a:pt x="1136" y="38"/>
                </a:lnTo>
                <a:cubicBezTo>
                  <a:pt x="1136" y="47"/>
                  <a:pt x="1129" y="54"/>
                  <a:pt x="1120" y="54"/>
                </a:cubicBezTo>
                <a:lnTo>
                  <a:pt x="16" y="54"/>
                </a:lnTo>
                <a:cubicBezTo>
                  <a:pt x="7" y="54"/>
                  <a:pt x="0" y="47"/>
                  <a:pt x="0" y="38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9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07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31 / 41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611" name="" descr="&lt;Slide style={{ width:'1280px', height:'720px', background:'#0F172A', padding:'0 72px', position:'relative', display:'flex', flexDirection:'column', justifyContent:'center', overflow:'hidden' }}&gt;&#10;  &lt;Box style={{ position:'absolute', right:-140, top:-140, width:520, height:520, borderRadius:260, background:'rgba(6,182,212,0.12)' }}&gt;&lt;/Box&gt;&#10;  &lt;Box style={{ position:'absolute', right:-40, top:-40, width:340, height:340, borderRadius:170, border:'1px solid rgba(6,182,212,0.25)' }}&gt;&lt;/Box&gt;&#10;  &lt;Box style={{ position:'absolute', left:-180, bottom:-180, width:480, height:480, borderRadius:240, background:'rgba(37,99,235,0.14)' }}&gt;&lt;/Box&gt;&#10;  &lt;Box style={{ flexDirection:'row', alignItems:'center', gap:28, position:'relative', zIndex:1 }}&gt;&#10;    &lt;Text style={{ fontSize:150, fontWeight:'bold', fontFamily:&quot;'Space Grotesk','Inter','Segoe UI',sans-serif&quot;, color:'rgba(255,255,255,0.07)', lineHeight:1 }}&gt;09&lt;/Text&gt;&#10;    &lt;Box&gt;&#10;      &lt;Box style={{ width:56, height:6, borderRadius:3, background:'linear-gradient(90deg, #2563EB, #06B6D4)', marginBottom:20 }}&gt;&lt;/Box&gt;&#10;      &lt;Text style={{ fontSize:54, fontWeight:'bold', color:'#FFFFFF', fontFamily:&quot;'Source Han Sans SC','Noto Sans SC','Microsoft YaHei',sans-serif&quot;, marginBottom:14 }}&gt;标准化、挑战与开放问题&lt;/Text&gt;&#10;      &lt;Text style={{ fontSize:20, color:'#06B6D4', fontFamily:&quot;'Source Han Sans SC','Noto Sans SC','Microsoft YaHei',sans-serif&quot; }}&gt;3GPP 进展 · 关键技术挑战 · 开放研究问题&lt;/Text&gt;&#10;    &lt;/Box&gt;&#10;  &lt;/Box&gt;&#10;  &lt;Text style={{ position:'absolute', right:72, bottom:34, fontSize:13, color:'rgba(226,232,240,0.5)', fontFamily:&quot;'Space Grotesk','Inter','Segoe UI',sans-serif&quot; }}&gt;32 / 41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13" name=""/>
          <p:cNvSpPr/>
          <p:nvPr/>
        </p:nvSpPr>
        <p:spPr>
          <a:xfrm rot="0" flipH="0" flipV="0">
            <a:off x="8572500" y="-1333500"/>
            <a:ext cx="4953000" cy="4953000"/>
          </a:xfrm>
          <a:custGeom>
            <a:pathLst>
              <a:path w="520" h="520">
                <a:moveTo>
                  <a:pt x="380" y="491"/>
                </a:move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380" y="140"/>
                </a:lnTo>
                <a:close/>
              </a:path>
            </a:pathLst>
          </a:cu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614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281" y="41"/>
                </a:moveTo>
                <a:cubicBezTo>
                  <a:pt x="288" y="47"/>
                  <a:pt x="294" y="54"/>
                  <a:pt x="300" y="61"/>
                </a:cubicBezTo>
                <a:lnTo>
                  <a:pt x="300" y="279"/>
                </a:lnTo>
                <a:cubicBezTo>
                  <a:pt x="259" y="329"/>
                  <a:pt x="193" y="350"/>
                  <a:pt x="131" y="335"/>
                </a:cubicBezTo>
                <a:cubicBezTo>
                  <a:pt x="68" y="321"/>
                  <a:pt x="19" y="272"/>
                  <a:pt x="5" y="209"/>
                </a:cubicBezTo>
                <a:cubicBezTo>
                  <a:pt x="-10" y="147"/>
                  <a:pt x="11" y="81"/>
                  <a:pt x="61" y="40"/>
                </a:cubicBezTo>
                <a:lnTo>
                  <a:pt x="279" y="40"/>
                </a:lnTo>
                <a:close/>
              </a:path>
            </a:pathLst>
          </a:custGeom>
          <a:ln/>
        </p:spPr>
        <p:txBody>
          <a:bodyPr/>
          <a:p/>
        </p:txBody>
      </p:sp>
      <p:sp>
        <p:nvSpPr>
          <p:cNvPr id="615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59" y="42"/>
                </a:moveTo>
                <a:cubicBezTo>
                  <a:pt x="5" y="91"/>
                  <a:pt x="-12" y="169"/>
                  <a:pt x="16" y="236"/>
                </a:cubicBezTo>
                <a:cubicBezTo>
                  <a:pt x="45" y="304"/>
                  <a:pt x="114" y="345"/>
                  <a:pt x="186" y="339"/>
                </a:cubicBezTo>
                <a:cubicBezTo>
                  <a:pt x="112" y="347"/>
                  <a:pt x="42" y="305"/>
                  <a:pt x="13" y="236"/>
                </a:cubicBezTo>
                <a:cubicBezTo>
                  <a:pt x="-15" y="167"/>
                  <a:pt x="4" y="87"/>
                  <a:pt x="62" y="40"/>
                </a:cubicBezTo>
                <a:close/>
                <a:moveTo>
                  <a:pt x="281" y="41"/>
                </a:moveTo>
                <a:cubicBezTo>
                  <a:pt x="288" y="47"/>
                  <a:pt x="295" y="54"/>
                  <a:pt x="300" y="62"/>
                </a:cubicBezTo>
                <a:cubicBezTo>
                  <a:pt x="293" y="55"/>
                  <a:pt x="286" y="47"/>
                  <a:pt x="279" y="40"/>
                </a:cubicBezTo>
                <a:close/>
              </a:path>
            </a:pathLst>
          </a:custGeom>
          <a:solidFill>
            <a:srgbClr val="06B6D4">
              <a:alpha val="25000"/>
            </a:srgbClr>
          </a:solidFill>
        </p:spPr>
        <p:txBody>
          <a:bodyPr/>
          <a:p/>
        </p:txBody>
      </p:sp>
      <p:sp>
        <p:nvSpPr>
          <p:cNvPr id="616" name=""/>
          <p:cNvSpPr/>
          <p:nvPr/>
        </p:nvSpPr>
        <p:spPr>
          <a:xfrm rot="0" flipH="0" flipV="0">
            <a:off x="-1714500" y="400050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2" y="300"/>
                </a:lnTo>
                <a:lnTo>
                  <a:pt x="180" y="300"/>
                </a:lnTo>
                <a:lnTo>
                  <a:pt x="180" y="8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solidFill>
            <a:srgbClr val="2563EB">
              <a:alpha val="14000"/>
            </a:srgbClr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11115675" y="63817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>
                    <a:alpha val="50000"/>
                  </a:srgbClr>
                </a:solidFill>
                <a:latin typeface="Space Grotesk"/>
                <a:ea typeface="Space Grotesk"/>
              </a:rPr>
              <a:t>32 / 41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1647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7000"/>
                  </a:srgbClr>
                </a:solidFill>
                <a:latin typeface="Space Grotesk"/>
                <a:ea typeface="Space Grotesk"/>
              </a:rPr>
              <a:t>09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2600325" y="2819400"/>
            <a:ext cx="533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2600325" y="3067050"/>
            <a:ext cx="565785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Source Han Sans SC"/>
                <a:ea typeface="Source Han Sans SC"/>
              </a:rPr>
              <a:t>标准化、挑战与开放问题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2600325" y="3819525"/>
            <a:ext cx="5657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3GPP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进展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关键技术挑战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开放研究问题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2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标准化 STANDARDIZATION&lt;/Text&gt;&#10;&lt;/Box&gt;&#10;&lt;Text style={{ fontSize:34, fontWeight:'bold', color:'#0F172A', fontFamily:&quot;'Source Han Sans SC','Noto Sans SC','Microsoft YaHei',sans-serif&quot;, marginBottom:16 }}&gt;3GPP 通感标准化进展（Rel-19/20）&lt;/Text&gt;&#10;&lt;Box style={{ height:'540px', flexDirection:'column' }}&gt;&#10;&lt;Box style={{ flexDirection:'row', gap:24, height:'540px' }}&gt;&#10;  &lt;Box style={{ width:320, background:'linear-gradient(160deg, #0F172A 0%, #182338 100%)', borderRadius:16, padding:24, flexDirection:'column', justifyContent:'space-between' }}&gt;&#10;    &lt;Box&gt;&#10;      &lt;Box style={{ width:52, height:52, borderRadius:14, background:'rgba(6,182,212,0.18)', justifyContent:'center', alignItems:'center', marginBottom:18 }}&gt;&lt;FAIcon name='file-lines' style={{ fill:'#06B6D4', width:28, height:28 }} /&gt;&lt;/Box&gt;&#10;      &lt;Text style={{ fontSize:25, fontWeight:'bold', color:'#FFFFFF', lineHeight:1.35, fontFamily:&quot;'Source Han Sans SC','Noto Sans SC','Microsoft YaHei',sans-serif&quot;, marginBottom:14 }}&gt;从研究&lt;br/&gt;走向可商用&lt;/Text&gt;&#10;      &lt;Text style={{ fontSize:15, color:'#E2E8F0', lineHeight:1.7, fontFamily:&quot;'Source Han Sans SC','Noto Sans SC','Microsoft YaHei',sans-serif&quot; }}&gt;通感一体化正从学术研究与仿真验证，进入 3GPP 标准化轨道，是 6G 首批候选能力之一。&lt;/Text&gt;&#10;    &lt;/Box&gt;&#10;    &lt;Box style={{ height:6, width:60, borderRadius:3, background:'linear-gradient(90deg, #2563EB, #06B6D4)' }}&gt;&lt;/Box&gt;&#10;  &lt;/Box&gt;&#10;  &lt;Box style={{ flex:1, flexDirection:'column', gap:14, justifyContent:'space-between' }}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flag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Rel-19：启动研究&lt;/Text&gt;&#10;    &lt;Text style={{ fontSize:15, color:'#64748B', lineHeight:1.5, fontFamily:&quot;'Source Han Sans SC','Noto Sans SC','Microsoft YaHei',sans-serif&quot; }}&gt;开展通感一体化 SI / WI，明确用例、频段候选与初步性能指标，奠定标准基线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list-check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Rel-20：感知立项深化&lt;/Text&gt;&#10;    &lt;Text style={{ fontSize:15, color:'#64748B', lineHeight:1.5, fontFamily:&quot;'Source Han Sans SC','Noto Sans SC','Microsoft YaHei',sans-serif&quot; }}&gt;细化感知用例（车联、低空、工业）、参考信号与测量机制，推进端到端方案设计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tower-broadcast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频谱与部署&lt;/Text&gt;&#10;    &lt;Text style={{ fontSize:15, color:'#64748B', lineHeight:1.5, fontFamily:&quot;'Source Han Sans SC','Noto Sans SC','Microsoft YaHei',sans-serif&quot; }}&gt;围绕 6GHz 以上及新频段讨论感知-通信频谱共享与干扰协调，兼顾 incumbent 雷达保护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users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用例组与产业协同&lt;/Text&gt;&#10;    &lt;Text style={{ fontSize:15, color:'#64748B', lineHeight:1.5, fontFamily:&quot;'Source Han Sans SC','Noto Sans SC','Microsoft YaHei',sans-serif&quot; }}&gt;以车联网、低空经济、工业物联网为牵引，运营商、设备商、芯片与整车厂协同推进。&lt;/Text&gt;&#10;  &lt;/Box&gt;&#10;&lt;/Box&gt;&#10;  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33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2200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标准化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STANDARDIZATION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3GPP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通感标准化进展（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>Rel-19/20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85800" y="1057275"/>
            <a:ext cx="3048000" cy="51435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914400" y="12858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p/>
        </p:txBody>
      </p:sp>
      <p:pic>
        <p:nvPicPr>
          <p:cNvPr id="6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" y="1400175"/>
            <a:ext cx="266700" cy="266700"/>
          </a:xfrm>
          <a:prstGeom prst="rect">
            <a:avLst/>
          </a:prstGeom>
          <a:ln/>
        </p:spPr>
      </p:pic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914400" y="1952625"/>
            <a:ext cx="2590800" cy="771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Source Han Sans SC"/>
                <a:ea typeface="Source Han Sans SC"/>
              </a:rPr>
              <a:t>从研究</a:t>
            </a:r>
            <a:endParaRPr/>
          </a:p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Source Han Sans SC"/>
                <a:ea typeface="Source Han Sans SC"/>
              </a:rPr>
              <a:t>走向可商用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914400" y="2857500"/>
            <a:ext cx="25908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通感一体化正从学术研究与仿真验证，进入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3GPP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标准化轨道，是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6G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首批候选能力之一。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914400" y="5915025"/>
            <a:ext cx="5715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33" name=""/>
          <p:cNvSpPr/>
          <p:nvPr/>
        </p:nvSpPr>
        <p:spPr>
          <a:xfrm rot="0" flipH="0" flipV="0">
            <a:off x="3962400" y="1057275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4114800" y="11715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6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10050" y="1266825"/>
            <a:ext cx="190500" cy="190500"/>
          </a:xfrm>
          <a:prstGeom prst="rect">
            <a:avLst/>
          </a:prstGeom>
          <a:ln/>
        </p:spPr>
      </p:pic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4629150" y="117157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Source Han Sans SC"/>
                <a:ea typeface="Source Han Sans SC"/>
              </a:rPr>
              <a:t>Rel-19</a:t>
            </a: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：启动研究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4629150" y="1400175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开展通感一体化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SI / WI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，明确用例、频段候选与初步性能指标，奠定标准基线。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3962400" y="2533650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39" name=""/>
          <p:cNvSpPr/>
          <p:nvPr/>
        </p:nvSpPr>
        <p:spPr>
          <a:xfrm rot="0" flipH="0" flipV="0">
            <a:off x="4114800" y="26479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6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210050" y="2743200"/>
            <a:ext cx="190500" cy="190500"/>
          </a:xfrm>
          <a:prstGeom prst="rect">
            <a:avLst/>
          </a:prstGeom>
          <a:ln/>
        </p:spPr>
      </p:pic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4629150" y="2647950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Source Han Sans SC"/>
                <a:ea typeface="Source Han Sans SC"/>
              </a:rPr>
              <a:t>Rel-20</a:t>
            </a: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：感知立项深化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4629150" y="2876550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细化感知用例（车联、低空、工业）、参考信号与测量机制，推进端到端方案设计。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3962400" y="4010025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44" name=""/>
          <p:cNvSpPr/>
          <p:nvPr/>
        </p:nvSpPr>
        <p:spPr>
          <a:xfrm rot="0" flipH="0" flipV="0">
            <a:off x="4114800" y="41243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6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210050" y="4219575"/>
            <a:ext cx="190500" cy="190500"/>
          </a:xfrm>
          <a:prstGeom prst="rect">
            <a:avLst/>
          </a:prstGeom>
          <a:ln/>
        </p:spPr>
      </p:pic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4629150" y="412432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频谱与部署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4629150" y="4352925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围绕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6GHz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以上及新频段讨论感知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-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通信频谱共享与干扰协调，兼顾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incumbent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雷达保护。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3962400" y="5486400"/>
            <a:ext cx="75438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649" name=""/>
          <p:cNvSpPr/>
          <p:nvPr/>
        </p:nvSpPr>
        <p:spPr>
          <a:xfrm rot="0" flipH="0" flipV="0">
            <a:off x="4114800" y="56007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6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210050" y="5695950"/>
            <a:ext cx="190500" cy="190500"/>
          </a:xfrm>
          <a:prstGeom prst="rect">
            <a:avLst/>
          </a:prstGeom>
          <a:ln/>
        </p:spPr>
      </p:pic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4629150" y="5600700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用例组与产业协同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4629150" y="5829300"/>
            <a:ext cx="6724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以车联网、低空经济、工业物联网为牵引，运营商、设备商、芯片与整车厂协同推进。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33 / 41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57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挑战 CHALLENGES&lt;/Text&gt;&#10;&lt;/Box&gt;&#10;&lt;Text style={{ fontSize:34, fontWeight:'bold', color:'#0F172A', fontFamily:&quot;'Source Han Sans SC','Noto Sans SC','Microsoft YaHei',sans-serif&quot;, marginBottom:16 }}&gt;关键技术挑战与开放问题&lt;/Text&gt;&#10;&lt;Box style={{ height:'540px', flexDirection:'column' }}&gt;&#10;&lt;Box style={{ flexDirection:'row', gap:16, justifyContent:'space-between', height:252, marginBottom:16 }}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tower-broadcast' style={{ fill:'#2563EB', width:20, height:20 }} /&gt;&#10;    &lt;/Box&gt;&#10;    &lt;Text style={{ fontSize:18, fontWeight:'bold', color:'#0F172A', fontFamily:&quot;'Source Han Sans SC','Noto Sans SC','Microsoft YaHei',sans-serif&quot; }}&gt;干扰管理&lt;/Text&gt;&#10;  &lt;/Box&gt;&#10;  &lt;Text style={{ fontSize:14, color:'#64748B', lineHeight:1.55, fontFamily:&quot;'Source Han Sans SC','Noto Sans SC','Microsoft YaHei',sans-serif&quot; }}&gt;通信与感知、感知与感知之间的同频干扰复杂，需新的协调与对消机制。&lt;/Text&gt;&#10;&lt;/Box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arrows-rotate' style={{ fill:'#2563EB', width:20, height:20 }} /&gt;&#10;    &lt;/Box&gt;&#10;    &lt;Text style={{ fontSize:18, fontWeight:'bold', color:'#0F172A', fontFamily:&quot;'Source Han Sans SC','Noto Sans SC','Microsoft YaHei',sans-serif&quot; }}&gt;全双工自干扰&lt;/Text&gt;&#10;  &lt;/Box&gt;&#10;  &lt;Text style={{ fontSize:14, color:'#64748B', lineHeight:1.55, fontFamily:&quot;'Source Han Sans SC','Noto Sans SC','Microsoft YaHei',sans-serif&quot; }}&gt;同频同时收发的强自干扰抑制，是一体化规模商用的硬门槛。&lt;/Text&gt;&#10;&lt;/Box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shield-halved' style={{ fill:'#2563EB', width:20, height:20 }} /&gt;&#10;    &lt;/Box&gt;&#10;    &lt;Text style={{ fontSize:18, fontWeight:'bold', color:'#0F172A', fontFamily:&quot;'Source Han Sans SC','Noto Sans SC','Microsoft YaHei',sans-serif&quot; }}&gt;隐私与安全&lt;/Text&gt;&#10;  &lt;/Box&gt;&#10;  &lt;Text style={{ fontSize:14, color:'#64748B', lineHeight:1.55, fontFamily:&quot;'Source Han Sans SC','Noto Sans SC','Microsoft YaHei',sans-serif&quot; }}&gt;感知能力可能暴露位置与轨迹，需隐私保护与防欺骗、抗干扰设计。&lt;/Text&gt;&#10;&lt;/Box&gt;&lt;/Box&gt;&#10;&lt;Box style={{ flexDirection:'row', gap:16, justifyContent:'space-between', height:252, marginBottom:16 }}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microchip' style={{ fill:'#2563EB', width:20, height:20 }} /&gt;&#10;    &lt;/Box&gt;&#10;    &lt;Text style={{ fontSize:18, fontWeight:'bold', color:'#0F172A', fontFamily:&quot;'Source Han Sans SC','Noto Sans SC','Microsoft YaHei',sans-serif&quot; }}&gt;硬件非理想性&lt;/Text&gt;&#10;  &lt;/Box&gt;&#10;  &lt;Text style={{ fontSize:14, color:'#64748B', lineHeight:1.55, fontFamily:&quot;'Source Han Sans SC','Noto Sans SC','Microsoft YaHei',sans-serif&quot; }}&gt;功放非线性、相位噪声、IQ 不平衡会同时劣化通信与感知性能。&lt;/Text&gt;&#10;&lt;/Box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wave-square' style={{ fill:'#2563EB', width:20, height:20 }} /&gt;&#10;    &lt;/Box&gt;&#10;    &lt;Text style={{ fontSize:18, fontWeight:'bold', color:'#0F172A', fontFamily:&quot;'Source Han Sans SC','Noto Sans SC','Microsoft YaHei',sans-serif&quot; }}&gt;波形统一矛盾&lt;/Text&gt;&#10;  &lt;/Box&gt;&#10;  &lt;Text style={{ fontSize:14, color:'#64748B', lineHeight:1.55, fontFamily:&quot;'Source Han Sans SC','Noto Sans SC','Microsoft YaHei',sans-serif&quot; }}&gt;通信要随机性、感知要确定性，单一波形难以两全，需精巧的联合设计。&lt;/Text&gt;&#10;&lt;/Box&gt;&lt;Box style={{ width:352, background:'#FFFFFF', borderRadius:14, border:'1px solid #E6EBF2', boxShadow:'0 4px 18px rgba(15,23,42,0.06)', padding:18, flexDirection:'column' }}&gt;&#10;  &lt;Box style={{ flexDirection:'row', alignItems:'center', gap:10, marginBottom:10 }}&gt;&#10;    &lt;Box style={{ width:38, height:38, borderRadius:10, background:'rgba(37,99,235,0.10)', justifyContent:'center', alignItems:'center' }}&gt;&#10;      &lt;FAIcon name='diagram-project' style={{ fill:'#2563EB', width:20, height:20 }} /&gt;&#10;    &lt;/Box&gt;&#10;    &lt;Text style={{ fontSize:18, fontWeight:'bold', color:'#0F172A', fontFamily:&quot;'Source Han Sans SC','Noto Sans SC','Microsoft YaHei',sans-serif&quot; }}&gt;跨域协议&lt;/Text&gt;&#10;  &lt;/Box&gt;&#10;  &lt;Text style={{ fontSize:14, color:'#64748B', lineHeight:1.55, fontFamily:&quot;'Source Han Sans SC','Noto Sans SC','Microsoft YaHei',sans-serif&quot; }}&gt;网络层如何上报/请求感知服务、如何计费与 QoS，协议与架构尚待标准化。&lt;/Text&gt;&#10;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34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59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466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挑战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CHALLENGES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关键技术挑战与开放问题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85800" y="10572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63" name=""/>
          <p:cNvSpPr/>
          <p:nvPr/>
        </p:nvSpPr>
        <p:spPr>
          <a:xfrm rot="0" flipH="0" flipV="0">
            <a:off x="857250" y="12287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6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42975" y="1314450"/>
            <a:ext cx="190500" cy="190500"/>
          </a:xfrm>
          <a:prstGeom prst="rect">
            <a:avLst/>
          </a:prstGeom>
          <a:ln/>
        </p:spPr>
      </p:pic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314450" y="13049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干扰管理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857250" y="16859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通信与感知、感知与感知之间的同频干扰复杂，需新的协调与对消机制。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4419600" y="10572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68" name=""/>
          <p:cNvSpPr/>
          <p:nvPr/>
        </p:nvSpPr>
        <p:spPr>
          <a:xfrm rot="0" flipH="0" flipV="0">
            <a:off x="4591050" y="12287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6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76775" y="1314450"/>
            <a:ext cx="190500" cy="190500"/>
          </a:xfrm>
          <a:prstGeom prst="rect">
            <a:avLst/>
          </a:prstGeom>
          <a:ln/>
        </p:spPr>
      </p:pic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5048250" y="13049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全双工自干扰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4591050" y="16859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同频同时收发的强自干扰抑制，是一体化规模商用的硬门槛。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8153400" y="10572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73" name=""/>
          <p:cNvSpPr/>
          <p:nvPr/>
        </p:nvSpPr>
        <p:spPr>
          <a:xfrm rot="0" flipH="0" flipV="0">
            <a:off x="8324850" y="12287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6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10575" y="1314450"/>
            <a:ext cx="190500" cy="190500"/>
          </a:xfrm>
          <a:prstGeom prst="rect">
            <a:avLst/>
          </a:prstGeom>
          <a:ln/>
        </p:spPr>
      </p:pic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8782050" y="13049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隐私与安全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8324850" y="16859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感知能力可能暴露位置与轨迹，需隐私保护与防欺骗、抗干扰设计。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685800" y="36099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78" name=""/>
          <p:cNvSpPr/>
          <p:nvPr/>
        </p:nvSpPr>
        <p:spPr>
          <a:xfrm rot="0" flipH="0" flipV="0">
            <a:off x="857250" y="37814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6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42975" y="3867150"/>
            <a:ext cx="190500" cy="190500"/>
          </a:xfrm>
          <a:prstGeom prst="rect">
            <a:avLst/>
          </a:prstGeom>
          <a:ln/>
        </p:spPr>
      </p:pic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1314450" y="38576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硬件非理想性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57250" y="42386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功放非线性、相位噪声、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IQ 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不平衡会同时劣化通信与感知性能。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4419600" y="36099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83" name=""/>
          <p:cNvSpPr/>
          <p:nvPr/>
        </p:nvSpPr>
        <p:spPr>
          <a:xfrm rot="0" flipH="0" flipV="0">
            <a:off x="4591050" y="37814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6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676775" y="3867150"/>
            <a:ext cx="190500" cy="190500"/>
          </a:xfrm>
          <a:prstGeom prst="rect">
            <a:avLst/>
          </a:prstGeom>
          <a:ln/>
        </p:spPr>
      </p:pic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5048250" y="38576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波形统一矛盾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4591050" y="42386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通信要随机性、感知要确定性，单一波形难以两全，需精巧的联合设计。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8153400" y="3609975"/>
            <a:ext cx="3352800" cy="2400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171450" dist="38100" dir="5400000">
              <a:srgbClr val="0F172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8324850" y="37814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6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410575" y="3867150"/>
            <a:ext cx="190500" cy="190500"/>
          </a:xfrm>
          <a:prstGeom prst="rect">
            <a:avLst/>
          </a:prstGeom>
          <a:ln/>
        </p:spPr>
      </p:pic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8782050" y="38576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Source Han Sans SC"/>
                <a:ea typeface="Source Han Sans SC"/>
              </a:rPr>
              <a:t>跨域协议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8324850" y="4238625"/>
            <a:ext cx="3009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网络层如何上报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>/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请求感知服务、如何计费与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QoS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，协议与架构尚待标准化。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34 / 41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96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新范式 NEW PARADIGM&lt;/Text&gt;&#10;&lt;/Box&gt;&#10;&lt;Text style={{ fontSize:34, fontWeight:'bold', color:'#0F172A', fontFamily:&quot;'Source Han Sans SC','Noto Sans SC','Microsoft YaHei',sans-serif&quot;, marginBottom:16 }}&gt;感知辅助通信：从「一体」到「互益」&lt;/Text&gt;&#10;&lt;Box style={{ height:'540px', flexDirection:'column' }}&gt;&#10;&lt;Box style={{ flexDirection:'row', gap:24, height:'540px', alignItems:'stretch' }}&gt;&lt;Box style={{ flex:1.5, alignItems:'center', justifyContent:'center' }}&gt;&lt;svg width={600} height={360} viewBox='0 0 600 360'&gt;&#10;  &lt;defs&gt;&lt;marker id='ar' markerWidth='10' markerHeight='10' refX='8' refY='4' orient='auto'&gt;&lt;path d='M0 0 L8 4 L0 8 z' fill='#64748B'/&gt;&lt;/marker&gt;&lt;/defs&gt;&#10;  &lt;rect x='40' y='40' width='200' height='64' rx='12' fill='#FFFFFF' stroke='#06B6D4' strokeWidth='2'/&gt;&#10;  &lt;text x='140' y='66' text-anchor='middle' fill='#06B6D4' font-size='15' font-weight='700' font-family='sans-serif'&gt;感知环境&lt;/text&gt;&#10;  &lt;text x='140' y='88' text-anchor='middle' fill='#64748B' font-size='12' font-family='sans-serif'&gt;检测 / 测距 / 测角&lt;/text&gt;&#10;  &lt;rect x='360' y='40' width='200' height='64' rx='12' fill='#FFFFFF' stroke='#2563EB' strokeWidth='2'/&gt;&#10;  &lt;text x='460' y='66' text-anchor='middle' fill='#2563EB' font-size='15' font-weight='700' font-family='sans-serif'&gt;参数估计&lt;/text&gt;&#10;  &lt;text x='460' y='88' text-anchor='middle' fill='#64748B' font-size='12' font-family='sans-serif'&gt;目标位置 / 速度 / 信道&lt;/text&gt;&#10;  &lt;rect x='360' y='230' width='200' height='64' rx='12' fill='#FFFFFF' stroke='#2563EB' strokeWidth='2'/&gt;&#10;  &lt;text x='460' y='256' text-anchor='middle' fill='#2563EB' font-size='15' font-weight='700' font-family='sans-serif'&gt;波束 / 信道预测&lt;/text&gt;&#10;  &lt;text x='460' y='278' text-anchor='middle' fill='#64748B' font-size='12' font-family='sans-serif'&gt;提前配置、降低导频&lt;/text&gt;&#10;  &lt;rect x='40' y='230' width='200' height='64' rx='12' fill='#FFFFFF' stroke='#F59E0B' strokeWidth='2'/&gt;&#10;  &lt;text x='140' y='256' text-anchor='middle' fill='#F59E0B' font-size='15' font-weight='700' font-family='sans-serif'&gt;通信增强&lt;/text&gt;&#10;  &lt;text x='140' y='278' text-anchor='middle' fill='#64748B' font-size='12' font-family='sans-serif'&gt;更高速率 / 更稳链路&lt;/text&gt;&#10;  &lt;path d='M240 72 L356 72' stroke='#64748B' strokeWidth='2' marker-end='url(#ar)'/&gt;&#10;  &lt;path d='M460 108 L460 226' stroke='#64748B' strokeWidth='2' marker-end='url(#ar)'/&gt;&#10;  &lt;path d='M356 262 L244 262' stroke='#64748B' strokeWidth='2' marker-end='url(#ar)'/&gt;&#10;  &lt;path d='M140 226 L140 108' stroke='#64748B' strokeWidth='2' marker-end='url(#ar)'/&gt;&#10;  &lt;text x='300' y='196' text-anchor='middle' fill='#F59E0B' font-size='13' font-weight='700' font-family='sans-serif'&gt;感知反哺通信 · 双向互益&lt;/text&gt;&lt;/svg&gt;&lt;/Box&gt;&lt;Box style={{ flex:1, background:'linear-gradient(160deg, #0F172A, #182338)', borderRadius:16, padding:22, flexDirection:'column', justifyContent:'space-between' }}&gt;&#10;    &lt;Box&gt;&#10;      &lt;Box style={{ width:52, height:52, borderRadius:14, background:'rgba(6,182,212,0.18)', justifyContent:'center', alignItems:'center', marginBottom:16 }}&gt;&lt;FAIcon name='recycle' style={{ fill:'#06B6D4', width:28, height:28 }} /&gt;&lt;/Box&gt;&#10;      &lt;Text style={{ fontSize:21, fontWeight:'bold', color:'#FFFFFF', fontFamily:&quot;'Source Han Sans SC','Noto Sans SC','Microsoft YaHei',sans-serif&quot;, marginBottom:12 }}&gt;从「一体」到「互益」&lt;/Text&gt;&#10;      &lt;Text style={{ fontSize:15, color:'#E2E8F0', lineHeight:1.7, fontFamily:&quot;'Source Han Sans SC','Noto Sans SC','Microsoft YaHei',sans-serif&quot; }}&gt;感知结果反过来优化通信：用估计出的位置/速度/信道提前配置波束、降低导频开销、预切换，让通信「借感知之力」更稳更快。&lt;/Text&gt;&#10;    &lt;/Box&gt;&#10;    &lt;Text style={{ fontSize:14, color:'#06B6D4', fontFamily:&quot;'Space Grotesk','Inter','Segoe UI',sans-serif&quot; }}&gt;Sensing-aided Communication&lt;/Text&gt;&#10;  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35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98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924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新范式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NEW PARADIGM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感知辅助通信：从「一体」到「互益」</a:t>
            </a:r>
            <a:endParaRPr/>
          </a:p>
        </p:txBody>
      </p:sp>
      <p:pic>
        <p:nvPicPr>
          <p:cNvPr id="7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09650" y="1914525"/>
            <a:ext cx="5715000" cy="3429000"/>
          </a:xfrm>
          <a:prstGeom prst="rect">
            <a:avLst/>
          </a:prstGeom>
          <a:ln/>
        </p:spPr>
      </p:pic>
      <p:sp>
        <p:nvSpPr>
          <p:cNvPr id="702" name=""/>
          <p:cNvSpPr/>
          <p:nvPr/>
        </p:nvSpPr>
        <p:spPr>
          <a:xfrm rot="0" flipH="0" flipV="0">
            <a:off x="7267575" y="1057275"/>
            <a:ext cx="4238625" cy="5143500"/>
          </a:xfrm>
          <a:prstGeom prst="roundRect">
            <a:avLst>
              <a:gd name="adj" fmla="val 3596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703" name=""/>
          <p:cNvSpPr/>
          <p:nvPr/>
        </p:nvSpPr>
        <p:spPr>
          <a:xfrm rot="0" flipH="0" flipV="0">
            <a:off x="7477125" y="126682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p/>
        </p:txBody>
      </p:sp>
      <p:pic>
        <p:nvPicPr>
          <p:cNvPr id="7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91425" y="1381125"/>
            <a:ext cx="266700" cy="266700"/>
          </a:xfrm>
          <a:prstGeom prst="rect">
            <a:avLst/>
          </a:prstGeom>
          <a:ln/>
        </p:spPr>
      </p:pic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477125" y="1914525"/>
            <a:ext cx="3819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从「一体」到「互益」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477125" y="2276475"/>
            <a:ext cx="38195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感知结果反过来优化通信：用估计出的位置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>/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速度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>/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信道提前配置波束、降低导频开销、预切换，让通信「借感知之力」更稳更快。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7477125" y="5829300"/>
            <a:ext cx="3819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6B6D4"/>
                </a:solidFill>
                <a:latin typeface="Space Grotesk"/>
                <a:ea typeface="Space Grotesk"/>
              </a:rPr>
              <a:t>Sensing-aided Communication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35 / 41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712" name="" descr="&lt;Slide style={{ width:'1280px', height:'720px', background:'#0F172A', padding:'0 72px', position:'relative', display:'flex', flexDirection:'column', justifyContent:'center', overflow:'hidden' }}&gt;&#10;  &lt;Box style={{ position:'absolute', right:-140, top:-140, width:520, height:520, borderRadius:260, background:'rgba(6,182,212,0.12)' }}&gt;&lt;/Box&gt;&#10;  &lt;Box style={{ position:'absolute', right:-40, top:-40, width:340, height:340, borderRadius:170, border:'1px solid rgba(6,182,212,0.25)' }}&gt;&lt;/Box&gt;&#10;  &lt;Box style={{ position:'absolute', left:-180, bottom:-180, width:480, height:480, borderRadius:240, background:'rgba(37,99,235,0.14)' }}&gt;&lt;/Box&gt;&#10;  &lt;Box style={{ flexDirection:'row', alignItems:'center', gap:28, position:'relative', zIndex:1 }}&gt;&#10;    &lt;Text style={{ fontSize:150, fontWeight:'bold', fontFamily:&quot;'Space Grotesk','Inter','Segoe UI',sans-serif&quot;, color:'rgba(255,255,255,0.07)', lineHeight:1 }}&gt;10&lt;/Text&gt;&#10;    &lt;Box&gt;&#10;      &lt;Box style={{ width:56, height:6, borderRadius:3, background:'linear-gradient(90deg, #2563EB, #06B6D4)', marginBottom:20 }}&gt;&lt;/Box&gt;&#10;      &lt;Text style={{ fontSize:54, fontWeight:'bold', color:'#FFFFFF', fontFamily:&quot;'Source Han Sans SC','Noto Sans SC','Microsoft YaHei',sans-serif&quot;, marginBottom:14 }}&gt;案例、研讨与总结&lt;/Text&gt;&#10;      &lt;Text style={{ fontSize:20, color:'#06B6D4', fontFamily:&quot;'Source Han Sans SC','Noto Sans SC','Microsoft YaHei',sans-serif&quot; }}&gt;双功能 OFDM 案例 · 课堂研讨 · 要点回顾 · 学习资源&lt;/Text&gt;&#10;    &lt;/Box&gt;&#10;  &lt;/Box&gt;&#10;  &lt;Text style={{ position:'absolute', right:72, bottom:34, fontSize:13, color:'rgba(226,232,240,0.5)', fontFamily:&quot;'Space Grotesk','Inter','Segoe UI',sans-serif&quot; }}&gt;36 / 41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714" name=""/>
          <p:cNvSpPr/>
          <p:nvPr/>
        </p:nvSpPr>
        <p:spPr>
          <a:xfrm rot="0" flipH="0" flipV="0">
            <a:off x="8572500" y="-1333500"/>
            <a:ext cx="4953000" cy="4953000"/>
          </a:xfrm>
          <a:custGeom>
            <a:pathLst>
              <a:path w="520" h="520">
                <a:moveTo>
                  <a:pt x="380" y="491"/>
                </a:move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380" y="140"/>
                </a:lnTo>
                <a:close/>
              </a:path>
            </a:pathLst>
          </a:cu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715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281" y="41"/>
                </a:moveTo>
                <a:cubicBezTo>
                  <a:pt x="288" y="47"/>
                  <a:pt x="294" y="54"/>
                  <a:pt x="300" y="61"/>
                </a:cubicBezTo>
                <a:lnTo>
                  <a:pt x="300" y="279"/>
                </a:lnTo>
                <a:cubicBezTo>
                  <a:pt x="259" y="329"/>
                  <a:pt x="193" y="350"/>
                  <a:pt x="131" y="335"/>
                </a:cubicBezTo>
                <a:cubicBezTo>
                  <a:pt x="68" y="321"/>
                  <a:pt x="19" y="272"/>
                  <a:pt x="5" y="209"/>
                </a:cubicBezTo>
                <a:cubicBezTo>
                  <a:pt x="-10" y="147"/>
                  <a:pt x="11" y="81"/>
                  <a:pt x="61" y="40"/>
                </a:cubicBezTo>
                <a:lnTo>
                  <a:pt x="279" y="40"/>
                </a:lnTo>
                <a:close/>
              </a:path>
            </a:pathLst>
          </a:custGeom>
          <a:ln/>
        </p:spPr>
        <p:txBody>
          <a:bodyPr/>
          <a:p/>
        </p:txBody>
      </p:sp>
      <p:sp>
        <p:nvSpPr>
          <p:cNvPr id="716" name=""/>
          <p:cNvSpPr/>
          <p:nvPr/>
        </p:nvSpPr>
        <p:spPr>
          <a:xfrm rot="0" flipH="0" flipV="0">
            <a:off x="9334500" y="-381000"/>
            <a:ext cx="3238500" cy="3238500"/>
          </a:xfrm>
          <a:custGeom>
            <a:pathLst>
              <a:path w="340" h="340">
                <a:moveTo>
                  <a:pt x="59" y="42"/>
                </a:moveTo>
                <a:cubicBezTo>
                  <a:pt x="5" y="91"/>
                  <a:pt x="-12" y="169"/>
                  <a:pt x="16" y="236"/>
                </a:cubicBezTo>
                <a:cubicBezTo>
                  <a:pt x="45" y="304"/>
                  <a:pt x="114" y="345"/>
                  <a:pt x="186" y="339"/>
                </a:cubicBezTo>
                <a:cubicBezTo>
                  <a:pt x="112" y="347"/>
                  <a:pt x="42" y="305"/>
                  <a:pt x="13" y="236"/>
                </a:cubicBezTo>
                <a:cubicBezTo>
                  <a:pt x="-15" y="167"/>
                  <a:pt x="4" y="87"/>
                  <a:pt x="62" y="40"/>
                </a:cubicBezTo>
                <a:close/>
                <a:moveTo>
                  <a:pt x="281" y="41"/>
                </a:moveTo>
                <a:cubicBezTo>
                  <a:pt x="288" y="47"/>
                  <a:pt x="295" y="54"/>
                  <a:pt x="300" y="62"/>
                </a:cubicBezTo>
                <a:cubicBezTo>
                  <a:pt x="293" y="55"/>
                  <a:pt x="286" y="47"/>
                  <a:pt x="279" y="40"/>
                </a:cubicBezTo>
                <a:close/>
              </a:path>
            </a:pathLst>
          </a:custGeom>
          <a:solidFill>
            <a:srgbClr val="06B6D4">
              <a:alpha val="25000"/>
            </a:srgbClr>
          </a:solidFill>
        </p:spPr>
        <p:txBody>
          <a:bodyPr/>
          <a:p/>
        </p:txBody>
      </p:sp>
      <p:sp>
        <p:nvSpPr>
          <p:cNvPr id="717" name=""/>
          <p:cNvSpPr/>
          <p:nvPr/>
        </p:nvSpPr>
        <p:spPr>
          <a:xfrm rot="0" flipH="0" flipV="0">
            <a:off x="-1714500" y="400050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2" y="300"/>
                </a:lnTo>
                <a:lnTo>
                  <a:pt x="180" y="300"/>
                </a:lnTo>
                <a:lnTo>
                  <a:pt x="180" y="8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solidFill>
            <a:srgbClr val="2563EB">
              <a:alpha val="14000"/>
            </a:srgbClr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11115675" y="63817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>
                    <a:alpha val="50000"/>
                  </a:srgbClr>
                </a:solidFill>
                <a:latin typeface="Space Grotesk"/>
                <a:ea typeface="Space Grotesk"/>
              </a:rPr>
              <a:t>36 / 41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164782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7000"/>
                  </a:srgbClr>
                </a:solidFill>
                <a:latin typeface="Space Grotesk"/>
                <a:ea typeface="Space Grotesk"/>
              </a:rPr>
              <a:t>10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2600325" y="2819400"/>
            <a:ext cx="533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2600325" y="3067050"/>
            <a:ext cx="465772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Source Han Sans SC"/>
                <a:ea typeface="Source Han Sans SC"/>
              </a:rPr>
              <a:t>案例、研讨与总结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2600325" y="3819525"/>
            <a:ext cx="4657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双功能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OFDM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案例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课堂研讨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要点回顾</a:t>
            </a:r>
            <a:r>
              <a:rPr lang="en-US" sz="150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>
                <a:solidFill>
                  <a:srgbClr val="06B6D4"/>
                </a:solidFill>
                <a:latin typeface="Source Han Sans SC"/>
                <a:ea typeface="Source Han Sans SC"/>
              </a:rPr>
              <a:t>学习资源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23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案例 CASE STUDY&lt;/Text&gt;&#10;&lt;/Box&gt;&#10;&lt;Text style={{ fontSize:34, fontWeight:'bold', color:'#0F172A', fontFamily:&quot;'Source Han Sans SC','Noto Sans SC','Microsoft YaHei',sans-serif&quot;, marginBottom:16 }}&gt;案例：双功能 OFDM ISAC 系统&lt;/Text&gt;&#10;&lt;Box style={{ height:'540px', flexDirection:'column' }}&gt;&#10;&lt;Box style={{ flexDirection:'row', gap:24, height:'540px', alignItems:'center' }}&gt;&lt;Box style={{ width:560, alignItems:'center', justifyContent:'center' }}&gt;&lt;svg width={560} height={430} viewBox='0 0 560 430'&gt;&#10;  &lt;rect x='30' y='34' width='110' height='52' rx='10' fill='#FFFFFF' stroke='#2563EB' strokeWidth='2'/&gt;&lt;text x='85' y='60' text-anchor='middle' fill='#2563EB' font-size='14' font-weight='700' font-family='sans-serif'&gt;信息比特&lt;/text&gt;&lt;text x='85' y='80' text-anchor='middle' fill='#64748B' font-size='11' font-family='sans-serif'&gt;source&lt;/text&gt;&#10;  &lt;rect x='170' y='34' width='110' height='52' rx='10' fill='#FFFFFF' stroke='#2563EB' strokeWidth='2'/&gt;&lt;text x='225' y='60' text-anchor='middle' fill='#2563EB' font-size='14' font-weight='700' font-family='sans-serif'&gt;星座映射&lt;/text&gt;&lt;text x='225' y='80' text-anchor='middle' fill='#64748B' font-size='11' font-family='sans-serif'&gt;QAM&lt;/text&gt;&#10;  &lt;rect x='310' y='34' width='120' height='52' rx='10' fill='#FFFFFF' stroke='#2563EB' strokeWidth='2'/&gt;&lt;text x='370' y='60' text-anchor='middle' fill='#2563EB' font-size='14' font-weight='700' font-family='sans-serif'&gt;IFFT + 加CP&lt;/text&gt;&lt;text x='370' y='80' text-anchor='middle' fill='#64748B' font-size='11' font-family='sans-serif'&gt;OFDM 调制&lt;/text&gt;&#10;  &lt;rect x='460' y='34' width='90' height='52' rx='10' fill='#FFFFFF' stroke='#2563EB' strokeWidth='2'/&gt;&lt;text x='505' y='60' text-anchor='middle' fill='#2563EB' font-size='14' font-weight='700' font-family='sans-serif'&gt;射频发射&lt;/text&gt;&lt;text x='505' y='80' text-anchor='middle' fill='#64748B' font-size='11' font-family='sans-serif'&gt;TX&lt;/text&gt;&#10;  &lt;path d='M140 60 L166 60 M280 60 L306 60 M430 60 L456 60' stroke='#64748B' strokeWidth='2'/&gt;&#10;  &lt;path d='M505 86 L505 150 L280 150' fill='none' stroke='#64748B' strokeWidth='2'/&gt;&#10;  &lt;rect x='150' y='150' width='260' height='60' rx='10' fill='#FFFFFF' stroke='#F59E0B' strokeWidth='2'/&gt;&lt;text x='280' y='176' text-anchor='middle' fill='#F59E0B' font-size='14' font-weight='700' font-family='sans-serif'&gt;传播信道 + 目标&lt;/text&gt;&lt;text x='280' y='196' text-anchor='middle' fill='#64748B' font-size='11' font-family='sans-serif'&gt;回波携带距离-多普勒信息&lt;/text&gt;&#10;  &lt;path d='M280 210 L280 246' stroke='#64748B' strokeWidth='2'/&gt;&#10;  &lt;rect x='150' y='246' width='260' height='52' rx='10' fill='#FFFFFF' stroke='#06B6D4' strokeWidth='2'/&gt;&lt;text x='280' y='272' text-anchor='middle' fill='#06B6D4' font-size='14' font-weight='700' font-family='sans-serif'&gt;射频接收 + FFT&lt;/text&gt;&lt;text x='280' y='292' text-anchor='middle' fill='#64748B' font-size='11' font-family='sans-serif'&gt;RX&lt;/text&gt;&#10;  &lt;path d='M200 298 L130 336 M360 298 L430 336' stroke='#64748B' strokeWidth='2'/&gt;&#10;  &lt;rect x='20' y='336' width='220' height='64' rx='10' fill='#FFFFFF' stroke='#2563EB' strokeWidth='2'/&gt;&lt;text x='130' y='362' text-anchor='middle' fill='#2563EB' font-size='14' font-weight='700' font-family='sans-serif'&gt;通信解调&lt;/text&gt;&lt;text x='130' y='382' text-anchor='middle' fill='#64748B' font-size='11' font-family='sans-serif'&gt;→ 恢复信息比特&lt;/text&gt;&#10;  &lt;rect x='320' y='336' width='220' height='64' rx='10' fill='#FFFFFF' stroke='#F59E0B' strokeWidth='2'/&gt;&lt;text x='430' y='362' text-anchor='middle' fill='#F59E0B' font-size='14' font-weight='700' font-family='sans-serif'&gt;距离-多普勒处理&lt;/text&gt;&lt;text x='430' y='382' text-anchor='middle' fill='#64748B' font-size='11' font-family='sans-serif'&gt;→ 目标距离/速度&lt;/text&gt;&lt;/svg&gt;&lt;/Box&gt;&lt;Box style={{ flex:1, flexDirection:'column', gap:14, justifyContent:'space-between' }}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wave-square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一条信号，两路输出&lt;/Text&gt;&#10;    &lt;Text style={{ fontSize:15, color:'#64748B', lineHeight:1.5, fontFamily:&quot;'Source Han Sans SC','Noto Sans SC','Microsoft YaHei',sans-serif&quot; }}&gt;同一个 OFDM 发射信号，接收端经 FFT 后：一路按星座解调恢复比特，一路做距离-多普勒处理提取目标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chart-line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典型性能区间&lt;/Text&gt;&#10;    &lt;Text style={{ fontSize:15, color:'#64748B', lineHeight:1.5, fontFamily:&quot;'Source Han Sans SC','Noto Sans SC','Microsoft YaHei',sans-serif&quot; }}&gt; Sub-6GHz、100MHz 带宽下，通信可达数百 Mbps；配合大规模天线，测距精度可达亚米级、测角达度级（视 SNR 与阵列孔径）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lightbulb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设计启示&lt;/Text&gt;&#10;    &lt;Text style={{ fontSize:15, color:'#64748B', lineHeight:1.5, fontFamily:&quot;'Source Han Sans SC','Noto Sans SC','Microsoft YaHei',sans-serif&quot; }}&gt;带宽决定测距精度、子载波数决定多普勒分辨率、天线数决定测角精度——与通信性能强耦合，需联合设计。&lt;/Text&gt;&#10;  &lt;/Box&gt;&#10;&lt;/Box&gt;&#10;  &lt;/Box&gt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37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725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419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案例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CASE STUDY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案例：双功能</a:t>
            </a:r>
            <a:r>
              <a:rPr lang="en-US" sz="255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 OFDM ISAC </a:t>
            </a: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系统</a:t>
            </a:r>
            <a:endParaRPr/>
          </a:p>
        </p:txBody>
      </p:sp>
      <p:pic>
        <p:nvPicPr>
          <p:cNvPr id="7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581150"/>
            <a:ext cx="5334000" cy="4095750"/>
          </a:xfrm>
          <a:prstGeom prst="rect">
            <a:avLst/>
          </a:prstGeom>
          <a:ln/>
        </p:spPr>
      </p:pic>
      <p:sp>
        <p:nvSpPr>
          <p:cNvPr id="729" name=""/>
          <p:cNvSpPr/>
          <p:nvPr/>
        </p:nvSpPr>
        <p:spPr>
          <a:xfrm rot="0" flipH="0" flipV="0">
            <a:off x="6248400" y="2038350"/>
            <a:ext cx="52578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30" name=""/>
          <p:cNvSpPr/>
          <p:nvPr/>
        </p:nvSpPr>
        <p:spPr>
          <a:xfrm rot="0" flipH="0" flipV="0">
            <a:off x="6400800" y="2152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7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96050" y="2247900"/>
            <a:ext cx="190500" cy="190500"/>
          </a:xfrm>
          <a:prstGeom prst="rect">
            <a:avLst/>
          </a:prstGeom>
          <a:ln/>
        </p:spPr>
      </p:pic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915150" y="215265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一条信号，两路输出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6915150" y="2381250"/>
            <a:ext cx="4438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同一个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OFDM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发射信号，接收端经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FFT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后：一路按星座解调恢复比特，一路做距离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>-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多普勒处理提取目标。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6248400" y="3143250"/>
            <a:ext cx="52578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35" name=""/>
          <p:cNvSpPr/>
          <p:nvPr/>
        </p:nvSpPr>
        <p:spPr>
          <a:xfrm rot="0" flipH="0" flipV="0">
            <a:off x="6400800" y="32575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7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96050" y="3352800"/>
            <a:ext cx="190500" cy="190500"/>
          </a:xfrm>
          <a:prstGeom prst="rect">
            <a:avLst/>
          </a:prstGeom>
          <a:ln/>
        </p:spPr>
      </p:pic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6915150" y="325755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典型性能区间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6915150" y="3486150"/>
            <a:ext cx="4438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Sub-6GHz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、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100MHz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带宽下，通信可达数百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Mbps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；配合大规模天线，测距精度可达亚米级、测角达度级（视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SNR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与阵列孔径）。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6248400" y="4248150"/>
            <a:ext cx="525780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40" name=""/>
          <p:cNvSpPr/>
          <p:nvPr/>
        </p:nvSpPr>
        <p:spPr>
          <a:xfrm rot="0" flipH="0" flipV="0">
            <a:off x="6400800" y="43624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7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96050" y="4457700"/>
            <a:ext cx="190500" cy="190500"/>
          </a:xfrm>
          <a:prstGeom prst="rect">
            <a:avLst/>
          </a:prstGeom>
          <a:ln/>
        </p:spPr>
      </p:pic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6915150" y="436245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设计启示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6915150" y="4591050"/>
            <a:ext cx="4438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带宽决定测距精度、子载波数决定多普勒分辨率、天线数决定测角精度——与通信性能强耦合，需联合设计。</a:t>
            </a:r>
            <a:endParaRPr/>
          </a:p>
        </p:txBody>
      </p:sp>
      <p:sp>
        <p:nvSpPr>
          <p:cNvPr id="744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37 / 41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48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研讨 DISCUSSION&lt;/Text&gt;&#10;&lt;/Box&gt;&#10;&lt;Text style={{ fontSize:34, fontWeight:'bold', color:'#0F172A', fontFamily:&quot;'Source Han Sans SC','Noto Sans SC','Microsoft YaHei',sans-serif&quot;, marginBottom:16 }}&gt;研讨题与课堂练习&lt;/Text&gt;&#10;&lt;Box style={{ height:'540px', flexDirection:'column' }}&gt;&#10;&lt;Box style={{ flexDirection:'row', gap:24, height:'540px' }}&gt;&#10;  &lt;Box style={{ width:300, background:'linear-gradient(160deg, #0F172A 0%, #182338 100%)', borderRadius:16, padding:24, flexDirection:'column', justifyContent:'space-between' }}&gt;&#10;    &lt;Box&gt;&#10;      &lt;Box style={{ width:52, height:52, borderRadius:14, background:'rgba(6,182,182,0.18)', justifyContent:'center', alignItems:'center', marginBottom:18 }}&gt;&lt;FAIcon name='comments' style={{ fill:'#06B6D4', width:28, height:28 }} /&gt;&lt;/Box&gt;&#10;      &lt;Text style={{ fontSize:25, fontWeight:'bold', color:'#FFFFFF', lineHeight:1.35, fontFamily:&quot;'Source Han Sans SC','Noto Sans SC','Microsoft YaHei',sans-serif&quot;, marginBottom:14 }}&gt;动手&lt;br/&gt;想一想&lt;/Text&gt;&#10;      &lt;Text style={{ fontSize:15, color:'#E2E8F0', lineHeight:1.7, fontFamily:&quot;'Source Han Sans SC','Noto Sans SC','Microsoft YaHei',sans-serif&quot; }}&gt;用本课框架分析下面的问题，建议分组讨论 10 分钟后分享。&lt;/Text&gt;&#10;    &lt;/Box&gt;&#10;    &lt;Box style={{ height:6, width:60, borderRadius:3, background:'linear-gradient(90deg, #2563EB, #06B6D4)' }}&gt;&lt;/Box&gt;&#10;  &lt;/Box&gt;&#10;  &lt;Box style={{ flex:1, flexDirection:'column', gap:13, justifyContent:'space-between' }}&gt;&#10;    &lt;Box style={{ flexDirection:'row', alignItems:'flex-start', gap:14, background:'#FFFFFF', borderRadius:12, border:'1px solid #E6EBF2', padding:'14px 16px', flex:1 }}&gt;&#10;      &lt;Box style={{ width:34, height:34, borderRadius:10, background:'linear-gradient(135deg, #2563EB, #06B6D4)', justifyContent:'center', alignItems:'center' }}&gt;&lt;Text style={{ fontSize:16, fontWeight:'bold', color:'#fff', fontFamily:&quot;'Space Grotesk','Inter','Segoe UI',sans-serif&quot; }}&gt;1&lt;/Text&gt;&lt;/Box&gt;&#10;      &lt;Box style={{ flex:1 }}&gt;&lt;Text style={{ fontSize:16, fontWeight:'bold', color:'#0F172A', fontFamily:&quot;'Source Han Sans SC','Noto Sans SC','Microsoft YaHei',sans-serif&quot;, marginBottom:4 }}&gt;权重取舍&lt;/Text&gt;&lt;Text style={{ fontSize:14, color:'#64748B', lineHeight:1.5, fontFamily:&quot;'Source Han Sans SC','Noto Sans SC','Microsoft YaHei',sans-serif&quot; }}&gt;自动驾驶场景应把帕累托前沿上的工作点偏向通信还是感知？为什么？&lt;/Text&gt;&lt;/Box&gt;&#10;    &lt;/Box&gt;&lt;Box style={{ flexDirection:'row', alignItems:'flex-start', gap:14, background:'#FFFFFF', borderRadius:12, border:'1px solid #E6EBF2', padding:'14px 16px', flex:1 }}&gt;&#10;      &lt;Box style={{ width:34, height:34, borderRadius:10, background:'linear-gradient(135deg, #2563EB, #06B6D4)', justifyContent:'center', alignItems:'center' }}&gt;&lt;Text style={{ fontSize:16, fontWeight:'bold', color:'#fff', fontFamily:&quot;'Space Grotesk','Inter','Segoe UI',sans-serif&quot; }}&gt;2&lt;/Text&gt;&lt;/Box&gt;&#10;      &lt;Box style={{ flex:1 }}&gt;&lt;Text style={{ fontSize:16, fontWeight:'bold', color:'#0F172A', fontFamily:&quot;'Source Han Sans SC','Noto Sans SC','Microsoft YaHei',sans-serif&quot;, marginBottom:4 }}&gt;CRB 直觉&lt;/Text&gt;&lt;Text style={{ fontSize:14, color:'#64748B', lineHeight:1.5, fontFamily:&quot;'Source Han Sans SC','Noto Sans SC','Microsoft YaHei',sans-serif&quot; }}&gt;若把信号带宽提高一倍，测距 CRB 大致如何变化？背后的物理原因是什么？&lt;/Text&gt;&lt;/Box&gt;&#10;    &lt;/Box&gt;&lt;Box style={{ flexDirection:'row', alignItems:'flex-start', gap:14, background:'#FFFFFF', borderRadius:12, border:'1px solid #E6EBF2', padding:'14px 16px', flex:1 }}&gt;&#10;      &lt;Box style={{ width:34, height:34, borderRadius:10, background:'linear-gradient(135deg, #2563EB, #06B6D4)', justifyContent:'center', alignItems:'center' }}&gt;&lt;Text style={{ fontSize:16, fontWeight:'bold', color:'#fff', fontFamily:&quot;'Space Grotesk','Inter','Segoe UI',sans-serif&quot; }}&gt;3&lt;/Text&gt;&lt;/Box&gt;&#10;      &lt;Box style={{ flex:1 }}&gt;&lt;Text style={{ fontSize:16, fontWeight:'bold', color:'#0F172A', fontFamily:&quot;'Source Han Sans SC','Noto Sans SC','Microsoft YaHei',sans-serif&quot;, marginBottom:4 }}&gt;波束设计&lt;/Text&gt;&lt;Text style={{ fontSize:14, color:'#64748B', lineHeight:1.5, fontFamily:&quot;'Source Han Sans SC','Noto Sans SC','Microsoft YaHei',sans-serif&quot; }}&gt;同一阵列既要服务 2 个通信用户、又要监视 1 个目标，波束成形矩阵该如何权衡？&lt;/Text&gt;&lt;/Box&gt;&#10;    &lt;/Box&gt;&lt;Box style={{ flexDirection:'row', alignItems:'flex-start', gap:14, background:'#FFFFFF', borderRadius:12, border:'1px solid #E6EBF2', padding:'14px 16px', flex:1 }}&gt;&#10;      &lt;Box style={{ width:34, height:34, borderRadius:10, background:'linear-gradient(135deg, #2563EB, #06B6D4)', justifyContent:'center', alignItems:'center' }}&gt;&lt;Text style={{ fontSize:16, fontWeight:'bold', color:'#fff', fontFamily:&quot;'Space Grotesk','Inter','Segoe UI',sans-serif&quot; }}&gt;4&lt;/Text&gt;&lt;/Box&gt;&#10;      &lt;Box style={{ flex:1 }}&gt;&lt;Text style={{ fontSize:16, fontWeight:'bold', color:'#0F172A', fontFamily:&quot;'Source Han Sans SC','Noto Sans SC','Microsoft YaHei',sans-serif&quot;, marginBottom:4 }}&gt;标准立场&lt;/Text&gt;&lt;Text style={{ fontSize:14, color:'#64748B', lineHeight:1.5, fontFamily:&quot;'Source Han Sans SC','Noto Sans SC','Microsoft YaHei',sans-serif&quot; }}&gt;站在运营商角度，你认为通感一体化应优先在哪些频段与用例落地？顾虑是什么？&lt;/Text&gt;&lt;/Box&gt;&#10;    &lt;/Box&gt;&#10;  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38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750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研讨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DISCUSSION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研讨题与课堂练习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685800" y="1057275"/>
            <a:ext cx="2857500" cy="51435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754" name=""/>
          <p:cNvSpPr/>
          <p:nvPr/>
        </p:nvSpPr>
        <p:spPr>
          <a:xfrm rot="0" flipH="0" flipV="0">
            <a:off x="914400" y="12858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6B6B6">
              <a:alpha val="18000"/>
            </a:srgbClr>
          </a:solidFill>
          <a:ln/>
        </p:spPr>
        <p:txBody>
          <a:bodyPr/>
          <a:p/>
        </p:txBody>
      </p:sp>
      <p:pic>
        <p:nvPicPr>
          <p:cNvPr id="7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" y="1400175"/>
            <a:ext cx="266700" cy="266700"/>
          </a:xfrm>
          <a:prstGeom prst="rect">
            <a:avLst/>
          </a:prstGeom>
          <a:ln/>
        </p:spPr>
      </p:pic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914400" y="1952625"/>
            <a:ext cx="2400300" cy="771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Source Han Sans SC"/>
                <a:ea typeface="Source Han Sans SC"/>
              </a:rPr>
              <a:t>动手</a:t>
            </a:r>
            <a:endParaRPr/>
          </a:p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Source Han Sans SC"/>
                <a:ea typeface="Source Han Sans SC"/>
              </a:rPr>
              <a:t>想一想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914400" y="2857500"/>
            <a:ext cx="2400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用本课框架分析下面的问题，建议分组讨论</a:t>
            </a: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 10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分钟后分享。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914400" y="5915025"/>
            <a:ext cx="5715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59" name=""/>
          <p:cNvSpPr/>
          <p:nvPr/>
        </p:nvSpPr>
        <p:spPr>
          <a:xfrm rot="0" flipH="0" flipV="0">
            <a:off x="3771900" y="1057275"/>
            <a:ext cx="773430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760" name=""/>
          <p:cNvSpPr/>
          <p:nvPr/>
        </p:nvSpPr>
        <p:spPr>
          <a:xfrm rot="0" flipH="0" flipV="0">
            <a:off x="3924300" y="1190625"/>
            <a:ext cx="323850" cy="323850"/>
          </a:xfrm>
          <a:prstGeom prst="roundRect">
            <a:avLst>
              <a:gd name="adj" fmla="val 29412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4038600" y="12573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pace Grotesk"/>
                <a:ea typeface="Space Grotesk"/>
              </a:rPr>
              <a:t>1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4381500" y="1190625"/>
            <a:ext cx="697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权重取舍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4381500" y="1419225"/>
            <a:ext cx="6972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自动驾驶场景应把帕累托前沿上的工作点偏向通信还是感知？为什么？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3771900" y="2371725"/>
            <a:ext cx="77343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765" name=""/>
          <p:cNvSpPr/>
          <p:nvPr/>
        </p:nvSpPr>
        <p:spPr>
          <a:xfrm rot="0" flipH="0" flipV="0">
            <a:off x="3924300" y="2505075"/>
            <a:ext cx="323850" cy="323850"/>
          </a:xfrm>
          <a:prstGeom prst="roundRect">
            <a:avLst>
              <a:gd name="adj" fmla="val 29412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4038600" y="25717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pace Grotesk"/>
                <a:ea typeface="Space Grotesk"/>
              </a:rPr>
              <a:t>2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4381500" y="2505075"/>
            <a:ext cx="697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Source Han Sans SC"/>
                <a:ea typeface="Source Han Sans SC"/>
              </a:rPr>
              <a:t xml:space="preserve">CRB </a:t>
            </a: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直觉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4381500" y="2733675"/>
            <a:ext cx="6972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若把信号带宽提高一倍，测距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CRB 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大致如何变化？背后的物理原因是什么？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3771900" y="3695700"/>
            <a:ext cx="773430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770" name=""/>
          <p:cNvSpPr/>
          <p:nvPr/>
        </p:nvSpPr>
        <p:spPr>
          <a:xfrm rot="0" flipH="0" flipV="0">
            <a:off x="3924300" y="3829050"/>
            <a:ext cx="323850" cy="323850"/>
          </a:xfrm>
          <a:prstGeom prst="roundRect">
            <a:avLst>
              <a:gd name="adj" fmla="val 29412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4038600" y="38957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pace Grotesk"/>
                <a:ea typeface="Space Grotesk"/>
              </a:rPr>
              <a:t>3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4381500" y="3829050"/>
            <a:ext cx="697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波束设计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4381500" y="4057650"/>
            <a:ext cx="6972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同一阵列既要服务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2 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个通信用户、又要监视</a:t>
            </a:r>
            <a:r>
              <a:rPr lang="en-US" sz="1050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个目标，波束成形矩阵该如何权衡？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3771900" y="5010150"/>
            <a:ext cx="7734300" cy="1190625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775" name=""/>
          <p:cNvSpPr/>
          <p:nvPr/>
        </p:nvSpPr>
        <p:spPr>
          <a:xfrm rot="0" flipH="0" flipV="0">
            <a:off x="3924300" y="5143500"/>
            <a:ext cx="323850" cy="323850"/>
          </a:xfrm>
          <a:prstGeom prst="roundRect">
            <a:avLst>
              <a:gd name="adj" fmla="val 29412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4038600" y="52101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pace Grotesk"/>
                <a:ea typeface="Space Grotesk"/>
              </a:rPr>
              <a:t>4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4381500" y="5143500"/>
            <a:ext cx="697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Source Han Sans SC"/>
                <a:ea typeface="Source Han Sans SC"/>
              </a:rPr>
              <a:t>标准立场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4381500" y="5372100"/>
            <a:ext cx="6972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Source Han Sans SC"/>
                <a:ea typeface="Source Han Sans SC"/>
              </a:rPr>
              <a:t>站在运营商角度，你认为通感一体化应优先在哪些频段与用例落地？顾虑是什么？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38 / 41</a:t>
            </a:r>
            <a:endParaRPr/>
          </a:p>
        </p:txBody>
      </p:sp>
    </p:spTree>
  </p:cSld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783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要点回顾 SUMMARY&lt;/Text&gt;&#10;&lt;/Box&gt;&#10;&lt;Text style={{ fontSize:34, fontWeight:'bold', color:'#0F172A', fontFamily:&quot;'Source Han Sans SC','Noto Sans SC','Microsoft YaHei',sans-serif&quot;, marginBottom:16 }}&gt;关键要点回顾&lt;/Text&gt;&#10;&lt;Box style={{ height:'540px', flexDirection:'column' }}&gt;&#10;&lt;Box style={{ flexDirection:'column', gap:16, height:'540px' }}&gt;&#10;    &lt;Box style={{ background:'linear-gradient(135deg, #0F172A 0%, #182338 100%)', borderRadius:16, padding:'20px 28px' }}&gt;&#10;      &lt;Text style={{ fontSize:29, fontWeight:'bold', color:'#FFFFFF', lineHeight:1.3, fontFamily:&quot;'Source Han Sans SC','Noto Sans SC','Microsoft YaHei',sans-serif&quot; }}&gt;ISAC = 以&lt;span style={{ color:'#F59E0B' }}&gt;更低代价&lt;/span&gt;，同时获得&lt;span style={{ color:'#06B6D4' }}&gt;连接&lt;/span&gt;与&lt;span style={{ color:'#06B6D4' }}&gt;感知&lt;/span&gt;。&lt;/Text&gt;&#10;      &lt;Text style={{ fontSize:15, color:'#E2E8F0', fontFamily:&quot;'Source Han Sans SC','Noto Sans SC','Microsoft YaHei',sans-serif&quot;, marginTop:8 }}&gt;10 个章节，一句话各回顾：&lt;/Text&gt;&#10;    &lt;/Box&gt;&#10;    &lt;Box style={{ flexDirection:'row', gap:16, flex:1 }}&gt;&lt;Box style={{ flex:1, flexDirection:'column', gap:10 }}&gt;&lt;Box style={{ flexDirection:'row', alignItems:'center', gap:12, background:'#FFFFFF', borderRadius:10, border:'1px solid #E6EBF2', padding:'8px 12px', flex:1 }}&gt;&#10;    &lt;Box style={{ width:32, height:32, borderRadius:9, background:'linear-gradient(135deg, #2563EB, #06B6D4)', justifyContent:'center', alignItems:'center' }}&gt;&lt;Text style={{ fontSize:13, fontWeight:'bold', color:'#fff', fontFamily:&quot;'Space Grotesk','Inter','Segoe UI',sans-serif&quot; }}&gt;01&lt;/Text&gt;&lt;/Box&gt;&#10;    &lt;Box style={{ flex:1 }}&gt;&lt;Text style={{ fontSize:15, fontWeight:'bold', color:'#0F172A', fontFamily:&quot;'Source Han Sans SC','Noto Sans SC','Microsoft YaHei',sans-serif&quot; }}&gt;导论&lt;/Text&gt;&lt;Text style={{ fontSize:13, color:'#64748B', fontFamily:&quot;'Source Han Sans SC','Noto Sans SC','Microsoft YaHei',sans-serif&quot; }}&gt;一体化 = 共享硬件/频谱/信号，一次发射、双重收益&lt;/Text&gt;&lt;/Box&gt;&#10;  &lt;/Box&gt;&lt;Box style={{ flexDirection:'row', alignItems:'center', gap:12, background:'#FFFFFF', borderRadius:10, border:'1px solid #E6EBF2', padding:'8px 12px', flex:1 }}&gt;&#10;    &lt;Box style={{ width:32, height:32, borderRadius:9, background:'linear-gradient(135deg, #2563EB, #06B6D4)', justifyContent:'center', alignItems:'center' }}&gt;&lt;Text style={{ fontSize:13, fontWeight:'bold', color:'#fff', fontFamily:&quot;'Space Grotesk','Inter','Segoe UI',sans-serif&quot; }}&gt;02&lt;/Text&gt;&lt;/Box&gt;&#10;    &lt;Box style={{ flex:1 }}&gt;&lt;Text style={{ fontSize:15, fontWeight:'bold', color:'#0F172A', fontFamily:&quot;'Source Han Sans SC','Noto Sans SC','Microsoft YaHei',sans-serif&quot; }}&gt;动机&lt;/Text&gt;&lt;Text style={{ fontSize:13, color:'#64748B', fontFamily:&quot;'Source Han Sans SC','Noto Sans SC','Microsoft YaHei',sans-serif&quot; }}&gt;频谱稀缺 + 硬件冗余 + 应用牵引，6G 前夜交汇&lt;/Text&gt;&lt;/Box&gt;&#10;  &lt;/Box&gt;&lt;Box style={{ flexDirection:'row', alignItems:'center', gap:12, background:'#FFFFFF', borderRadius:10, border:'1px solid #E6EBF2', padding:'8px 12px', flex:1 }}&gt;&#10;    &lt;Box style={{ width:32, height:32, borderRadius:9, background:'linear-gradient(135deg, #2563EB, #06B6D4)', justifyContent:'center', alignItems:'center' }}&gt;&lt;Text style={{ fontSize:13, fontWeight:'bold', color:'#fff', fontFamily:&quot;'Space Grotesk','Inter','Segoe UI',sans-serif&quot; }}&gt;03&lt;/Text&gt;&lt;/Box&gt;&#10;    &lt;Box style={{ flex:1 }}&gt;&lt;Text style={{ fontSize:15, fontWeight:'bold', color:'#0F172A', fontFamily:&quot;'Source Han Sans SC','Noto Sans SC','Microsoft YaHei',sans-serif&quot; }}&gt;概念&lt;/Text&gt;&lt;Text style={{ fontSize:13, color:'#64748B', fontFamily:&quot;'Source Han Sans SC','Noto Sans SC','Microsoft YaHei',sans-serif&quot; }}&gt;共存→协作→联合→一体化，联合设计是关键&lt;/Text&gt;&lt;/Box&gt;&#10;  &lt;/Box&gt;&lt;Box style={{ flexDirection:'row', alignItems:'center', gap:12, background:'#FFFFFF', borderRadius:10, border:'1px solid #E6EBF2', padding:'8px 12px', flex:1 }}&gt;&#10;    &lt;Box style={{ width:32, height:32, borderRadius:9, background:'linear-gradient(135deg, #2563EB, #06B6D4)', justifyContent:'center', alignItems:'center' }}&gt;&lt;Text style={{ fontSize:13, fontWeight:'bold', color:'#fff', fontFamily:&quot;'Space Grotesk','Inter','Segoe UI',sans-serif&quot; }}&gt;04&lt;/Text&gt;&lt;/Box&gt;&#10;    &lt;Box style={{ flex:1 }}&gt;&lt;Text style={{ fontSize:15, fontWeight:'bold', color:'#0F172A', fontFamily:&quot;'Source Han Sans SC','Noto Sans SC','Microsoft YaHei',sans-serif&quot; }}&gt;架构&lt;/Text&gt;&lt;Text style={{ fontSize:13, color:'#64748B', fontFamily:&quot;'Source Han Sans SC','Noto Sans SC','Microsoft YaHei',sans-serif&quot; }}&gt;共享射频链与阵列，基站即雷达、终端协同&lt;/Text&gt;&lt;/Box&gt;&#10;  &lt;/Box&gt;&lt;Box style={{ flexDirection:'row', alignItems:'center', gap:12, background:'#FFFFFF', borderRadius:10, border:'1px solid #E6EBF2', padding:'8px 12px', flex:1 }}&gt;&#10;    &lt;Box style={{ width:32, height:32, borderRadius:9, background:'linear-gradient(135deg, #2563EB, #06B6D4)', justifyContent:'center', alignItems:'center' }}&gt;&lt;Text style={{ fontSize:13, fontWeight:'bold', color:'#fff', fontFamily:&quot;'Space Grotesk','Inter','Segoe UI',sans-serif&quot; }}&gt;05&lt;/Text&gt;&lt;/Box&gt;&#10;    &lt;Box style={{ flex:1 }}&gt;&lt;Text style={{ fontSize:15, fontWeight:'bold', color:'#0F172A', fontFamily:&quot;'Source Han Sans SC','Noto Sans SC','Microsoft YaHei',sans-serif&quot; }}&gt;波形&lt;/Text&gt;&lt;Text style={{ fontSize:13, color:'#64748B', fontFamily:&quot;'Source Han Sans SC','Noto Sans SC','Microsoft YaHei',sans-serif&quot; }}&gt;OFDM/FMCW/OTFS 各有取舍，需按场景联合优化&lt;/Text&gt;&lt;/Box&gt;&#10;  &lt;/Box&gt;&lt;/Box&gt;&lt;Box style={{ flex:1, flexDirection:'column', gap:10 }}&gt;&lt;Box style={{ flexDirection:'row', alignItems:'center', gap:12, background:'#FFFFFF', borderRadius:10, border:'1px solid #E6EBF2', padding:'8px 12px', flex:1 }}&gt;&#10;    &lt;Box style={{ width:32, height:32, borderRadius:9, background:'linear-gradient(135deg, #2563EB, #06B6D4)', justifyContent:'center', alignItems:'center' }}&gt;&lt;Text style={{ fontSize:13, fontWeight:'bold', color:'#fff', fontFamily:&quot;'Space Grotesk','Inter','Segoe UI',sans-serif&quot; }}&gt;06&lt;/Text&gt;&lt;/Box&gt;&#10;    &lt;Box style={{ flex:1 }}&gt;&lt;Text style={{ fontSize:15, fontWeight:'bold', color:'#0F172A', fontFamily:&quot;'Source Han Sans SC','Noto Sans SC','Microsoft YaHei',sans-serif&quot; }}&gt;关键&lt;/Text&gt;&lt;Text style={{ fontSize:13, color:'#64748B', fontFamily:&quot;'Source Han Sans SC','Noto Sans SC','Microsoft YaHei',sans-serif&quot; }}&gt;双工、波束、资源、AI 四大技术杠杆&lt;/Text&gt;&lt;/Box&gt;&#10;  &lt;/Box&gt;&lt;Box style={{ flexDirection:'row', alignItems:'center', gap:12, background:'#FFFFFF', borderRadius:10, border:'1px solid #E6EBF2', padding:'8px 12px', flex:1 }}&gt;&#10;    &lt;Box style={{ width:32, height:32, borderRadius:9, background:'linear-gradient(135deg, #2563EB, #06B6D4)', justifyContent:'center', alignItems:'center' }}&gt;&lt;Text style={{ fontSize:13, fontWeight:'bold', color:'#fff', fontFamily:&quot;'Space Grotesk','Inter','Segoe UI',sans-serif&quot; }}&gt;07&lt;/Text&gt;&lt;/Box&gt;&#10;    &lt;Box style={{ flex:1 }}&gt;&lt;Text style={{ fontSize:15, fontWeight:'bold', color:'#0F172A', fontFamily:&quot;'Source Han Sans SC','Noto Sans SC','Microsoft YaHei',sans-serif&quot; }}&gt;性能&lt;/Text&gt;&lt;Text style={{ fontSize:13, color:'#64748B', fontFamily:&quot;'Source Han Sans SC','Noto Sans SC','Microsoft YaHei',sans-serif&quot; }}&gt;CRB 给出估计下界，速率-精度存在帕累托折中&lt;/Text&gt;&lt;/Box&gt;&#10;  &lt;/Box&gt;&lt;Box style={{ flexDirection:'row', alignItems:'center', gap:12, background:'#FFFFFF', borderRadius:10, border:'1px solid #E6EBF2', padding:'8px 12px', flex:1 }}&gt;&#10;    &lt;Box style={{ width:32, height:32, borderRadius:9, background:'linear-gradient(135deg, #2563EB, #06B6D4)', justifyContent:'center', alignItems:'center' }}&gt;&lt;Text style={{ fontSize:13, fontWeight:'bold', color:'#fff', fontFamily:&quot;'Space Grotesk','Inter','Segoe UI',sans-serif&quot; }}&gt;08&lt;/Text&gt;&lt;/Box&gt;&#10;    &lt;Box style={{ flex:1 }}&gt;&lt;Text style={{ fontSize:15, fontWeight:'bold', color:'#0F172A', fontFamily:&quot;'Source Han Sans SC','Noto Sans SC','Microsoft YaHei',sans-serif&quot; }}&gt;应用&lt;/Text&gt;&lt;Text style={{ fontSize:13, color:'#64748B', fontFamily:&quot;'Source Han Sans SC','Noto Sans SC','Microsoft YaHei',sans-serif&quot; }}&gt;车联/低空/工厂/交互，感知即服务&lt;/Text&gt;&lt;/Box&gt;&#10;  &lt;/Box&gt;&lt;Box style={{ flexDirection:'row', alignItems:'center', gap:12, background:'#FFFFFF', borderRadius:10, border:'1px solid #E6EBF2', padding:'8px 12px', flex:1 }}&gt;&#10;    &lt;Box style={{ width:32, height:32, borderRadius:9, background:'linear-gradient(135deg, #2563EB, #06B6D4)', justifyContent:'center', alignItems:'center' }}&gt;&lt;Text style={{ fontSize:13, fontWeight:'bold', color:'#fff', fontFamily:&quot;'Space Grotesk','Inter','Segoe UI',sans-serif&quot; }}&gt;09&lt;/Text&gt;&lt;/Box&gt;&#10;    &lt;Box style={{ flex:1 }}&gt;&lt;Text style={{ fontSize:15, fontWeight:'bold', color:'#0F172A', fontFamily:&quot;'Source Han Sans SC','Noto Sans SC','Microsoft YaHei',sans-serif&quot; }}&gt;标准&lt;/Text&gt;&lt;Text style={{ fontSize:13, color:'#64748B', fontFamily:&quot;'Source Han Sans SC','Noto Sans SC','Microsoft YaHei',sans-serif&quot; }}&gt;Rel-19/20 推进，从研究走向可商用&lt;/Text&gt;&lt;/Box&gt;&#10;  &lt;/Box&gt;&lt;Box style={{ flexDirection:'row', alignItems:'center', gap:12, background:'#FFFFFF', borderRadius:10, border:'1px solid #E6EBF2', padding:'8px 12px', flex:1 }}&gt;&#10;    &lt;Box style={{ width:32, height:32, borderRadius:9, background:'linear-gradient(135deg, #2563EB, #06B6D4)', justifyContent:'center', alignItems:'center' }}&gt;&lt;Text style={{ fontSize:13, fontWeight:'bold', color:'#fff', fontFamily:&quot;'Space Grotesk','Inter','Segoe UI',sans-serif&quot; }}&gt;10&lt;/Text&gt;&lt;/Box&gt;&#10;    &lt;Box style={{ flex:1 }}&gt;&lt;Text style={{ fontSize:15, fontWeight:'bold', color:'#0F172A', fontFamily:&quot;'Source Han Sans SC','Noto Sans SC','Microsoft YaHei',sans-serif&quot; }}&gt;展望&lt;/Text&gt;&lt;Text style={{ fontSize:13, color:'#64748B', fontFamily:&quot;'Source Han Sans SC','Noto Sans SC','Microsoft YaHei',sans-serif&quot; }}&gt;从「一体」到「互益」，挑战与机会并存&lt;/Text&gt;&lt;/Box&gt;&#10;  &lt;/Box&gt;&lt;/Box&gt;&lt;/Box&gt;&#10;  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39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785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要点回顾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SUMMARY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关键要点回顾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685800" y="1057275"/>
            <a:ext cx="10820400" cy="106680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952500" y="1247775"/>
            <a:ext cx="10287000" cy="4381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175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ISAC = </a:t>
            </a:r>
            <a:r>
              <a:rPr lang="zh-CN" sz="2175" b="1">
                <a:solidFill>
                  <a:srgbClr val="FFFFFF"/>
                </a:solidFill>
                <a:latin typeface="Source Han Sans SC"/>
                <a:ea typeface="Source Han Sans SC"/>
              </a:rPr>
              <a:t>以</a:t>
            </a:r>
            <a:r>
              <a:rPr lang="zh-CN" sz="2175" b="1">
                <a:solidFill>
                  <a:srgbClr val="F59E0B"/>
                </a:solidFill>
                <a:latin typeface="Source Han Sans SC"/>
                <a:ea typeface="Source Han Sans SC"/>
              </a:rPr>
              <a:t>更低代价</a:t>
            </a:r>
            <a:r>
              <a:rPr lang="zh-CN" sz="2175" b="1">
                <a:solidFill>
                  <a:srgbClr val="FFFFFF"/>
                </a:solidFill>
                <a:latin typeface="Source Han Sans SC"/>
                <a:ea typeface="Source Han Sans SC"/>
              </a:rPr>
              <a:t>，同时获得</a:t>
            </a:r>
            <a:r>
              <a:rPr lang="zh-CN" sz="2175" b="1">
                <a:solidFill>
                  <a:srgbClr val="06B6D4"/>
                </a:solidFill>
                <a:latin typeface="Source Han Sans SC"/>
                <a:ea typeface="Source Han Sans SC"/>
              </a:rPr>
              <a:t>连接</a:t>
            </a:r>
            <a:r>
              <a:rPr lang="zh-CN" sz="2175" b="1">
                <a:solidFill>
                  <a:srgbClr val="FFFFFF"/>
                </a:solidFill>
                <a:latin typeface="Source Han Sans SC"/>
                <a:ea typeface="Source Han Sans SC"/>
              </a:rPr>
              <a:t>与</a:t>
            </a:r>
            <a:r>
              <a:rPr lang="zh-CN" sz="2175" b="1">
                <a:solidFill>
                  <a:srgbClr val="06B6D4"/>
                </a:solidFill>
                <a:latin typeface="Source Han Sans SC"/>
                <a:ea typeface="Source Han Sans SC"/>
              </a:rPr>
              <a:t>感知</a:t>
            </a:r>
            <a:r>
              <a:rPr lang="zh-CN" sz="2175" b="1">
                <a:solidFill>
                  <a:srgbClr val="FFFFFF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952500" y="1762125"/>
            <a:ext cx="1028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2E8F0"/>
                </a:solidFill>
                <a:latin typeface="Source Han Sans SC"/>
                <a:ea typeface="Source Han Sans SC"/>
              </a:rPr>
              <a:t xml:space="preserve">10 </a:t>
            </a: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个章节，一句话各回顾：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685800" y="2276475"/>
            <a:ext cx="53340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792" name=""/>
          <p:cNvSpPr/>
          <p:nvPr/>
        </p:nvSpPr>
        <p:spPr>
          <a:xfrm rot="0" flipH="0" flipV="0">
            <a:off x="800100" y="2476500"/>
            <a:ext cx="304800" cy="304800"/>
          </a:xfrm>
          <a:prstGeom prst="roundRect">
            <a:avLst>
              <a:gd name="adj" fmla="val 28125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885825" y="25527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pace Grotesk"/>
                <a:ea typeface="Space Grotesk"/>
              </a:rPr>
              <a:t>01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1219200" y="2466975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导论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1219200" y="2638425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共享硬件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>/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频谱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>/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信号，一次发射、双重收益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685800" y="3076575"/>
            <a:ext cx="5334000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797" name=""/>
          <p:cNvSpPr/>
          <p:nvPr/>
        </p:nvSpPr>
        <p:spPr>
          <a:xfrm rot="0" flipH="0" flipV="0">
            <a:off x="800100" y="3286125"/>
            <a:ext cx="304800" cy="304800"/>
          </a:xfrm>
          <a:prstGeom prst="roundRect">
            <a:avLst>
              <a:gd name="adj" fmla="val 28125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885825" y="336232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pace Grotesk"/>
                <a:ea typeface="Space Grotesk"/>
              </a:rPr>
              <a:t>02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219200" y="327660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动机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1219200" y="3448050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频谱稀缺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硬件冗余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应用牵引，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6G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前夜交汇</a:t>
            </a:r>
            <a:endParaRPr/>
          </a:p>
        </p:txBody>
      </p:sp>
      <p:sp>
        <p:nvSpPr>
          <p:cNvPr id="801" name=""/>
          <p:cNvSpPr/>
          <p:nvPr/>
        </p:nvSpPr>
        <p:spPr>
          <a:xfrm rot="0" flipH="0" flipV="0">
            <a:off x="685800" y="3886200"/>
            <a:ext cx="53340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802" name=""/>
          <p:cNvSpPr/>
          <p:nvPr/>
        </p:nvSpPr>
        <p:spPr>
          <a:xfrm rot="0" flipH="0" flipV="0">
            <a:off x="800100" y="4086225"/>
            <a:ext cx="304800" cy="304800"/>
          </a:xfrm>
          <a:prstGeom prst="roundRect">
            <a:avLst>
              <a:gd name="adj" fmla="val 28125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885825" y="416242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pace Grotesk"/>
                <a:ea typeface="Space Grotesk"/>
              </a:rPr>
              <a:t>03</a:t>
            </a:r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1219200" y="407670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概念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1219200" y="4248150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共存→协作→联合→一体化，联合设计是关键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685800" y="4686300"/>
            <a:ext cx="5334000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807" name=""/>
          <p:cNvSpPr/>
          <p:nvPr/>
        </p:nvSpPr>
        <p:spPr>
          <a:xfrm rot="0" flipH="0" flipV="0">
            <a:off x="800100" y="4895850"/>
            <a:ext cx="304800" cy="304800"/>
          </a:xfrm>
          <a:prstGeom prst="roundRect">
            <a:avLst>
              <a:gd name="adj" fmla="val 28125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885825" y="497205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pace Grotesk"/>
                <a:ea typeface="Space Grotesk"/>
              </a:rPr>
              <a:t>04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1219200" y="4886325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架构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1219200" y="5057775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共享射频链与阵列，基站即雷达、终端协同</a:t>
            </a:r>
            <a:endParaRPr/>
          </a:p>
        </p:txBody>
      </p:sp>
      <p:sp>
        <p:nvSpPr>
          <p:cNvPr id="811" name=""/>
          <p:cNvSpPr/>
          <p:nvPr/>
        </p:nvSpPr>
        <p:spPr>
          <a:xfrm rot="0" flipH="0" flipV="0">
            <a:off x="685800" y="5495925"/>
            <a:ext cx="53340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812" name=""/>
          <p:cNvSpPr/>
          <p:nvPr/>
        </p:nvSpPr>
        <p:spPr>
          <a:xfrm rot="0" flipH="0" flipV="0">
            <a:off x="800100" y="5695950"/>
            <a:ext cx="304800" cy="304800"/>
          </a:xfrm>
          <a:prstGeom prst="roundRect">
            <a:avLst>
              <a:gd name="adj" fmla="val 28125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885825" y="577215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pace Grotesk"/>
                <a:ea typeface="Space Grotesk"/>
              </a:rPr>
              <a:t>05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1219200" y="5686425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波形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1219200" y="5857875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OFDM/FMCW/OTFS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各有取舍，需按场景联合优化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6172200" y="2276475"/>
            <a:ext cx="53340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817" name=""/>
          <p:cNvSpPr/>
          <p:nvPr/>
        </p:nvSpPr>
        <p:spPr>
          <a:xfrm rot="0" flipH="0" flipV="0">
            <a:off x="6286500" y="2476500"/>
            <a:ext cx="304800" cy="304800"/>
          </a:xfrm>
          <a:prstGeom prst="roundRect">
            <a:avLst>
              <a:gd name="adj" fmla="val 28125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6372225" y="25527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pace Grotesk"/>
                <a:ea typeface="Space Grotesk"/>
              </a:rPr>
              <a:t>06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6705600" y="2466975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关键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6705600" y="2638425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双工、波束、资源、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AI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四大技术杠杆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172200" y="3076575"/>
            <a:ext cx="5334000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822" name=""/>
          <p:cNvSpPr/>
          <p:nvPr/>
        </p:nvSpPr>
        <p:spPr>
          <a:xfrm rot="0" flipH="0" flipV="0">
            <a:off x="6286500" y="3286125"/>
            <a:ext cx="304800" cy="304800"/>
          </a:xfrm>
          <a:prstGeom prst="roundRect">
            <a:avLst>
              <a:gd name="adj" fmla="val 28125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6372225" y="336232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pace Grotesk"/>
                <a:ea typeface="Space Grotesk"/>
              </a:rPr>
              <a:t>07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6705600" y="327660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性能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6705600" y="3448050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CRB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给出估计下界，速率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>-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精度存在帕累托折中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6172200" y="3886200"/>
            <a:ext cx="53340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827" name=""/>
          <p:cNvSpPr/>
          <p:nvPr/>
        </p:nvSpPr>
        <p:spPr>
          <a:xfrm rot="0" flipH="0" flipV="0">
            <a:off x="6286500" y="4086225"/>
            <a:ext cx="304800" cy="304800"/>
          </a:xfrm>
          <a:prstGeom prst="roundRect">
            <a:avLst>
              <a:gd name="adj" fmla="val 28125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6372225" y="416242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pace Grotesk"/>
                <a:ea typeface="Space Grotesk"/>
              </a:rPr>
              <a:t>08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6705600" y="4076700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应用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6705600" y="4248150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车联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>/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低空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>/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工厂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>/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交互，感知即服务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6172200" y="4686300"/>
            <a:ext cx="5334000" cy="7143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832" name=""/>
          <p:cNvSpPr/>
          <p:nvPr/>
        </p:nvSpPr>
        <p:spPr>
          <a:xfrm rot="0" flipH="0" flipV="0">
            <a:off x="6286500" y="4895850"/>
            <a:ext cx="304800" cy="304800"/>
          </a:xfrm>
          <a:prstGeom prst="roundRect">
            <a:avLst>
              <a:gd name="adj" fmla="val 28125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6372225" y="497205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pace Grotesk"/>
                <a:ea typeface="Space Grotesk"/>
              </a:rPr>
              <a:t>09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6705600" y="4886325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标准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6705600" y="5057775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Rel-19/20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推进，从研究走向可商用</a:t>
            </a:r>
            <a:endParaRPr/>
          </a:p>
        </p:txBody>
      </p:sp>
      <p:sp>
        <p:nvSpPr>
          <p:cNvPr id="836" name=""/>
          <p:cNvSpPr/>
          <p:nvPr/>
        </p:nvSpPr>
        <p:spPr>
          <a:xfrm rot="0" flipH="0" flipV="0">
            <a:off x="6172200" y="5495925"/>
            <a:ext cx="53340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837" name=""/>
          <p:cNvSpPr/>
          <p:nvPr/>
        </p:nvSpPr>
        <p:spPr>
          <a:xfrm rot="0" flipH="0" flipV="0">
            <a:off x="6286500" y="5695950"/>
            <a:ext cx="304800" cy="304800"/>
          </a:xfrm>
          <a:prstGeom prst="roundRect">
            <a:avLst>
              <a:gd name="adj" fmla="val 28125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6372225" y="577215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pace Grotesk"/>
                <a:ea typeface="Space Grotesk"/>
              </a:rPr>
              <a:t>10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6705600" y="5686425"/>
            <a:ext cx="468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Source Han Sans SC"/>
                <a:ea typeface="Source Han Sans SC"/>
              </a:rPr>
              <a:t>展望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6705600" y="5857875"/>
            <a:ext cx="468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从「一体」到「互益」，挑战与机会并存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39 / 41</a:t>
            </a:r>
            <a:endParaRPr/>
          </a:p>
        </p:txBody>
      </p:sp>
    </p:spTree>
  </p:cSld>
</p:sld>
</file>

<file path=ppt/slides/slide4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56" name="" descr="&lt;Slide style={{ width:'1280px', height:'720px', background:'#F8FAFC', padding:'22px 72px 0px 72px', position:'relative', display:'flex', flexDirection:'column' }}&gt;&#10;&lt;Box style={{ flexDirection:'row', alignItems:'center', gap:12, marginBottom:8 }}&gt;&#10;  &lt;Box style={{ width:6, height:24, borderRadius:3, background:'linear-gradient(135deg, #2563EB 0%, #06B6D4 100%)' }}&gt;&lt;/Box&gt;&#10;  &lt;Text style={{ fontSize:15, fontWeight:600, color:'#06B6D4', letterSpacing:2, fontFamily:&quot;'Space Grotesk','Inter','Segoe UI',sans-serif&quot; }}&gt;学习资源 RESOURCES&lt;/Text&gt;&#10;&lt;/Box&gt;&#10;&lt;Text style={{ fontSize:34, fontWeight:'bold', color:'#0F172A', fontFamily:&quot;'Source Han Sans SC','Noto Sans SC','Microsoft YaHei',sans-serif&quot;, marginBottom:16 }}&gt;延伸阅读与学习资源&lt;/Text&gt;&#10;&lt;Box style={{ height:'540px', flexDirection:'column' }}&gt;&#10;&lt;Box style={{ flexDirection:'row', gap:24, height:'540px' }}&gt;&#10;  &lt;Box style={{ width:300, background:'linear-gradient(160deg, #0F172A 0%, #182338 100%)', borderRadius:16, padding:24, flexDirection:'column', justifyContent:'space-between' }}&gt;&#10;    &lt;Box&gt;&#10;      &lt;Box style={{ width:52, height:52, borderRadius:14, background:'rgba(6,182,212,0.18)', justifyContent:'center', alignItems:'center', marginBottom:18 }}&gt;&lt;FAIcon name='book-open' style={{ fill:'#06B6D4', width:28, height:28 }} /&gt;&lt;/Box&gt;&#10;      &lt;Text style={{ fontSize:25, fontWeight:'bold', color:'#FFFFFF', lineHeight:1.35, fontFamily:&quot;'Source Han Sans SC','Noto Sans SC','Microsoft YaHei',sans-serif&quot;, marginBottom:14 }}&gt;继续&lt;br/&gt;深入&lt;/Text&gt;&#10;      &lt;Text style={{ fontSize:15, color:'#E2E8F0', lineHeight:1.7, fontFamily:&quot;'Source Han Sans SC','Noto Sans SC','Microsoft YaHei',sans-serif&quot; }}&gt;以下方向适合作为课后自学与课题选题的起点（建议以最新文献与标准文本为准）。&lt;/Text&gt;&#10;    &lt;/Box&gt;&#10;    &lt;Box style={{ height:6, width:60, borderRadius:3, background:'linear-gradient(90deg, #2563EB, #06B6D4)' }}&gt;&lt;/Box&gt;&#10;  &lt;/Box&gt;&#10;  &lt;Box style={{ flex:1, flexDirection:'column', gap:14, justifyContent:'space-between' }}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book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经典综述与教程&lt;/Text&gt;&#10;    &lt;Text style={{ fontSize:15, color:'#64748B', lineHeight:1.5, fontFamily:&quot;'Source Han Sans SC','Noto Sans SC','Microsoft YaHei',sans-serif&quot; }}&gt;ISAC / DFRC 领域的综述论文与教程，建立系统知识框架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newspaper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旗舰期刊与会议特刊&lt;/Text&gt;&#10;    &lt;Text style={{ fontSize:15, color:'#64748B', lineHeight:1.5, fontFamily:&quot;'Source Han Sans SC','Noto Sans SC','Microsoft YaHei',sans-serif&quot; }}&gt;通信与雷达领域顶级期刊的 ISAC 专刊，以及相关旗舰会议论文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code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开源数据集与代码&lt;/Text&gt;&#10;    &lt;Text style={{ fontSize:15, color:'#64748B', lineHeight:1.5, fontFamily:&quot;'Source Han Sans SC','Noto Sans SC','Microsoft YaHei',sans-serif&quot; }}&gt;公开的 ISAC 仿真与实测数据集、波形与算法开源实现，便于复现。&lt;/Text&gt;&#10;  &lt;/Box&gt;&#10;&lt;/Box&gt;&#10;    &lt;Box style={{ flexDirection:'row', alignItems:'flex-start', gap:14, padding:'12px 16px', background:'#FFFFFF', borderRadius:12, boxShadow:'0 2px 10px rgba(15,23,42,0.05)', border:'1px solid #E6EBF2' }}&gt;&#10;  &lt;Box style={{ width:40, height:40, borderRadius:10, background:'rgba(37,99,235,0.10)', justifyContent:'center', alignItems:'center' }}&gt;&#10;    &lt;FAIcon name='file-lines' style={{ fill:'#2563EB', width:20, height:20 }} /&gt;&#10;  &lt;/Box&gt;&#10;  &lt;Box style={{ flex:1 }}&gt;&#10;    &lt;Text style={{ fontSize:17, fontWeight:'bold', color:'#0F172A', fontFamily:&quot;'Source Han Sans SC','Noto Sans SC','Microsoft YaHei',sans-serif&quot;, marginBottom:3 }}&gt;标准与白皮书&lt;/Text&gt;&#10;    &lt;Text style={{ fontSize:15, color:'#64748B', lineHeight:1.5, fontFamily:&quot;'Source Han Sans SC','Noto Sans SC','Microsoft YaHei',sans-serif&quot; }}&gt;3GPP 通感相关技术报告、行业白皮书，跟踪标准化与产业路线。&lt;/Text&gt;&#10;  &lt;/Box&gt;&#10;&lt;/Box&gt;&#10;  &lt;/Box&gt;&#10;&lt;/Box&gt;&#10;&lt;/Box&gt;&#10;&lt;Box style={{ position:'absolute', left:72, right:72, bottom:16, height:40, flexDirection:'row', alignItems:'center', justifyContent:'space-between' }}&gt;&#10;  &lt;Box style={{ flexDirection:'row', alignItems:'center', gap:10 }}&gt;&#10;    &lt;Box style={{ width:40, height:22, borderRadius:6, background:'linear-gradient(135deg, #2563EB 0%, #06B6D4 100%)', justifyContent:'center', alignItems:'center' }}&gt;&#10;      &lt;Text style={{ fontSize:11, fontWeight:'bold', color:'#FFFFFF', fontFamily:&quot;'Space Grotesk','Inter','Segoe UI',sans-serif&quot; }}&gt;ISAC&lt;/Text&gt;&#10;    &lt;/Box&gt;&#10;    &lt;Text style={{ fontSize:13, color:'#64748B', fontFamily:&quot;'Source Han Sans SC','Noto Sans SC','Microsoft YaHei',sans-serif&quot; }}&gt;通信感知一体化 · 技术培训&lt;/Text&gt;&#10;  &lt;/Box&gt;&#10;  &lt;Text style={{ fontSize:13, color:'#64748B', fontFamily:&quot;'Space Grotesk','Inter','Segoe UI',sans-serif&quot; }}&gt;40 / 41&lt;/Text&gt;&#10;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858" name=""/>
          <p:cNvSpPr/>
          <p:nvPr/>
        </p:nvSpPr>
        <p:spPr>
          <a:xfrm rot="0" flipH="0" flipV="0">
            <a:off x="685800" y="209550"/>
            <a:ext cx="57150" cy="228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857250" y="238125"/>
            <a:ext cx="1685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06B6D4"/>
                </a:solidFill>
                <a:latin typeface="Space Grotesk"/>
                <a:ea typeface="Space Grotesk"/>
              </a:rPr>
              <a:t>学习资源</a:t>
            </a:r>
            <a:r>
              <a:rPr lang="en-US" sz="1125" b="1" spc="150">
                <a:solidFill>
                  <a:srgbClr val="06B6D4"/>
                </a:solidFill>
                <a:latin typeface="Space Grotesk"/>
                <a:ea typeface="Space Grotesk"/>
              </a:rPr>
              <a:t xml:space="preserve"> RESOURCES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685800" y="5143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Source Han Sans SC"/>
                <a:ea typeface="Source Han Sans SC"/>
              </a:rPr>
              <a:t>延伸阅读与学习资源</a:t>
            </a:r>
            <a:endParaRPr/>
          </a:p>
        </p:txBody>
      </p:sp>
      <p:sp>
        <p:nvSpPr>
          <p:cNvPr id="861" name=""/>
          <p:cNvSpPr/>
          <p:nvPr/>
        </p:nvSpPr>
        <p:spPr>
          <a:xfrm rot="0" flipH="0" flipV="0">
            <a:off x="685800" y="1057275"/>
            <a:ext cx="2857500" cy="51435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0F172A"/>
              </a:gs>
              <a:gs pos="100000">
                <a:srgbClr val="18233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862" name=""/>
          <p:cNvSpPr/>
          <p:nvPr/>
        </p:nvSpPr>
        <p:spPr>
          <a:xfrm rot="0" flipH="0" flipV="0">
            <a:off x="914400" y="1285875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p/>
        </p:txBody>
      </p:sp>
      <p:pic>
        <p:nvPicPr>
          <p:cNvPr id="8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" y="1400175"/>
            <a:ext cx="266700" cy="266700"/>
          </a:xfrm>
          <a:prstGeom prst="rect">
            <a:avLst/>
          </a:prstGeom>
          <a:ln/>
        </p:spPr>
      </p:pic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914400" y="1952625"/>
            <a:ext cx="2400300" cy="771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Source Han Sans SC"/>
                <a:ea typeface="Source Han Sans SC"/>
              </a:rPr>
              <a:t>继续</a:t>
            </a:r>
            <a:endParaRPr/>
          </a:p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FFFFFF"/>
                </a:solidFill>
                <a:latin typeface="Source Han Sans SC"/>
                <a:ea typeface="Source Han Sans SC"/>
              </a:rPr>
              <a:t>深入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914400" y="2857500"/>
            <a:ext cx="24003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2E8F0"/>
                </a:solidFill>
                <a:latin typeface="Source Han Sans SC"/>
                <a:ea typeface="Source Han Sans SC"/>
              </a:rPr>
              <a:t>以下方向适合作为课后自学与课题选题的起点（建议以最新文献与标准文本为准）。</a:t>
            </a:r>
            <a:endParaRPr/>
          </a:p>
        </p:txBody>
      </p:sp>
      <p:sp>
        <p:nvSpPr>
          <p:cNvPr id="866" name=""/>
          <p:cNvSpPr/>
          <p:nvPr/>
        </p:nvSpPr>
        <p:spPr>
          <a:xfrm rot="0" flipH="0" flipV="0">
            <a:off x="914400" y="5915025"/>
            <a:ext cx="5715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67" name=""/>
          <p:cNvSpPr/>
          <p:nvPr/>
        </p:nvSpPr>
        <p:spPr>
          <a:xfrm rot="0" flipH="0" flipV="0">
            <a:off x="3771900" y="1057275"/>
            <a:ext cx="77343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68" name=""/>
          <p:cNvSpPr/>
          <p:nvPr/>
        </p:nvSpPr>
        <p:spPr>
          <a:xfrm rot="0" flipH="0" flipV="0">
            <a:off x="3924300" y="11715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8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019550" y="1266825"/>
            <a:ext cx="190500" cy="190500"/>
          </a:xfrm>
          <a:prstGeom prst="rect">
            <a:avLst/>
          </a:prstGeom>
          <a:ln/>
        </p:spPr>
      </p:pic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4438650" y="1171575"/>
            <a:ext cx="691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经典综述与教程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4438650" y="1400175"/>
            <a:ext cx="6915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ISAC / DFRC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领域的综述论文与教程，建立系统知识框架。</a:t>
            </a:r>
            <a:endParaRPr/>
          </a:p>
        </p:txBody>
      </p:sp>
      <p:sp>
        <p:nvSpPr>
          <p:cNvPr id="872" name=""/>
          <p:cNvSpPr/>
          <p:nvPr/>
        </p:nvSpPr>
        <p:spPr>
          <a:xfrm rot="0" flipH="0" flipV="0">
            <a:off x="3771900" y="2533650"/>
            <a:ext cx="77343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73" name=""/>
          <p:cNvSpPr/>
          <p:nvPr/>
        </p:nvSpPr>
        <p:spPr>
          <a:xfrm rot="0" flipH="0" flipV="0">
            <a:off x="3924300" y="26479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8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019550" y="2743200"/>
            <a:ext cx="190500" cy="190500"/>
          </a:xfrm>
          <a:prstGeom prst="rect">
            <a:avLst/>
          </a:prstGeom>
          <a:ln/>
        </p:spPr>
      </p:pic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4438650" y="2647950"/>
            <a:ext cx="691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旗舰期刊与会议特刊</a:t>
            </a:r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4438650" y="2876550"/>
            <a:ext cx="6915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通信与雷达领域顶级期刊的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ISAC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专刊，以及相关旗舰会议论文。</a:t>
            </a:r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3771900" y="4010025"/>
            <a:ext cx="77343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78" name=""/>
          <p:cNvSpPr/>
          <p:nvPr/>
        </p:nvSpPr>
        <p:spPr>
          <a:xfrm rot="0" flipH="0" flipV="0">
            <a:off x="3924300" y="41243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8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019550" y="4219575"/>
            <a:ext cx="190500" cy="190500"/>
          </a:xfrm>
          <a:prstGeom prst="rect">
            <a:avLst/>
          </a:prstGeom>
          <a:ln/>
        </p:spPr>
      </p:pic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4438650" y="4124325"/>
            <a:ext cx="691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开源数据集与代码</a:t>
            </a:r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4438650" y="4352925"/>
            <a:ext cx="6915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公开的</a:t>
            </a: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ISAC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仿真与实测数据集、波形与算法开源实现，便于复现。</a:t>
            </a:r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3771900" y="5486400"/>
            <a:ext cx="7734300" cy="7143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blurRad="95250" dist="19050" dir="5400000">
              <a:srgbClr val="0F172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83" name=""/>
          <p:cNvSpPr/>
          <p:nvPr/>
        </p:nvSpPr>
        <p:spPr>
          <a:xfrm rot="0" flipH="0" flipV="0">
            <a:off x="3924300" y="56007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8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019550" y="5695950"/>
            <a:ext cx="190500" cy="190500"/>
          </a:xfrm>
          <a:prstGeom prst="rect">
            <a:avLst/>
          </a:prstGeom>
          <a:ln/>
        </p:spPr>
      </p:pic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4438650" y="5600700"/>
            <a:ext cx="691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Source Han Sans SC"/>
                <a:ea typeface="Source Han Sans SC"/>
              </a:rPr>
              <a:t>标准与白皮书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4438650" y="5829300"/>
            <a:ext cx="6915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3GPP </a:t>
            </a:r>
            <a:r>
              <a:rPr lang="zh-CN" sz="1125">
                <a:solidFill>
                  <a:srgbClr val="64748B"/>
                </a:solidFill>
                <a:latin typeface="Source Han Sans SC"/>
                <a:ea typeface="Source Han Sans SC"/>
              </a:rPr>
              <a:t>通感相关技术报告、行业白皮书，跟踪标准化与产业路线。</a:t>
            </a:r>
            <a:endParaRPr/>
          </a:p>
        </p:txBody>
      </p:sp>
      <p:sp>
        <p:nvSpPr>
          <p:cNvPr id="887" name=""/>
          <p:cNvSpPr/>
          <p:nvPr/>
        </p:nvSpPr>
        <p:spPr>
          <a:xfrm rot="0" flipH="0" flipV="0">
            <a:off x="685800" y="6410325"/>
            <a:ext cx="381000" cy="20955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762000" y="644842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1162050" y="6438900"/>
            <a:ext cx="1543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通信感知一体化</a:t>
            </a:r>
            <a:r>
              <a:rPr lang="en-US" sz="975">
                <a:solidFill>
                  <a:srgbClr val="64748B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64748B"/>
                </a:solidFill>
                <a:latin typeface="Source Han Sans SC"/>
                <a:ea typeface="Source Han Sans SC"/>
              </a:rPr>
              <a:t>技术培训</a:t>
            </a:r>
            <a:endParaRPr/>
          </a:p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111156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pace Grotesk"/>
                <a:ea typeface="Space Grotesk"/>
              </a:rPr>
              <a:t>40 / 41</a:t>
            </a:r>
            <a:endParaRPr/>
          </a:p>
        </p:txBody>
      </p:sp>
    </p:spTree>
  </p:cSld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91" name="" descr="&lt;Slide style={{ width:'1280px', height:'720px', background:'#0F172A', padding:'0', position:'relative', display:'flex', flexDirection:'column', justifyContent:'center', alignItems:'center', overflow:'hidden' }}&gt;&#10;  &lt;Image src='assets/cover_isac.png' style={{ position:'absolute', top:0, left:0, width:'1280px', height:'720px', objectFit:'cover' }} /&gt;&#10;  &lt;Box style={{ position:'absolute', top:0, left:0, width:'1280px', height:'720px', background:'linear-gradient(180deg, rgba(15,23,42,0.55) 0%, rgba(15,23,42,0.9) 100%)' }}&gt;&lt;/Box&gt;&#10;  &lt;Box style={{ position:'relative', zIndex:1, alignItems:'center', padding:'0 80px' }}&gt;&#10;    &lt;Box style={{ width:60, height:34, borderRadius:9, background:'linear-gradient(135deg, #2563EB, #06B6D4)', justifyContent:'center', alignItems:'center', marginBottom:26 }}&gt;&lt;Text style={{ fontSize:16, fontWeight:'bold', color:'#fff', fontFamily:&quot;'Space Grotesk','Inter','Segoe UI',sans-serif&quot; }}&gt;ISAC&lt;/Text&gt;&lt;/Box&gt;&#10;    &lt;Text style={{ fontSize:56, fontWeight:'bold', color:'#FFFFFF', fontFamily:&quot;'Source Han Sans SC','Noto Sans SC','Microsoft YaHei',sans-serif&quot;, marginBottom:16 }}&gt;谢谢 · 交流与讨论&lt;/Text&gt;&#10;    &lt;Text style={{ fontSize:22, color:'#E2E8F0', fontFamily:&quot;'Source Han Sans SC','Noto Sans SC','Microsoft YaHei',sans-serif&quot;, marginBottom:30 }}&gt;让网络既「连得上」，也「看得见」。&lt;/Text&gt;&#10;    &lt;Box style={{ flexDirection:'row', gap:12 }}&gt;&#10;      &lt;Box style={{ padding:'8px 18px', borderRadius:20, border:'1px solid rgba(6,182,212,0.5)' }}&gt;&lt;Text style={{ fontSize:14, color:'#06B6D4', fontFamily:&quot;'Source Han Sans SC','Noto Sans SC','Microsoft YaHei',sans-serif&quot; }}&gt;讲师：______&lt;/Text&gt;&lt;/Box&gt;&#10;      &lt;Box style={{ padding:'8px 18px', borderRadius:20, border:'1px solid rgba(6,182,212,0.5)' }}&gt;&lt;Text style={{ fontSize:14, color:'#06B6D4', fontFamily:&quot;'Source Han Sans SC','Noto Sans SC','Microsoft YaHei',sans-serif&quot; }}&gt;邮箱 / 联系方式：______&lt;/Text&gt;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pic>
        <p:nvPicPr>
          <p:cNvPr id="89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55000"/>
                </a:srgbClr>
              </a:gs>
              <a:gs pos="100000">
                <a:srgbClr val="0F172A">
                  <a:alpha val="90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895" name=""/>
          <p:cNvSpPr/>
          <p:nvPr/>
        </p:nvSpPr>
        <p:spPr>
          <a:xfrm rot="0" flipH="0" flipV="0">
            <a:off x="5819775" y="2314575"/>
            <a:ext cx="571500" cy="323850"/>
          </a:xfrm>
          <a:prstGeom prst="roundRect">
            <a:avLst>
              <a:gd name="adj" fmla="val 26471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5934075" y="23812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pace Grotesk"/>
                <a:ea typeface="Space Grotesk"/>
              </a:rPr>
              <a:t>ISAC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3848100" y="2886075"/>
            <a:ext cx="45053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Source Han Sans SC"/>
                <a:ea typeface="Source Han Sans SC"/>
              </a:rPr>
              <a:t>谢谢</a:t>
            </a:r>
            <a:r>
              <a:rPr lang="en-US" sz="4200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4200" b="1">
                <a:solidFill>
                  <a:srgbClr val="FFFFFF"/>
                </a:solidFill>
                <a:latin typeface="Source Han Sans SC"/>
                <a:ea typeface="Source Han Sans SC"/>
              </a:rPr>
              <a:t>交流与讨论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4324350" y="3686175"/>
            <a:ext cx="3562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E2E8F0"/>
                </a:solidFill>
                <a:latin typeface="Source Han Sans SC"/>
                <a:ea typeface="Source Han Sans SC"/>
              </a:rPr>
              <a:t>让网络既「连得上」，也「看得见」。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4533900" y="4229100"/>
            <a:ext cx="1190625" cy="314325"/>
          </a:xfrm>
          <a:prstGeom prst="roundRect">
            <a:avLst>
              <a:gd name="adj" fmla="val 60606"/>
            </a:avLst>
          </a:prstGeom>
          <a:ln w="1270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4705350" y="4305300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6B6D4"/>
                </a:solidFill>
                <a:latin typeface="Source Han Sans SC"/>
                <a:ea typeface="Source Han Sans SC"/>
              </a:rPr>
              <a:t>讲师：</a:t>
            </a:r>
            <a:r>
              <a:rPr lang="en-US" sz="1050">
                <a:solidFill>
                  <a:srgbClr val="06B6D4"/>
                </a:solidFill>
                <a:latin typeface="Source Han Sans SC"/>
                <a:ea typeface="Source Han Sans SC"/>
              </a:rPr>
              <a:t>______</a:t>
            </a:r>
            <a:endParaRPr/>
          </a:p>
        </p:txBody>
      </p:sp>
      <p:sp>
        <p:nvSpPr>
          <p:cNvPr id="901" name=""/>
          <p:cNvSpPr/>
          <p:nvPr/>
        </p:nvSpPr>
        <p:spPr>
          <a:xfrm rot="0" flipH="0" flipV="0">
            <a:off x="5838825" y="4229100"/>
            <a:ext cx="1828800" cy="314325"/>
          </a:xfrm>
          <a:prstGeom prst="roundRect">
            <a:avLst>
              <a:gd name="adj" fmla="val 60606"/>
            </a:avLst>
          </a:prstGeom>
          <a:ln w="12700">
            <a:solidFill>
              <a:srgbClr val="06B6D4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6010275" y="4305300"/>
            <a:ext cx="148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6B6D4"/>
                </a:solidFill>
                <a:latin typeface="Source Han Sans SC"/>
                <a:ea typeface="Source Han Sans SC"/>
              </a:rPr>
              <a:t>邮箱</a:t>
            </a:r>
            <a:r>
              <a:rPr lang="en-US" sz="1050">
                <a:solidFill>
                  <a:srgbClr val="06B6D4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06B6D4"/>
                </a:solidFill>
                <a:latin typeface="Source Han Sans SC"/>
                <a:ea typeface="Source Han Sans SC"/>
              </a:rPr>
              <a:t>联系方式：</a:t>
            </a:r>
            <a:r>
              <a:rPr lang="en-US" sz="1050">
                <a:solidFill>
                  <a:srgbClr val="06B6D4"/>
                </a:solidFill>
                <a:latin typeface="Source Han Sans SC"/>
                <a:ea typeface="Source Han Sans SC"/>
              </a:rPr>
              <a:t>______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2026-10-15T19:09:16Z</dcterms:created>
  <dcterms:modified xsi:type="dcterms:W3CDTF">2026-10-15T19:09:16Z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{"AIGC":{"Label":"1","ContentProducer":"00119111010856365494821B355","ProduceID":"01a13f213f7a754199b0156c2bbdc7ee","ReservedCode1":"","ContentPropagator":"00119111010856365494821B355","PropagateID":"01a13f213f7a754199b0156c2bbdc7ee","ReservedCode2":""}}</vt:lpwstr>
  </property>
</Properties>
</file>